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3" r:id="rId7"/>
    <p:sldId id="261" r:id="rId8"/>
    <p:sldId id="264" r:id="rId9"/>
    <p:sldId id="265" r:id="rId10"/>
    <p:sldId id="266" r:id="rId11"/>
    <p:sldId id="267" r:id="rId12"/>
    <p:sldId id="269" r:id="rId13"/>
  </p:sldIdLst>
  <p:sldSz cx="12192000" cy="6858000"/>
  <p:notesSz cx="6858000" cy="9144000"/>
  <p:defaultTextStyle>
    <a:defPPr>
      <a:defRPr lang="da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llemlayout 2 - Markering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9" d="100"/>
          <a:sy n="99" d="100"/>
        </p:scale>
        <p:origin x="108" y="2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0CDC850-798E-AB9E-03F2-159E683858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Undertitel 2">
            <a:extLst>
              <a:ext uri="{FF2B5EF4-FFF2-40B4-BE49-F238E27FC236}">
                <a16:creationId xmlns:a16="http://schemas.microsoft.com/office/drawing/2014/main" id="{7D752FD3-1450-FDF4-315C-28085A569F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a-DK"/>
              <a:t>Klik for at redigere undertiteltypografien i masteren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77FEFC00-475A-57C6-866F-869C924DFA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FC77A4-95E6-4429-96C7-F74EAC1D6D2A}" type="datetimeFigureOut">
              <a:rPr lang="da-DK" smtClean="0"/>
              <a:t>16-09-2026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3EAB4196-D599-6E89-0D6D-2A00F437F1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7E9292CC-DBAD-8024-4E11-9150C5B1CE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BA14E1-D575-4B7F-85CC-A19C46B1C02E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1876375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og indholdsobjek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CC51C19-549F-3191-B4B1-44989E775A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640C812F-ED6D-F080-5DF9-39FD898CBF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3B7BC42C-5E56-8A09-8C1D-0A60B1F530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FC77A4-95E6-4429-96C7-F74EAC1D6D2A}" type="datetimeFigureOut">
              <a:rPr lang="da-DK" smtClean="0"/>
              <a:t>16-09-2026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BCF0653F-2424-6140-BB44-D5397FFD3D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A74BECD5-CA32-ADC7-831F-99067594B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BA14E1-D575-4B7F-85CC-A19C46B1C02E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5842790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fsnitsoversk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ABB4C2D-AF2C-831E-FAC6-80B856E0D2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tekst 2">
            <a:extLst>
              <a:ext uri="{FF2B5EF4-FFF2-40B4-BE49-F238E27FC236}">
                <a16:creationId xmlns:a16="http://schemas.microsoft.com/office/drawing/2014/main" id="{AD42CE84-6F9D-496D-8A6D-795660A349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ECCAFEBA-6F16-0364-004D-C4A64D79AE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FC77A4-95E6-4429-96C7-F74EAC1D6D2A}" type="datetimeFigureOut">
              <a:rPr lang="da-DK" smtClean="0"/>
              <a:t>16-09-2026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1DA27E70-06FD-069E-137A-5946E53735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D6F1583F-506A-E8EB-47CA-9902BB0139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BA14E1-D575-4B7F-85CC-A19C46B1C02E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8704555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o indholdsobjek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2F968AC-3F8F-9518-6B10-1171DFDB8B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35BE6403-C53B-D716-59DC-EE5DA732398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indhold 3">
            <a:extLst>
              <a:ext uri="{FF2B5EF4-FFF2-40B4-BE49-F238E27FC236}">
                <a16:creationId xmlns:a16="http://schemas.microsoft.com/office/drawing/2014/main" id="{ADA4049C-69CC-7287-0C44-ACA845229F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5" name="Pladsholder til dato 4">
            <a:extLst>
              <a:ext uri="{FF2B5EF4-FFF2-40B4-BE49-F238E27FC236}">
                <a16:creationId xmlns:a16="http://schemas.microsoft.com/office/drawing/2014/main" id="{32A34C00-D406-8ADE-5EE5-70226FA76B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FC77A4-95E6-4429-96C7-F74EAC1D6D2A}" type="datetimeFigureOut">
              <a:rPr lang="da-DK" smtClean="0"/>
              <a:t>16-09-2026</a:t>
            </a:fld>
            <a:endParaRPr lang="da-DK"/>
          </a:p>
        </p:txBody>
      </p:sp>
      <p:sp>
        <p:nvSpPr>
          <p:cNvPr id="6" name="Pladsholder til sidefod 5">
            <a:extLst>
              <a:ext uri="{FF2B5EF4-FFF2-40B4-BE49-F238E27FC236}">
                <a16:creationId xmlns:a16="http://schemas.microsoft.com/office/drawing/2014/main" id="{04585FF5-EB41-DAAD-EA83-6D4E7C63EA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Pladsholder til slidenummer 6">
            <a:extLst>
              <a:ext uri="{FF2B5EF4-FFF2-40B4-BE49-F238E27FC236}">
                <a16:creationId xmlns:a16="http://schemas.microsoft.com/office/drawing/2014/main" id="{5E9DBB1B-9566-1577-A3BB-A187B18DA4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BA14E1-D575-4B7F-85CC-A19C46B1C02E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9092768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Sammenlign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5D5598D-AECB-4E2D-B4C8-6DB11859C6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tekst 2">
            <a:extLst>
              <a:ext uri="{FF2B5EF4-FFF2-40B4-BE49-F238E27FC236}">
                <a16:creationId xmlns:a16="http://schemas.microsoft.com/office/drawing/2014/main" id="{5EACF21C-7760-7106-F040-872EE4B410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4" name="Pladsholder til indhold 3">
            <a:extLst>
              <a:ext uri="{FF2B5EF4-FFF2-40B4-BE49-F238E27FC236}">
                <a16:creationId xmlns:a16="http://schemas.microsoft.com/office/drawing/2014/main" id="{8BBD8872-A1FD-1C55-1277-8F60EC38B4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5" name="Pladsholder til tekst 4">
            <a:extLst>
              <a:ext uri="{FF2B5EF4-FFF2-40B4-BE49-F238E27FC236}">
                <a16:creationId xmlns:a16="http://schemas.microsoft.com/office/drawing/2014/main" id="{6CD9B1D7-5992-45A4-D02F-A4B79F8DD38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6" name="Pladsholder til indhold 5">
            <a:extLst>
              <a:ext uri="{FF2B5EF4-FFF2-40B4-BE49-F238E27FC236}">
                <a16:creationId xmlns:a16="http://schemas.microsoft.com/office/drawing/2014/main" id="{0CDFDD51-FB87-CF5F-D52A-EB95855A03E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7" name="Pladsholder til dato 6">
            <a:extLst>
              <a:ext uri="{FF2B5EF4-FFF2-40B4-BE49-F238E27FC236}">
                <a16:creationId xmlns:a16="http://schemas.microsoft.com/office/drawing/2014/main" id="{A833D648-75CC-5DD3-3260-6FFED1E6F9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FC77A4-95E6-4429-96C7-F74EAC1D6D2A}" type="datetimeFigureOut">
              <a:rPr lang="da-DK" smtClean="0"/>
              <a:t>16-09-2026</a:t>
            </a:fld>
            <a:endParaRPr lang="da-DK"/>
          </a:p>
        </p:txBody>
      </p:sp>
      <p:sp>
        <p:nvSpPr>
          <p:cNvPr id="8" name="Pladsholder til sidefod 7">
            <a:extLst>
              <a:ext uri="{FF2B5EF4-FFF2-40B4-BE49-F238E27FC236}">
                <a16:creationId xmlns:a16="http://schemas.microsoft.com/office/drawing/2014/main" id="{9F9F26EB-7248-B15C-7C9D-2BA41617F1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9" name="Pladsholder til slidenummer 8">
            <a:extLst>
              <a:ext uri="{FF2B5EF4-FFF2-40B4-BE49-F238E27FC236}">
                <a16:creationId xmlns:a16="http://schemas.microsoft.com/office/drawing/2014/main" id="{AA82CD21-CCC8-6906-C112-E8EFC62AAC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BA14E1-D575-4B7F-85CC-A19C46B1C02E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7944195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Ku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9E8E6C7-623D-67E5-6CB5-029C39423B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dato 2">
            <a:extLst>
              <a:ext uri="{FF2B5EF4-FFF2-40B4-BE49-F238E27FC236}">
                <a16:creationId xmlns:a16="http://schemas.microsoft.com/office/drawing/2014/main" id="{EA40A522-A2B6-EDC0-C3F9-E68FCB53C4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FC77A4-95E6-4429-96C7-F74EAC1D6D2A}" type="datetimeFigureOut">
              <a:rPr lang="da-DK" smtClean="0"/>
              <a:t>16-09-2026</a:t>
            </a:fld>
            <a:endParaRPr lang="da-DK"/>
          </a:p>
        </p:txBody>
      </p:sp>
      <p:sp>
        <p:nvSpPr>
          <p:cNvPr id="4" name="Pladsholder til sidefod 3">
            <a:extLst>
              <a:ext uri="{FF2B5EF4-FFF2-40B4-BE49-F238E27FC236}">
                <a16:creationId xmlns:a16="http://schemas.microsoft.com/office/drawing/2014/main" id="{80BD7019-00DA-6DA7-3BF9-12C7ED4BB4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5" name="Pladsholder til slidenummer 4">
            <a:extLst>
              <a:ext uri="{FF2B5EF4-FFF2-40B4-BE49-F238E27FC236}">
                <a16:creationId xmlns:a16="http://schemas.microsoft.com/office/drawing/2014/main" id="{97AEA862-F78B-B532-6B2B-4702AA2B3E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BA14E1-D575-4B7F-85CC-A19C46B1C02E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3448571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dato 1">
            <a:extLst>
              <a:ext uri="{FF2B5EF4-FFF2-40B4-BE49-F238E27FC236}">
                <a16:creationId xmlns:a16="http://schemas.microsoft.com/office/drawing/2014/main" id="{1A170F47-8A46-2239-7A0D-83E5F944F0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FC77A4-95E6-4429-96C7-F74EAC1D6D2A}" type="datetimeFigureOut">
              <a:rPr lang="da-DK" smtClean="0"/>
              <a:t>16-09-2026</a:t>
            </a:fld>
            <a:endParaRPr lang="da-DK"/>
          </a:p>
        </p:txBody>
      </p:sp>
      <p:sp>
        <p:nvSpPr>
          <p:cNvPr id="3" name="Pladsholder til sidefod 2">
            <a:extLst>
              <a:ext uri="{FF2B5EF4-FFF2-40B4-BE49-F238E27FC236}">
                <a16:creationId xmlns:a16="http://schemas.microsoft.com/office/drawing/2014/main" id="{EC5FD24B-0AE5-AE57-A760-CBE8668A6F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812136E5-1D38-69F4-F15E-3BD8F90FF2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BA14E1-D575-4B7F-85CC-A19C46B1C02E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5852916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dhold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92EAFA5-C743-2D11-3093-ABF473AB4A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D3B2DA95-8DE6-4E52-0D7B-2C210DD03B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tekst 3">
            <a:extLst>
              <a:ext uri="{FF2B5EF4-FFF2-40B4-BE49-F238E27FC236}">
                <a16:creationId xmlns:a16="http://schemas.microsoft.com/office/drawing/2014/main" id="{4054DA30-8113-B7BF-558A-07A5083DBC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5" name="Pladsholder til dato 4">
            <a:extLst>
              <a:ext uri="{FF2B5EF4-FFF2-40B4-BE49-F238E27FC236}">
                <a16:creationId xmlns:a16="http://schemas.microsoft.com/office/drawing/2014/main" id="{01AD462C-66D5-4F37-8151-5BD3B7D9E8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FC77A4-95E6-4429-96C7-F74EAC1D6D2A}" type="datetimeFigureOut">
              <a:rPr lang="da-DK" smtClean="0"/>
              <a:t>16-09-2026</a:t>
            </a:fld>
            <a:endParaRPr lang="da-DK"/>
          </a:p>
        </p:txBody>
      </p:sp>
      <p:sp>
        <p:nvSpPr>
          <p:cNvPr id="6" name="Pladsholder til sidefod 5">
            <a:extLst>
              <a:ext uri="{FF2B5EF4-FFF2-40B4-BE49-F238E27FC236}">
                <a16:creationId xmlns:a16="http://schemas.microsoft.com/office/drawing/2014/main" id="{FA1601D3-4ED2-ABE3-2386-CF007CA7D2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Pladsholder til slidenummer 6">
            <a:extLst>
              <a:ext uri="{FF2B5EF4-FFF2-40B4-BE49-F238E27FC236}">
                <a16:creationId xmlns:a16="http://schemas.microsoft.com/office/drawing/2014/main" id="{F783B349-6F83-16A6-478A-1DDF720E96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BA14E1-D575-4B7F-85CC-A19C46B1C02E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1263576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lede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9C611A8-5980-5F96-6266-FDB03EB12B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billede 2">
            <a:extLst>
              <a:ext uri="{FF2B5EF4-FFF2-40B4-BE49-F238E27FC236}">
                <a16:creationId xmlns:a16="http://schemas.microsoft.com/office/drawing/2014/main" id="{E4963BAF-920C-5F67-9217-EBD00C1502F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a-DK"/>
          </a:p>
        </p:txBody>
      </p:sp>
      <p:sp>
        <p:nvSpPr>
          <p:cNvPr id="4" name="Pladsholder til tekst 3">
            <a:extLst>
              <a:ext uri="{FF2B5EF4-FFF2-40B4-BE49-F238E27FC236}">
                <a16:creationId xmlns:a16="http://schemas.microsoft.com/office/drawing/2014/main" id="{5C012A58-84A7-B3D1-D1D9-74F6BDC1FA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5" name="Pladsholder til dato 4">
            <a:extLst>
              <a:ext uri="{FF2B5EF4-FFF2-40B4-BE49-F238E27FC236}">
                <a16:creationId xmlns:a16="http://schemas.microsoft.com/office/drawing/2014/main" id="{97357EC5-37B9-6B30-D23E-7F7E1B7832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FC77A4-95E6-4429-96C7-F74EAC1D6D2A}" type="datetimeFigureOut">
              <a:rPr lang="da-DK" smtClean="0"/>
              <a:t>16-09-2026</a:t>
            </a:fld>
            <a:endParaRPr lang="da-DK"/>
          </a:p>
        </p:txBody>
      </p:sp>
      <p:sp>
        <p:nvSpPr>
          <p:cNvPr id="6" name="Pladsholder til sidefod 5">
            <a:extLst>
              <a:ext uri="{FF2B5EF4-FFF2-40B4-BE49-F238E27FC236}">
                <a16:creationId xmlns:a16="http://schemas.microsoft.com/office/drawing/2014/main" id="{12BAFD75-70AA-11E5-185C-899B091627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Pladsholder til slidenummer 6">
            <a:extLst>
              <a:ext uri="{FF2B5EF4-FFF2-40B4-BE49-F238E27FC236}">
                <a16:creationId xmlns:a16="http://schemas.microsoft.com/office/drawing/2014/main" id="{7B5B58B9-612E-129E-9EBB-AF88717694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BA14E1-D575-4B7F-85CC-A19C46B1C02E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6002636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og lodret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0B39E84-C68E-3A35-EC91-FC4B0A1EBF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lodret titel 2">
            <a:extLst>
              <a:ext uri="{FF2B5EF4-FFF2-40B4-BE49-F238E27FC236}">
                <a16:creationId xmlns:a16="http://schemas.microsoft.com/office/drawing/2014/main" id="{6EFA3A83-83F7-06D7-1A80-C8D35279747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2A09A542-2B7B-4BFB-47F9-251B40579F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FC77A4-95E6-4429-96C7-F74EAC1D6D2A}" type="datetimeFigureOut">
              <a:rPr lang="da-DK" smtClean="0"/>
              <a:t>16-09-2026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56CD48F7-F9FF-C39E-E508-B4F99E159B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0DC49EA8-E390-D5CA-A895-BEE5B49A46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BA14E1-D575-4B7F-85CC-A19C46B1C02E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2277199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Lodret titel og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dret titel 1">
            <a:extLst>
              <a:ext uri="{FF2B5EF4-FFF2-40B4-BE49-F238E27FC236}">
                <a16:creationId xmlns:a16="http://schemas.microsoft.com/office/drawing/2014/main" id="{1E0F2AC7-EB78-8562-FAA7-20ADD890C84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lodret titel 2">
            <a:extLst>
              <a:ext uri="{FF2B5EF4-FFF2-40B4-BE49-F238E27FC236}">
                <a16:creationId xmlns:a16="http://schemas.microsoft.com/office/drawing/2014/main" id="{4F22446F-676F-36B9-A534-F3E1F56B7C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EA4C21DE-C405-9255-D23D-ADA2797E3B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FC77A4-95E6-4429-96C7-F74EAC1D6D2A}" type="datetimeFigureOut">
              <a:rPr lang="da-DK" smtClean="0"/>
              <a:t>16-09-2026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BBA3BF90-4589-DD3F-6A44-53341269F5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322739FC-D3FA-305A-9149-6370267D5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BA14E1-D575-4B7F-85CC-A19C46B1C02E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8428318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titel 1">
            <a:extLst>
              <a:ext uri="{FF2B5EF4-FFF2-40B4-BE49-F238E27FC236}">
                <a16:creationId xmlns:a16="http://schemas.microsoft.com/office/drawing/2014/main" id="{45FBB718-38D6-4483-B0BE-07408AA710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tekst 2">
            <a:extLst>
              <a:ext uri="{FF2B5EF4-FFF2-40B4-BE49-F238E27FC236}">
                <a16:creationId xmlns:a16="http://schemas.microsoft.com/office/drawing/2014/main" id="{87EBB9FA-0B39-C3DF-4F87-2160C806FD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F70E91F3-5AC9-D288-F19C-90CFB148245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CFC77A4-95E6-4429-96C7-F74EAC1D6D2A}" type="datetimeFigureOut">
              <a:rPr lang="da-DK" smtClean="0"/>
              <a:t>16-09-2026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317E3FC6-8615-E277-F6CC-9835E54331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668CA74C-FD30-DFCC-677E-FB9A8C194D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FBA14E1-D575-4B7F-85CC-A19C46B1C02E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9349408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a-D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A0B82A3-9AFD-CF05-19D3-B460135DEB1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a-DK" dirty="0"/>
              <a:t>LIVING</a:t>
            </a:r>
          </a:p>
        </p:txBody>
      </p:sp>
      <p:sp>
        <p:nvSpPr>
          <p:cNvPr id="3" name="Undertitel 2">
            <a:extLst>
              <a:ext uri="{FF2B5EF4-FFF2-40B4-BE49-F238E27FC236}">
                <a16:creationId xmlns:a16="http://schemas.microsoft.com/office/drawing/2014/main" id="{C93E9FC2-438C-CB58-4E80-E62A0D47771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a-DK" dirty="0"/>
              <a:t>Foreløbige resultater fra Vejen</a:t>
            </a:r>
          </a:p>
        </p:txBody>
      </p:sp>
    </p:spTree>
    <p:extLst>
      <p:ext uri="{BB962C8B-B14F-4D97-AF65-F5344CB8AC3E}">
        <p14:creationId xmlns:p14="http://schemas.microsoft.com/office/powerpoint/2010/main" val="29379260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AE17BEB-E531-EB41-6391-1B13780E0F4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3" name="Undertitel 2">
            <a:extLst>
              <a:ext uri="{FF2B5EF4-FFF2-40B4-BE49-F238E27FC236}">
                <a16:creationId xmlns:a16="http://schemas.microsoft.com/office/drawing/2014/main" id="{2FA8CCB8-BF40-42A6-956D-68D83843D7B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1167889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880D7DB-E305-9CAA-6FA4-046EB929CA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En lynundervisning i statistik</a:t>
            </a:r>
          </a:p>
        </p:txBody>
      </p:sp>
      <p:cxnSp>
        <p:nvCxnSpPr>
          <p:cNvPr id="5" name="Lige forbindelse 4">
            <a:extLst>
              <a:ext uri="{FF2B5EF4-FFF2-40B4-BE49-F238E27FC236}">
                <a16:creationId xmlns:a16="http://schemas.microsoft.com/office/drawing/2014/main" id="{8959D94B-1F35-D213-E540-8E524059D311}"/>
              </a:ext>
            </a:extLst>
          </p:cNvPr>
          <p:cNvCxnSpPr/>
          <p:nvPr/>
        </p:nvCxnSpPr>
        <p:spPr>
          <a:xfrm>
            <a:off x="5029200" y="3017520"/>
            <a:ext cx="0" cy="215798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ktangel 5">
            <a:extLst>
              <a:ext uri="{FF2B5EF4-FFF2-40B4-BE49-F238E27FC236}">
                <a16:creationId xmlns:a16="http://schemas.microsoft.com/office/drawing/2014/main" id="{ABFE0D79-A5D8-9CF6-B089-4ECA7A4E0520}"/>
              </a:ext>
            </a:extLst>
          </p:cNvPr>
          <p:cNvSpPr/>
          <p:nvPr/>
        </p:nvSpPr>
        <p:spPr>
          <a:xfrm>
            <a:off x="4402836" y="5303520"/>
            <a:ext cx="1252728" cy="612648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a-DK" sz="1200" dirty="0"/>
              <a:t>0</a:t>
            </a:r>
            <a:br>
              <a:rPr lang="da-DK" sz="1200" dirty="0"/>
            </a:br>
            <a:r>
              <a:rPr lang="da-DK" sz="1200" dirty="0"/>
              <a:t>Ingen ændring</a:t>
            </a:r>
          </a:p>
          <a:p>
            <a:pPr algn="ctr"/>
            <a:endParaRPr lang="da-DK" sz="1200" dirty="0"/>
          </a:p>
        </p:txBody>
      </p:sp>
      <p:grpSp>
        <p:nvGrpSpPr>
          <p:cNvPr id="11" name="Gruppe 10">
            <a:extLst>
              <a:ext uri="{FF2B5EF4-FFF2-40B4-BE49-F238E27FC236}">
                <a16:creationId xmlns:a16="http://schemas.microsoft.com/office/drawing/2014/main" id="{52967D47-4A76-26C9-E985-88652267901C}"/>
              </a:ext>
            </a:extLst>
          </p:cNvPr>
          <p:cNvGrpSpPr/>
          <p:nvPr/>
        </p:nvGrpSpPr>
        <p:grpSpPr>
          <a:xfrm>
            <a:off x="5253225" y="3547396"/>
            <a:ext cx="1179576" cy="192024"/>
            <a:chOff x="2441448" y="2770632"/>
            <a:chExt cx="1179576" cy="192024"/>
          </a:xfrm>
        </p:grpSpPr>
        <p:cxnSp>
          <p:nvCxnSpPr>
            <p:cNvPr id="8" name="Lige forbindelse 7">
              <a:extLst>
                <a:ext uri="{FF2B5EF4-FFF2-40B4-BE49-F238E27FC236}">
                  <a16:creationId xmlns:a16="http://schemas.microsoft.com/office/drawing/2014/main" id="{40FAF68A-300E-A47D-79E5-0010B3CF4B2F}"/>
                </a:ext>
              </a:extLst>
            </p:cNvPr>
            <p:cNvCxnSpPr>
              <a:cxnSpLocks/>
            </p:cNvCxnSpPr>
            <p:nvPr/>
          </p:nvCxnSpPr>
          <p:spPr>
            <a:xfrm>
              <a:off x="2441448" y="2871216"/>
              <a:ext cx="1179576" cy="0"/>
            </a:xfrm>
            <a:prstGeom prst="line">
              <a:avLst/>
            </a:prstGeom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0" name="Lige forbindelse 9">
              <a:extLst>
                <a:ext uri="{FF2B5EF4-FFF2-40B4-BE49-F238E27FC236}">
                  <a16:creationId xmlns:a16="http://schemas.microsoft.com/office/drawing/2014/main" id="{B0DAD2CE-9588-A9F3-1B2E-97F04B52F31C}"/>
                </a:ext>
              </a:extLst>
            </p:cNvPr>
            <p:cNvCxnSpPr>
              <a:cxnSpLocks/>
            </p:cNvCxnSpPr>
            <p:nvPr/>
          </p:nvCxnSpPr>
          <p:spPr>
            <a:xfrm>
              <a:off x="3008376" y="2770632"/>
              <a:ext cx="0" cy="19202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Rektangel 11">
            <a:extLst>
              <a:ext uri="{FF2B5EF4-FFF2-40B4-BE49-F238E27FC236}">
                <a16:creationId xmlns:a16="http://schemas.microsoft.com/office/drawing/2014/main" id="{1E844688-25E1-666C-A0F1-D77D61CFF179}"/>
              </a:ext>
            </a:extLst>
          </p:cNvPr>
          <p:cNvSpPr/>
          <p:nvPr/>
        </p:nvSpPr>
        <p:spPr>
          <a:xfrm>
            <a:off x="5566543" y="3163350"/>
            <a:ext cx="472307" cy="33832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900" dirty="0"/>
              <a:t>N=22</a:t>
            </a:r>
          </a:p>
        </p:txBody>
      </p:sp>
      <p:grpSp>
        <p:nvGrpSpPr>
          <p:cNvPr id="13" name="Gruppe 12">
            <a:extLst>
              <a:ext uri="{FF2B5EF4-FFF2-40B4-BE49-F238E27FC236}">
                <a16:creationId xmlns:a16="http://schemas.microsoft.com/office/drawing/2014/main" id="{60A8A216-09E4-D5BE-3DEF-882098B367E5}"/>
              </a:ext>
            </a:extLst>
          </p:cNvPr>
          <p:cNvGrpSpPr/>
          <p:nvPr/>
        </p:nvGrpSpPr>
        <p:grpSpPr>
          <a:xfrm>
            <a:off x="4820342" y="4615100"/>
            <a:ext cx="2080251" cy="192001"/>
            <a:chOff x="2441448" y="2770632"/>
            <a:chExt cx="1179576" cy="192024"/>
          </a:xfrm>
        </p:grpSpPr>
        <p:cxnSp>
          <p:nvCxnSpPr>
            <p:cNvPr id="14" name="Lige forbindelse 13">
              <a:extLst>
                <a:ext uri="{FF2B5EF4-FFF2-40B4-BE49-F238E27FC236}">
                  <a16:creationId xmlns:a16="http://schemas.microsoft.com/office/drawing/2014/main" id="{2C0D550D-2BE4-21C4-4F86-52A767E6AFDF}"/>
                </a:ext>
              </a:extLst>
            </p:cNvPr>
            <p:cNvCxnSpPr>
              <a:cxnSpLocks/>
            </p:cNvCxnSpPr>
            <p:nvPr/>
          </p:nvCxnSpPr>
          <p:spPr>
            <a:xfrm>
              <a:off x="2441448" y="2871216"/>
              <a:ext cx="1179576" cy="0"/>
            </a:xfrm>
            <a:prstGeom prst="line">
              <a:avLst/>
            </a:prstGeom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5" name="Lige forbindelse 14">
              <a:extLst>
                <a:ext uri="{FF2B5EF4-FFF2-40B4-BE49-F238E27FC236}">
                  <a16:creationId xmlns:a16="http://schemas.microsoft.com/office/drawing/2014/main" id="{B1EA4D0D-E381-1DF4-CBAA-0E2868DE3A13}"/>
                </a:ext>
              </a:extLst>
            </p:cNvPr>
            <p:cNvCxnSpPr>
              <a:cxnSpLocks/>
            </p:cNvCxnSpPr>
            <p:nvPr/>
          </p:nvCxnSpPr>
          <p:spPr>
            <a:xfrm>
              <a:off x="3008376" y="2770632"/>
              <a:ext cx="0" cy="19202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" name="Rektangel 15">
            <a:extLst>
              <a:ext uri="{FF2B5EF4-FFF2-40B4-BE49-F238E27FC236}">
                <a16:creationId xmlns:a16="http://schemas.microsoft.com/office/drawing/2014/main" id="{B326B8FC-C264-E68C-0159-F4F130C3D141}"/>
              </a:ext>
            </a:extLst>
          </p:cNvPr>
          <p:cNvSpPr/>
          <p:nvPr/>
        </p:nvSpPr>
        <p:spPr>
          <a:xfrm>
            <a:off x="5529890" y="4180976"/>
            <a:ext cx="580525" cy="33828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900" dirty="0"/>
              <a:t>N=16</a:t>
            </a:r>
          </a:p>
        </p:txBody>
      </p:sp>
    </p:spTree>
    <p:extLst>
      <p:ext uri="{BB962C8B-B14F-4D97-AF65-F5344CB8AC3E}">
        <p14:creationId xmlns:p14="http://schemas.microsoft.com/office/powerpoint/2010/main" val="11797435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6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2D5445-4037-EC7D-F4B3-01DDEED39E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2854E04-7B94-ABF1-C482-A78140439E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En lynundervisning i statistik</a:t>
            </a:r>
          </a:p>
        </p:txBody>
      </p:sp>
      <p:grpSp>
        <p:nvGrpSpPr>
          <p:cNvPr id="3" name="Gruppe 2">
            <a:extLst>
              <a:ext uri="{FF2B5EF4-FFF2-40B4-BE49-F238E27FC236}">
                <a16:creationId xmlns:a16="http://schemas.microsoft.com/office/drawing/2014/main" id="{309D8B9C-F306-5023-C454-733D8996385E}"/>
              </a:ext>
            </a:extLst>
          </p:cNvPr>
          <p:cNvGrpSpPr/>
          <p:nvPr/>
        </p:nvGrpSpPr>
        <p:grpSpPr>
          <a:xfrm>
            <a:off x="5546528" y="3163348"/>
            <a:ext cx="1179576" cy="192024"/>
            <a:chOff x="2441448" y="2770632"/>
            <a:chExt cx="1179576" cy="192024"/>
          </a:xfrm>
        </p:grpSpPr>
        <p:cxnSp>
          <p:nvCxnSpPr>
            <p:cNvPr id="4" name="Lige forbindelse 3">
              <a:extLst>
                <a:ext uri="{FF2B5EF4-FFF2-40B4-BE49-F238E27FC236}">
                  <a16:creationId xmlns:a16="http://schemas.microsoft.com/office/drawing/2014/main" id="{180A7C18-52CF-0739-1386-98660F82AB6E}"/>
                </a:ext>
              </a:extLst>
            </p:cNvPr>
            <p:cNvCxnSpPr>
              <a:cxnSpLocks/>
            </p:cNvCxnSpPr>
            <p:nvPr/>
          </p:nvCxnSpPr>
          <p:spPr>
            <a:xfrm>
              <a:off x="2441448" y="2871216"/>
              <a:ext cx="1179576" cy="0"/>
            </a:xfrm>
            <a:prstGeom prst="line">
              <a:avLst/>
            </a:prstGeom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7" name="Lige forbindelse 6">
              <a:extLst>
                <a:ext uri="{FF2B5EF4-FFF2-40B4-BE49-F238E27FC236}">
                  <a16:creationId xmlns:a16="http://schemas.microsoft.com/office/drawing/2014/main" id="{E1726634-9DED-6A31-142A-0A4462694DAD}"/>
                </a:ext>
              </a:extLst>
            </p:cNvPr>
            <p:cNvCxnSpPr>
              <a:cxnSpLocks/>
            </p:cNvCxnSpPr>
            <p:nvPr/>
          </p:nvCxnSpPr>
          <p:spPr>
            <a:xfrm>
              <a:off x="3008376" y="2770632"/>
              <a:ext cx="0" cy="19202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Rektangel 8">
            <a:extLst>
              <a:ext uri="{FF2B5EF4-FFF2-40B4-BE49-F238E27FC236}">
                <a16:creationId xmlns:a16="http://schemas.microsoft.com/office/drawing/2014/main" id="{BAC5D963-88B8-E307-0052-4F52C039E060}"/>
              </a:ext>
            </a:extLst>
          </p:cNvPr>
          <p:cNvSpPr/>
          <p:nvPr/>
        </p:nvSpPr>
        <p:spPr>
          <a:xfrm>
            <a:off x="5859846" y="2779302"/>
            <a:ext cx="472307" cy="33832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900" dirty="0"/>
              <a:t>N=22</a:t>
            </a:r>
          </a:p>
        </p:txBody>
      </p:sp>
      <p:grpSp>
        <p:nvGrpSpPr>
          <p:cNvPr id="17" name="Gruppe 16">
            <a:extLst>
              <a:ext uri="{FF2B5EF4-FFF2-40B4-BE49-F238E27FC236}">
                <a16:creationId xmlns:a16="http://schemas.microsoft.com/office/drawing/2014/main" id="{EA39D669-3541-75E0-43E3-CC9E67A1DE15}"/>
              </a:ext>
            </a:extLst>
          </p:cNvPr>
          <p:cNvGrpSpPr/>
          <p:nvPr/>
        </p:nvGrpSpPr>
        <p:grpSpPr>
          <a:xfrm>
            <a:off x="3790056" y="3693981"/>
            <a:ext cx="2080251" cy="192001"/>
            <a:chOff x="2441448" y="2770632"/>
            <a:chExt cx="1179576" cy="192024"/>
          </a:xfrm>
        </p:grpSpPr>
        <p:cxnSp>
          <p:nvCxnSpPr>
            <p:cNvPr id="18" name="Lige forbindelse 17">
              <a:extLst>
                <a:ext uri="{FF2B5EF4-FFF2-40B4-BE49-F238E27FC236}">
                  <a16:creationId xmlns:a16="http://schemas.microsoft.com/office/drawing/2014/main" id="{4B405FE6-78BD-468E-F8DB-4D7FEA54AFE5}"/>
                </a:ext>
              </a:extLst>
            </p:cNvPr>
            <p:cNvCxnSpPr>
              <a:cxnSpLocks/>
            </p:cNvCxnSpPr>
            <p:nvPr/>
          </p:nvCxnSpPr>
          <p:spPr>
            <a:xfrm>
              <a:off x="2441448" y="2871216"/>
              <a:ext cx="1179576" cy="0"/>
            </a:xfrm>
            <a:prstGeom prst="line">
              <a:avLst/>
            </a:prstGeom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9" name="Lige forbindelse 18">
              <a:extLst>
                <a:ext uri="{FF2B5EF4-FFF2-40B4-BE49-F238E27FC236}">
                  <a16:creationId xmlns:a16="http://schemas.microsoft.com/office/drawing/2014/main" id="{B459ECF4-D5CA-61BB-226B-740EE65674A7}"/>
                </a:ext>
              </a:extLst>
            </p:cNvPr>
            <p:cNvCxnSpPr>
              <a:cxnSpLocks/>
            </p:cNvCxnSpPr>
            <p:nvPr/>
          </p:nvCxnSpPr>
          <p:spPr>
            <a:xfrm>
              <a:off x="3008376" y="2770632"/>
              <a:ext cx="0" cy="19202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0" name="Rektangel 19">
            <a:extLst>
              <a:ext uri="{FF2B5EF4-FFF2-40B4-BE49-F238E27FC236}">
                <a16:creationId xmlns:a16="http://schemas.microsoft.com/office/drawing/2014/main" id="{498FB996-E3F4-FBA7-8F41-A71F2FDB446D}"/>
              </a:ext>
            </a:extLst>
          </p:cNvPr>
          <p:cNvSpPr/>
          <p:nvPr/>
        </p:nvSpPr>
        <p:spPr>
          <a:xfrm>
            <a:off x="4499604" y="3259857"/>
            <a:ext cx="580525" cy="33828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900" dirty="0"/>
              <a:t>N=16</a:t>
            </a:r>
          </a:p>
        </p:txBody>
      </p:sp>
      <p:sp>
        <p:nvSpPr>
          <p:cNvPr id="21" name="Rektangel 20">
            <a:extLst>
              <a:ext uri="{FF2B5EF4-FFF2-40B4-BE49-F238E27FC236}">
                <a16:creationId xmlns:a16="http://schemas.microsoft.com/office/drawing/2014/main" id="{F4865CAC-3A36-E0A3-D3B6-AED0752B35BB}"/>
              </a:ext>
            </a:extLst>
          </p:cNvPr>
          <p:cNvSpPr/>
          <p:nvPr/>
        </p:nvSpPr>
        <p:spPr>
          <a:xfrm>
            <a:off x="5546528" y="3259857"/>
            <a:ext cx="313317" cy="534694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5216759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20" grpId="0" animBg="1"/>
      <p:bldP spid="21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BF7AEA-1C76-5B07-74C0-7546EFEA2A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DC4AE2B-BBA0-5FDC-AE81-6DA40F2AAF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En lynundervisning i statistik</a:t>
            </a:r>
          </a:p>
        </p:txBody>
      </p:sp>
      <p:grpSp>
        <p:nvGrpSpPr>
          <p:cNvPr id="3" name="Gruppe 2">
            <a:extLst>
              <a:ext uri="{FF2B5EF4-FFF2-40B4-BE49-F238E27FC236}">
                <a16:creationId xmlns:a16="http://schemas.microsoft.com/office/drawing/2014/main" id="{85A0C3F5-A90F-ED72-2B12-942C4D8F84A2}"/>
              </a:ext>
            </a:extLst>
          </p:cNvPr>
          <p:cNvGrpSpPr/>
          <p:nvPr/>
        </p:nvGrpSpPr>
        <p:grpSpPr>
          <a:xfrm>
            <a:off x="5546528" y="3163348"/>
            <a:ext cx="1179576" cy="192024"/>
            <a:chOff x="2441448" y="2770632"/>
            <a:chExt cx="1179576" cy="192024"/>
          </a:xfrm>
        </p:grpSpPr>
        <p:cxnSp>
          <p:nvCxnSpPr>
            <p:cNvPr id="4" name="Lige forbindelse 3">
              <a:extLst>
                <a:ext uri="{FF2B5EF4-FFF2-40B4-BE49-F238E27FC236}">
                  <a16:creationId xmlns:a16="http://schemas.microsoft.com/office/drawing/2014/main" id="{E7372198-4179-3E19-71E8-735EE2A96FA0}"/>
                </a:ext>
              </a:extLst>
            </p:cNvPr>
            <p:cNvCxnSpPr>
              <a:cxnSpLocks/>
            </p:cNvCxnSpPr>
            <p:nvPr/>
          </p:nvCxnSpPr>
          <p:spPr>
            <a:xfrm>
              <a:off x="2441448" y="2871216"/>
              <a:ext cx="1179576" cy="0"/>
            </a:xfrm>
            <a:prstGeom prst="line">
              <a:avLst/>
            </a:prstGeom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7" name="Lige forbindelse 6">
              <a:extLst>
                <a:ext uri="{FF2B5EF4-FFF2-40B4-BE49-F238E27FC236}">
                  <a16:creationId xmlns:a16="http://schemas.microsoft.com/office/drawing/2014/main" id="{0EDC20C8-8A3C-DCE7-86FB-008F086D85D3}"/>
                </a:ext>
              </a:extLst>
            </p:cNvPr>
            <p:cNvCxnSpPr>
              <a:cxnSpLocks/>
            </p:cNvCxnSpPr>
            <p:nvPr/>
          </p:nvCxnSpPr>
          <p:spPr>
            <a:xfrm>
              <a:off x="3008376" y="2770632"/>
              <a:ext cx="0" cy="19202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Rektangel 8">
            <a:extLst>
              <a:ext uri="{FF2B5EF4-FFF2-40B4-BE49-F238E27FC236}">
                <a16:creationId xmlns:a16="http://schemas.microsoft.com/office/drawing/2014/main" id="{1A3F6273-AE47-3614-D919-B613F75F68EE}"/>
              </a:ext>
            </a:extLst>
          </p:cNvPr>
          <p:cNvSpPr/>
          <p:nvPr/>
        </p:nvSpPr>
        <p:spPr>
          <a:xfrm>
            <a:off x="5859846" y="2779302"/>
            <a:ext cx="472307" cy="33832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900" dirty="0"/>
              <a:t>N=22</a:t>
            </a:r>
          </a:p>
        </p:txBody>
      </p:sp>
      <p:grpSp>
        <p:nvGrpSpPr>
          <p:cNvPr id="5" name="Gruppe 4">
            <a:extLst>
              <a:ext uri="{FF2B5EF4-FFF2-40B4-BE49-F238E27FC236}">
                <a16:creationId xmlns:a16="http://schemas.microsoft.com/office/drawing/2014/main" id="{509F88E0-DE7D-A863-8BC3-9C2881606174}"/>
              </a:ext>
            </a:extLst>
          </p:cNvPr>
          <p:cNvGrpSpPr/>
          <p:nvPr/>
        </p:nvGrpSpPr>
        <p:grpSpPr>
          <a:xfrm>
            <a:off x="4402456" y="3803426"/>
            <a:ext cx="774819" cy="210790"/>
            <a:chOff x="2441448" y="2770632"/>
            <a:chExt cx="1179576" cy="192024"/>
          </a:xfrm>
        </p:grpSpPr>
        <p:cxnSp>
          <p:nvCxnSpPr>
            <p:cNvPr id="6" name="Lige forbindelse 5">
              <a:extLst>
                <a:ext uri="{FF2B5EF4-FFF2-40B4-BE49-F238E27FC236}">
                  <a16:creationId xmlns:a16="http://schemas.microsoft.com/office/drawing/2014/main" id="{B35F3A94-41A4-1123-8FB2-336C0C6564C8}"/>
                </a:ext>
              </a:extLst>
            </p:cNvPr>
            <p:cNvCxnSpPr>
              <a:cxnSpLocks/>
            </p:cNvCxnSpPr>
            <p:nvPr/>
          </p:nvCxnSpPr>
          <p:spPr>
            <a:xfrm>
              <a:off x="2441448" y="2871216"/>
              <a:ext cx="1179576" cy="0"/>
            </a:xfrm>
            <a:prstGeom prst="line">
              <a:avLst/>
            </a:prstGeom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8" name="Lige forbindelse 7">
              <a:extLst>
                <a:ext uri="{FF2B5EF4-FFF2-40B4-BE49-F238E27FC236}">
                  <a16:creationId xmlns:a16="http://schemas.microsoft.com/office/drawing/2014/main" id="{5E592FF4-9E39-5716-78C5-29A042F59F78}"/>
                </a:ext>
              </a:extLst>
            </p:cNvPr>
            <p:cNvCxnSpPr>
              <a:cxnSpLocks/>
            </p:cNvCxnSpPr>
            <p:nvPr/>
          </p:nvCxnSpPr>
          <p:spPr>
            <a:xfrm>
              <a:off x="3008376" y="2770632"/>
              <a:ext cx="0" cy="19202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" name="Rektangel 9">
            <a:extLst>
              <a:ext uri="{FF2B5EF4-FFF2-40B4-BE49-F238E27FC236}">
                <a16:creationId xmlns:a16="http://schemas.microsoft.com/office/drawing/2014/main" id="{65599ECB-8AC8-0E8B-391B-2E294AECB98A}"/>
              </a:ext>
            </a:extLst>
          </p:cNvPr>
          <p:cNvSpPr/>
          <p:nvPr/>
        </p:nvSpPr>
        <p:spPr>
          <a:xfrm>
            <a:off x="4553713" y="3355372"/>
            <a:ext cx="472307" cy="33832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900" dirty="0"/>
              <a:t>N=32</a:t>
            </a:r>
          </a:p>
        </p:txBody>
      </p:sp>
    </p:spTree>
    <p:extLst>
      <p:ext uri="{BB962C8B-B14F-4D97-AF65-F5344CB8AC3E}">
        <p14:creationId xmlns:p14="http://schemas.microsoft.com/office/powerpoint/2010/main" val="17353282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C55DCCA-456B-05A6-D1D1-A0F1A5D679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98018916-BFDF-6795-94CB-5D4ED0E4A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4C3295A-8714-9B0E-B0F1-17F56676F6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502920"/>
            <a:ext cx="3419856" cy="1463040"/>
          </a:xfrm>
        </p:spPr>
        <p:txBody>
          <a:bodyPr anchor="ctr">
            <a:normAutofit/>
          </a:bodyPr>
          <a:lstStyle/>
          <a:p>
            <a:r>
              <a:rPr lang="da-DK" sz="4800" dirty="0"/>
              <a:t>Kontrol</a:t>
            </a:r>
          </a:p>
        </p:txBody>
      </p:sp>
      <p:sp>
        <p:nvSpPr>
          <p:cNvPr id="18" name="sketch line">
            <a:extLst>
              <a:ext uri="{FF2B5EF4-FFF2-40B4-BE49-F238E27FC236}">
                <a16:creationId xmlns:a16="http://schemas.microsoft.com/office/drawing/2014/main" id="{06D1F33B-965C-2D4B-E789-293A8F958D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566159" y="1225296"/>
            <a:ext cx="1554480" cy="18288"/>
          </a:xfrm>
          <a:custGeom>
            <a:avLst/>
            <a:gdLst>
              <a:gd name="csX0" fmla="*/ 0 w 1554480"/>
              <a:gd name="csY0" fmla="*/ 0 h 18288"/>
              <a:gd name="csX1" fmla="*/ 549250 w 1554480"/>
              <a:gd name="csY1" fmla="*/ 0 h 18288"/>
              <a:gd name="csX2" fmla="*/ 1082954 w 1554480"/>
              <a:gd name="csY2" fmla="*/ 0 h 18288"/>
              <a:gd name="csX3" fmla="*/ 1554480 w 1554480"/>
              <a:gd name="csY3" fmla="*/ 0 h 18288"/>
              <a:gd name="csX4" fmla="*/ 1554480 w 1554480"/>
              <a:gd name="csY4" fmla="*/ 18288 h 18288"/>
              <a:gd name="csX5" fmla="*/ 1067410 w 1554480"/>
              <a:gd name="csY5" fmla="*/ 18288 h 18288"/>
              <a:gd name="csX6" fmla="*/ 549250 w 1554480"/>
              <a:gd name="csY6" fmla="*/ 18288 h 18288"/>
              <a:gd name="csX7" fmla="*/ 0 w 1554480"/>
              <a:gd name="csY7" fmla="*/ 18288 h 18288"/>
              <a:gd name="csX8" fmla="*/ 0 w 1554480"/>
              <a:gd name="csY8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554480" h="18288" fill="none" extrusionOk="0">
                <a:moveTo>
                  <a:pt x="0" y="0"/>
                </a:moveTo>
                <a:cubicBezTo>
                  <a:pt x="114141" y="-19864"/>
                  <a:pt x="345055" y="-1657"/>
                  <a:pt x="549250" y="0"/>
                </a:cubicBezTo>
                <a:cubicBezTo>
                  <a:pt x="753445" y="1657"/>
                  <a:pt x="862292" y="-5674"/>
                  <a:pt x="1082954" y="0"/>
                </a:cubicBezTo>
                <a:cubicBezTo>
                  <a:pt x="1303616" y="5674"/>
                  <a:pt x="1363530" y="4537"/>
                  <a:pt x="1554480" y="0"/>
                </a:cubicBezTo>
                <a:cubicBezTo>
                  <a:pt x="1554963" y="7176"/>
                  <a:pt x="1553909" y="13682"/>
                  <a:pt x="1554480" y="18288"/>
                </a:cubicBezTo>
                <a:cubicBezTo>
                  <a:pt x="1338847" y="6127"/>
                  <a:pt x="1215066" y="37851"/>
                  <a:pt x="1067410" y="18288"/>
                </a:cubicBezTo>
                <a:cubicBezTo>
                  <a:pt x="919754" y="-1275"/>
                  <a:pt x="800465" y="3080"/>
                  <a:pt x="549250" y="18288"/>
                </a:cubicBezTo>
                <a:cubicBezTo>
                  <a:pt x="298035" y="33496"/>
                  <a:pt x="158868" y="22769"/>
                  <a:pt x="0" y="18288"/>
                </a:cubicBezTo>
                <a:cubicBezTo>
                  <a:pt x="-655" y="13237"/>
                  <a:pt x="709" y="4645"/>
                  <a:pt x="0" y="0"/>
                </a:cubicBezTo>
                <a:close/>
              </a:path>
              <a:path w="1554480" h="18288" stroke="0" extrusionOk="0">
                <a:moveTo>
                  <a:pt x="0" y="0"/>
                </a:moveTo>
                <a:cubicBezTo>
                  <a:pt x="249941" y="-58"/>
                  <a:pt x="367334" y="23448"/>
                  <a:pt x="502615" y="0"/>
                </a:cubicBezTo>
                <a:cubicBezTo>
                  <a:pt x="637897" y="-23448"/>
                  <a:pt x="813653" y="-20418"/>
                  <a:pt x="974141" y="0"/>
                </a:cubicBezTo>
                <a:cubicBezTo>
                  <a:pt x="1134629" y="20418"/>
                  <a:pt x="1268772" y="6288"/>
                  <a:pt x="1554480" y="0"/>
                </a:cubicBezTo>
                <a:cubicBezTo>
                  <a:pt x="1554917" y="7222"/>
                  <a:pt x="1555359" y="13299"/>
                  <a:pt x="1554480" y="18288"/>
                </a:cubicBezTo>
                <a:cubicBezTo>
                  <a:pt x="1336087" y="12172"/>
                  <a:pt x="1310024" y="19759"/>
                  <a:pt x="1067410" y="18288"/>
                </a:cubicBezTo>
                <a:cubicBezTo>
                  <a:pt x="824796" y="16818"/>
                  <a:pt x="787902" y="34647"/>
                  <a:pt x="518160" y="18288"/>
                </a:cubicBezTo>
                <a:cubicBezTo>
                  <a:pt x="248418" y="1930"/>
                  <a:pt x="133160" y="9205"/>
                  <a:pt x="0" y="18288"/>
                </a:cubicBezTo>
                <a:cubicBezTo>
                  <a:pt x="-643" y="9451"/>
                  <a:pt x="-340" y="7114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0" name="Pladsholder til indhold 9">
            <a:extLst>
              <a:ext uri="{FF2B5EF4-FFF2-40B4-BE49-F238E27FC236}">
                <a16:creationId xmlns:a16="http://schemas.microsoft.com/office/drawing/2014/main" id="{773994D4-1AF3-F075-90E0-96CA5AC19671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654551" y="748617"/>
          <a:ext cx="6479112" cy="97132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479112">
                  <a:extLst>
                    <a:ext uri="{9D8B030D-6E8A-4147-A177-3AD203B41FA5}">
                      <a16:colId xmlns:a16="http://schemas.microsoft.com/office/drawing/2014/main" val="2511380987"/>
                    </a:ext>
                  </a:extLst>
                </a:gridCol>
              </a:tblGrid>
              <a:tr h="2398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 sz="1200" baseline="30000">
                          <a:effectLst/>
                        </a:rPr>
                        <a:t>a</a:t>
                      </a:r>
                      <a:r>
                        <a:rPr lang="da-DK" sz="1200">
                          <a:effectLst/>
                        </a:rPr>
                        <a:t> n: Antal borgere som indgår i analysen.</a:t>
                      </a:r>
                      <a:endParaRPr lang="da-DK" sz="1200"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9952" marR="59952" marT="29976" marB="29976" anchor="ctr"/>
                </a:tc>
                <a:extLst>
                  <a:ext uri="{0D108BD9-81ED-4DB2-BD59-A6C34878D82A}">
                    <a16:rowId xmlns:a16="http://schemas.microsoft.com/office/drawing/2014/main" val="3071470582"/>
                  </a:ext>
                </a:extLst>
              </a:tr>
              <a:tr h="2398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 sz="1200" baseline="30000">
                          <a:effectLst/>
                        </a:rPr>
                        <a:t>b</a:t>
                      </a:r>
                      <a:r>
                        <a:rPr lang="da-DK" sz="1200">
                          <a:effectLst/>
                        </a:rPr>
                        <a:t> P: P-værdi &lt;0,05 indikerer at ændringen er signifikant (ikke skyldes tilfældighed).</a:t>
                      </a:r>
                      <a:endParaRPr lang="da-DK" sz="1200"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9952" marR="59952" marT="29976" marB="29976" anchor="ctr"/>
                </a:tc>
                <a:extLst>
                  <a:ext uri="{0D108BD9-81ED-4DB2-BD59-A6C34878D82A}">
                    <a16:rowId xmlns:a16="http://schemas.microsoft.com/office/drawing/2014/main" val="2734482386"/>
                  </a:ext>
                </a:extLst>
              </a:tr>
              <a:tr h="2398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 sz="1200" baseline="30000">
                          <a:effectLst/>
                        </a:rPr>
                        <a:t>c</a:t>
                      </a:r>
                      <a:r>
                        <a:rPr lang="da-DK" sz="1200">
                          <a:effectLst/>
                        </a:rPr>
                        <a:t> PCD-5: 5-item skala, der måler oplevet kompetence i håndtering af diabetes.</a:t>
                      </a:r>
                      <a:endParaRPr lang="da-DK" sz="1200"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9952" marR="59952" marT="29976" marB="29976" anchor="ctr"/>
                </a:tc>
                <a:extLst>
                  <a:ext uri="{0D108BD9-81ED-4DB2-BD59-A6C34878D82A}">
                    <a16:rowId xmlns:a16="http://schemas.microsoft.com/office/drawing/2014/main" val="3101065252"/>
                  </a:ext>
                </a:extLst>
              </a:tr>
              <a:tr h="2398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 sz="1200" baseline="30000" dirty="0">
                          <a:effectLst/>
                        </a:rPr>
                        <a:t>d</a:t>
                      </a:r>
                      <a:r>
                        <a:rPr lang="da-DK" sz="1200" dirty="0">
                          <a:effectLst/>
                        </a:rPr>
                        <a:t> PAID-20: 20-item skala, der måler følelsesmæssig belastning relateret til at leve med diabetes.</a:t>
                      </a:r>
                      <a:endParaRPr lang="da-DK" sz="1200" dirty="0"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9952" marR="59952" marT="29976" marB="29976" anchor="ctr"/>
                </a:tc>
                <a:extLst>
                  <a:ext uri="{0D108BD9-81ED-4DB2-BD59-A6C34878D82A}">
                    <a16:rowId xmlns:a16="http://schemas.microsoft.com/office/drawing/2014/main" val="1919448588"/>
                  </a:ext>
                </a:extLst>
              </a:tr>
            </a:tbl>
          </a:graphicData>
        </a:graphic>
      </p:graphicFrame>
      <p:pic>
        <p:nvPicPr>
          <p:cNvPr id="4" name="Billede 3">
            <a:extLst>
              <a:ext uri="{FF2B5EF4-FFF2-40B4-BE49-F238E27FC236}">
                <a16:creationId xmlns:a16="http://schemas.microsoft.com/office/drawing/2014/main" id="{49F7BEC3-85D3-1CA8-9064-B0623A77DF4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240" y="2193731"/>
            <a:ext cx="9981519" cy="39156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74158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32AEEBC8-9D30-42EF-95F2-386C2653FB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E062D966-EA88-C0D9-E630-A579E8701E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502920"/>
            <a:ext cx="3419856" cy="1463040"/>
          </a:xfrm>
        </p:spPr>
        <p:txBody>
          <a:bodyPr anchor="ctr">
            <a:normAutofit/>
          </a:bodyPr>
          <a:lstStyle/>
          <a:p>
            <a:r>
              <a:rPr lang="da-DK" sz="4800" dirty="0"/>
              <a:t>Intervention</a:t>
            </a:r>
          </a:p>
        </p:txBody>
      </p:sp>
      <p:sp>
        <p:nvSpPr>
          <p:cNvPr id="18" name="sketch line">
            <a:extLst>
              <a:ext uri="{FF2B5EF4-FFF2-40B4-BE49-F238E27FC236}">
                <a16:creationId xmlns:a16="http://schemas.microsoft.com/office/drawing/2014/main" id="{2E92FA66-67D7-4CB4-94D3-E643A9AD47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566159" y="1225296"/>
            <a:ext cx="1554480" cy="18288"/>
          </a:xfrm>
          <a:custGeom>
            <a:avLst/>
            <a:gdLst>
              <a:gd name="csX0" fmla="*/ 0 w 1554480"/>
              <a:gd name="csY0" fmla="*/ 0 h 18288"/>
              <a:gd name="csX1" fmla="*/ 549250 w 1554480"/>
              <a:gd name="csY1" fmla="*/ 0 h 18288"/>
              <a:gd name="csX2" fmla="*/ 1082954 w 1554480"/>
              <a:gd name="csY2" fmla="*/ 0 h 18288"/>
              <a:gd name="csX3" fmla="*/ 1554480 w 1554480"/>
              <a:gd name="csY3" fmla="*/ 0 h 18288"/>
              <a:gd name="csX4" fmla="*/ 1554480 w 1554480"/>
              <a:gd name="csY4" fmla="*/ 18288 h 18288"/>
              <a:gd name="csX5" fmla="*/ 1067410 w 1554480"/>
              <a:gd name="csY5" fmla="*/ 18288 h 18288"/>
              <a:gd name="csX6" fmla="*/ 549250 w 1554480"/>
              <a:gd name="csY6" fmla="*/ 18288 h 18288"/>
              <a:gd name="csX7" fmla="*/ 0 w 1554480"/>
              <a:gd name="csY7" fmla="*/ 18288 h 18288"/>
              <a:gd name="csX8" fmla="*/ 0 w 1554480"/>
              <a:gd name="csY8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554480" h="18288" fill="none" extrusionOk="0">
                <a:moveTo>
                  <a:pt x="0" y="0"/>
                </a:moveTo>
                <a:cubicBezTo>
                  <a:pt x="114141" y="-19864"/>
                  <a:pt x="345055" y="-1657"/>
                  <a:pt x="549250" y="0"/>
                </a:cubicBezTo>
                <a:cubicBezTo>
                  <a:pt x="753445" y="1657"/>
                  <a:pt x="862292" y="-5674"/>
                  <a:pt x="1082954" y="0"/>
                </a:cubicBezTo>
                <a:cubicBezTo>
                  <a:pt x="1303616" y="5674"/>
                  <a:pt x="1363530" y="4537"/>
                  <a:pt x="1554480" y="0"/>
                </a:cubicBezTo>
                <a:cubicBezTo>
                  <a:pt x="1554963" y="7176"/>
                  <a:pt x="1553909" y="13682"/>
                  <a:pt x="1554480" y="18288"/>
                </a:cubicBezTo>
                <a:cubicBezTo>
                  <a:pt x="1338847" y="6127"/>
                  <a:pt x="1215066" y="37851"/>
                  <a:pt x="1067410" y="18288"/>
                </a:cubicBezTo>
                <a:cubicBezTo>
                  <a:pt x="919754" y="-1275"/>
                  <a:pt x="800465" y="3080"/>
                  <a:pt x="549250" y="18288"/>
                </a:cubicBezTo>
                <a:cubicBezTo>
                  <a:pt x="298035" y="33496"/>
                  <a:pt x="158868" y="22769"/>
                  <a:pt x="0" y="18288"/>
                </a:cubicBezTo>
                <a:cubicBezTo>
                  <a:pt x="-655" y="13237"/>
                  <a:pt x="709" y="4645"/>
                  <a:pt x="0" y="0"/>
                </a:cubicBezTo>
                <a:close/>
              </a:path>
              <a:path w="1554480" h="18288" stroke="0" extrusionOk="0">
                <a:moveTo>
                  <a:pt x="0" y="0"/>
                </a:moveTo>
                <a:cubicBezTo>
                  <a:pt x="249941" y="-58"/>
                  <a:pt x="367334" y="23448"/>
                  <a:pt x="502615" y="0"/>
                </a:cubicBezTo>
                <a:cubicBezTo>
                  <a:pt x="637897" y="-23448"/>
                  <a:pt x="813653" y="-20418"/>
                  <a:pt x="974141" y="0"/>
                </a:cubicBezTo>
                <a:cubicBezTo>
                  <a:pt x="1134629" y="20418"/>
                  <a:pt x="1268772" y="6288"/>
                  <a:pt x="1554480" y="0"/>
                </a:cubicBezTo>
                <a:cubicBezTo>
                  <a:pt x="1554917" y="7222"/>
                  <a:pt x="1555359" y="13299"/>
                  <a:pt x="1554480" y="18288"/>
                </a:cubicBezTo>
                <a:cubicBezTo>
                  <a:pt x="1336087" y="12172"/>
                  <a:pt x="1310024" y="19759"/>
                  <a:pt x="1067410" y="18288"/>
                </a:cubicBezTo>
                <a:cubicBezTo>
                  <a:pt x="824796" y="16818"/>
                  <a:pt x="787902" y="34647"/>
                  <a:pt x="518160" y="18288"/>
                </a:cubicBezTo>
                <a:cubicBezTo>
                  <a:pt x="248418" y="1930"/>
                  <a:pt x="133160" y="9205"/>
                  <a:pt x="0" y="18288"/>
                </a:cubicBezTo>
                <a:cubicBezTo>
                  <a:pt x="-643" y="9451"/>
                  <a:pt x="-340" y="7114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0" name="Pladsholder til indhold 9">
            <a:extLst>
              <a:ext uri="{FF2B5EF4-FFF2-40B4-BE49-F238E27FC236}">
                <a16:creationId xmlns:a16="http://schemas.microsoft.com/office/drawing/2014/main" id="{6FE976A6-DE9D-42CA-E6B2-39843084013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81813623"/>
              </p:ext>
            </p:extLst>
          </p:nvPr>
        </p:nvGraphicFramePr>
        <p:xfrm>
          <a:off x="4654551" y="748617"/>
          <a:ext cx="6479112" cy="97132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479112">
                  <a:extLst>
                    <a:ext uri="{9D8B030D-6E8A-4147-A177-3AD203B41FA5}">
                      <a16:colId xmlns:a16="http://schemas.microsoft.com/office/drawing/2014/main" val="2511380987"/>
                    </a:ext>
                  </a:extLst>
                </a:gridCol>
              </a:tblGrid>
              <a:tr h="2398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 sz="1200" baseline="30000">
                          <a:effectLst/>
                        </a:rPr>
                        <a:t>a</a:t>
                      </a:r>
                      <a:r>
                        <a:rPr lang="da-DK" sz="1200">
                          <a:effectLst/>
                        </a:rPr>
                        <a:t> n: Antal borgere som indgår i analysen.</a:t>
                      </a:r>
                      <a:endParaRPr lang="da-DK" sz="1200"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9952" marR="59952" marT="29976" marB="29976" anchor="ctr"/>
                </a:tc>
                <a:extLst>
                  <a:ext uri="{0D108BD9-81ED-4DB2-BD59-A6C34878D82A}">
                    <a16:rowId xmlns:a16="http://schemas.microsoft.com/office/drawing/2014/main" val="3071470582"/>
                  </a:ext>
                </a:extLst>
              </a:tr>
              <a:tr h="2398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 sz="1200" baseline="30000">
                          <a:effectLst/>
                        </a:rPr>
                        <a:t>b</a:t>
                      </a:r>
                      <a:r>
                        <a:rPr lang="da-DK" sz="1200">
                          <a:effectLst/>
                        </a:rPr>
                        <a:t> P: P-værdi &lt;0,05 indikerer at ændringen er signifikant (ikke skyldes tilfældighed).</a:t>
                      </a:r>
                      <a:endParaRPr lang="da-DK" sz="1200"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9952" marR="59952" marT="29976" marB="29976" anchor="ctr"/>
                </a:tc>
                <a:extLst>
                  <a:ext uri="{0D108BD9-81ED-4DB2-BD59-A6C34878D82A}">
                    <a16:rowId xmlns:a16="http://schemas.microsoft.com/office/drawing/2014/main" val="2734482386"/>
                  </a:ext>
                </a:extLst>
              </a:tr>
              <a:tr h="2398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 sz="1200" baseline="30000">
                          <a:effectLst/>
                        </a:rPr>
                        <a:t>c</a:t>
                      </a:r>
                      <a:r>
                        <a:rPr lang="da-DK" sz="1200">
                          <a:effectLst/>
                        </a:rPr>
                        <a:t> PCD-5: 5-item skala, der måler oplevet kompetence i håndtering af diabetes.</a:t>
                      </a:r>
                      <a:endParaRPr lang="da-DK" sz="1200"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9952" marR="59952" marT="29976" marB="29976" anchor="ctr"/>
                </a:tc>
                <a:extLst>
                  <a:ext uri="{0D108BD9-81ED-4DB2-BD59-A6C34878D82A}">
                    <a16:rowId xmlns:a16="http://schemas.microsoft.com/office/drawing/2014/main" val="3101065252"/>
                  </a:ext>
                </a:extLst>
              </a:tr>
              <a:tr h="2398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 sz="1200" baseline="30000" dirty="0">
                          <a:effectLst/>
                        </a:rPr>
                        <a:t>d</a:t>
                      </a:r>
                      <a:r>
                        <a:rPr lang="da-DK" sz="1200" dirty="0">
                          <a:effectLst/>
                        </a:rPr>
                        <a:t> PAID-20: 20-item skala, der måler følelsesmæssig belastning relateret til at leve med diabetes.</a:t>
                      </a:r>
                      <a:endParaRPr lang="da-DK" sz="1200" dirty="0"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9952" marR="59952" marT="29976" marB="29976" anchor="ctr"/>
                </a:tc>
                <a:extLst>
                  <a:ext uri="{0D108BD9-81ED-4DB2-BD59-A6C34878D82A}">
                    <a16:rowId xmlns:a16="http://schemas.microsoft.com/office/drawing/2014/main" val="1919448588"/>
                  </a:ext>
                </a:extLst>
              </a:tr>
            </a:tbl>
          </a:graphicData>
        </a:graphic>
      </p:graphicFrame>
      <p:pic>
        <p:nvPicPr>
          <p:cNvPr id="9" name="Pladsholder til indhold 8">
            <a:extLst>
              <a:ext uri="{FF2B5EF4-FFF2-40B4-BE49-F238E27FC236}">
                <a16:creationId xmlns:a16="http://schemas.microsoft.com/office/drawing/2014/main" id="{61316154-98BE-1838-AFF1-AA0095A975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6144" y="2290936"/>
            <a:ext cx="10087519" cy="3959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29906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22EFE5E-81C4-3B0F-D7F5-CA65654D67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C7D4A8B6-3A87-A137-2789-C28D4BD54C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E9FF94A7-7E67-7EF4-D5D7-931F7B2A51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502920"/>
            <a:ext cx="3419856" cy="1463040"/>
          </a:xfrm>
        </p:spPr>
        <p:txBody>
          <a:bodyPr anchor="ctr">
            <a:normAutofit/>
          </a:bodyPr>
          <a:lstStyle/>
          <a:p>
            <a:r>
              <a:rPr lang="da-DK" sz="4800" dirty="0"/>
              <a:t>Kontrol</a:t>
            </a:r>
          </a:p>
        </p:txBody>
      </p:sp>
      <p:sp>
        <p:nvSpPr>
          <p:cNvPr id="18" name="sketch line">
            <a:extLst>
              <a:ext uri="{FF2B5EF4-FFF2-40B4-BE49-F238E27FC236}">
                <a16:creationId xmlns:a16="http://schemas.microsoft.com/office/drawing/2014/main" id="{1EBE2F29-E3E6-3566-1E26-EAE6AE470F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566159" y="1225296"/>
            <a:ext cx="1554480" cy="18288"/>
          </a:xfrm>
          <a:custGeom>
            <a:avLst/>
            <a:gdLst>
              <a:gd name="csX0" fmla="*/ 0 w 1554480"/>
              <a:gd name="csY0" fmla="*/ 0 h 18288"/>
              <a:gd name="csX1" fmla="*/ 549250 w 1554480"/>
              <a:gd name="csY1" fmla="*/ 0 h 18288"/>
              <a:gd name="csX2" fmla="*/ 1082954 w 1554480"/>
              <a:gd name="csY2" fmla="*/ 0 h 18288"/>
              <a:gd name="csX3" fmla="*/ 1554480 w 1554480"/>
              <a:gd name="csY3" fmla="*/ 0 h 18288"/>
              <a:gd name="csX4" fmla="*/ 1554480 w 1554480"/>
              <a:gd name="csY4" fmla="*/ 18288 h 18288"/>
              <a:gd name="csX5" fmla="*/ 1067410 w 1554480"/>
              <a:gd name="csY5" fmla="*/ 18288 h 18288"/>
              <a:gd name="csX6" fmla="*/ 549250 w 1554480"/>
              <a:gd name="csY6" fmla="*/ 18288 h 18288"/>
              <a:gd name="csX7" fmla="*/ 0 w 1554480"/>
              <a:gd name="csY7" fmla="*/ 18288 h 18288"/>
              <a:gd name="csX8" fmla="*/ 0 w 1554480"/>
              <a:gd name="csY8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554480" h="18288" fill="none" extrusionOk="0">
                <a:moveTo>
                  <a:pt x="0" y="0"/>
                </a:moveTo>
                <a:cubicBezTo>
                  <a:pt x="114141" y="-19864"/>
                  <a:pt x="345055" y="-1657"/>
                  <a:pt x="549250" y="0"/>
                </a:cubicBezTo>
                <a:cubicBezTo>
                  <a:pt x="753445" y="1657"/>
                  <a:pt x="862292" y="-5674"/>
                  <a:pt x="1082954" y="0"/>
                </a:cubicBezTo>
                <a:cubicBezTo>
                  <a:pt x="1303616" y="5674"/>
                  <a:pt x="1363530" y="4537"/>
                  <a:pt x="1554480" y="0"/>
                </a:cubicBezTo>
                <a:cubicBezTo>
                  <a:pt x="1554963" y="7176"/>
                  <a:pt x="1553909" y="13682"/>
                  <a:pt x="1554480" y="18288"/>
                </a:cubicBezTo>
                <a:cubicBezTo>
                  <a:pt x="1338847" y="6127"/>
                  <a:pt x="1215066" y="37851"/>
                  <a:pt x="1067410" y="18288"/>
                </a:cubicBezTo>
                <a:cubicBezTo>
                  <a:pt x="919754" y="-1275"/>
                  <a:pt x="800465" y="3080"/>
                  <a:pt x="549250" y="18288"/>
                </a:cubicBezTo>
                <a:cubicBezTo>
                  <a:pt x="298035" y="33496"/>
                  <a:pt x="158868" y="22769"/>
                  <a:pt x="0" y="18288"/>
                </a:cubicBezTo>
                <a:cubicBezTo>
                  <a:pt x="-655" y="13237"/>
                  <a:pt x="709" y="4645"/>
                  <a:pt x="0" y="0"/>
                </a:cubicBezTo>
                <a:close/>
              </a:path>
              <a:path w="1554480" h="18288" stroke="0" extrusionOk="0">
                <a:moveTo>
                  <a:pt x="0" y="0"/>
                </a:moveTo>
                <a:cubicBezTo>
                  <a:pt x="249941" y="-58"/>
                  <a:pt x="367334" y="23448"/>
                  <a:pt x="502615" y="0"/>
                </a:cubicBezTo>
                <a:cubicBezTo>
                  <a:pt x="637897" y="-23448"/>
                  <a:pt x="813653" y="-20418"/>
                  <a:pt x="974141" y="0"/>
                </a:cubicBezTo>
                <a:cubicBezTo>
                  <a:pt x="1134629" y="20418"/>
                  <a:pt x="1268772" y="6288"/>
                  <a:pt x="1554480" y="0"/>
                </a:cubicBezTo>
                <a:cubicBezTo>
                  <a:pt x="1554917" y="7222"/>
                  <a:pt x="1555359" y="13299"/>
                  <a:pt x="1554480" y="18288"/>
                </a:cubicBezTo>
                <a:cubicBezTo>
                  <a:pt x="1336087" y="12172"/>
                  <a:pt x="1310024" y="19759"/>
                  <a:pt x="1067410" y="18288"/>
                </a:cubicBezTo>
                <a:cubicBezTo>
                  <a:pt x="824796" y="16818"/>
                  <a:pt x="787902" y="34647"/>
                  <a:pt x="518160" y="18288"/>
                </a:cubicBezTo>
                <a:cubicBezTo>
                  <a:pt x="248418" y="1930"/>
                  <a:pt x="133160" y="9205"/>
                  <a:pt x="0" y="18288"/>
                </a:cubicBezTo>
                <a:cubicBezTo>
                  <a:pt x="-643" y="9451"/>
                  <a:pt x="-340" y="7114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0" name="Pladsholder til indhold 9">
            <a:extLst>
              <a:ext uri="{FF2B5EF4-FFF2-40B4-BE49-F238E27FC236}">
                <a16:creationId xmlns:a16="http://schemas.microsoft.com/office/drawing/2014/main" id="{4A4C9998-5AAE-D051-916E-8B4877BED7E1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654551" y="748617"/>
          <a:ext cx="6479112" cy="97132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479112">
                  <a:extLst>
                    <a:ext uri="{9D8B030D-6E8A-4147-A177-3AD203B41FA5}">
                      <a16:colId xmlns:a16="http://schemas.microsoft.com/office/drawing/2014/main" val="2511380987"/>
                    </a:ext>
                  </a:extLst>
                </a:gridCol>
              </a:tblGrid>
              <a:tr h="2398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 sz="1200" baseline="30000">
                          <a:effectLst/>
                        </a:rPr>
                        <a:t>a</a:t>
                      </a:r>
                      <a:r>
                        <a:rPr lang="da-DK" sz="1200">
                          <a:effectLst/>
                        </a:rPr>
                        <a:t> n: Antal borgere som indgår i analysen.</a:t>
                      </a:r>
                      <a:endParaRPr lang="da-DK" sz="1200"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9952" marR="59952" marT="29976" marB="29976" anchor="ctr"/>
                </a:tc>
                <a:extLst>
                  <a:ext uri="{0D108BD9-81ED-4DB2-BD59-A6C34878D82A}">
                    <a16:rowId xmlns:a16="http://schemas.microsoft.com/office/drawing/2014/main" val="3071470582"/>
                  </a:ext>
                </a:extLst>
              </a:tr>
              <a:tr h="2398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 sz="1200" baseline="30000">
                          <a:effectLst/>
                        </a:rPr>
                        <a:t>b</a:t>
                      </a:r>
                      <a:r>
                        <a:rPr lang="da-DK" sz="1200">
                          <a:effectLst/>
                        </a:rPr>
                        <a:t> P: P-værdi &lt;0,05 indikerer at ændringen er signifikant (ikke skyldes tilfældighed).</a:t>
                      </a:r>
                      <a:endParaRPr lang="da-DK" sz="1200"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9952" marR="59952" marT="29976" marB="29976" anchor="ctr"/>
                </a:tc>
                <a:extLst>
                  <a:ext uri="{0D108BD9-81ED-4DB2-BD59-A6C34878D82A}">
                    <a16:rowId xmlns:a16="http://schemas.microsoft.com/office/drawing/2014/main" val="2734482386"/>
                  </a:ext>
                </a:extLst>
              </a:tr>
              <a:tr h="2398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 sz="1200" baseline="30000">
                          <a:effectLst/>
                        </a:rPr>
                        <a:t>c</a:t>
                      </a:r>
                      <a:r>
                        <a:rPr lang="da-DK" sz="1200">
                          <a:effectLst/>
                        </a:rPr>
                        <a:t> PCD-5: 5-item skala, der måler oplevet kompetence i håndtering af diabetes.</a:t>
                      </a:r>
                      <a:endParaRPr lang="da-DK" sz="1200"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9952" marR="59952" marT="29976" marB="29976" anchor="ctr"/>
                </a:tc>
                <a:extLst>
                  <a:ext uri="{0D108BD9-81ED-4DB2-BD59-A6C34878D82A}">
                    <a16:rowId xmlns:a16="http://schemas.microsoft.com/office/drawing/2014/main" val="3101065252"/>
                  </a:ext>
                </a:extLst>
              </a:tr>
              <a:tr h="2398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 sz="1200" baseline="30000" dirty="0">
                          <a:effectLst/>
                        </a:rPr>
                        <a:t>d</a:t>
                      </a:r>
                      <a:r>
                        <a:rPr lang="da-DK" sz="1200" dirty="0">
                          <a:effectLst/>
                        </a:rPr>
                        <a:t> PAID-20: 20-item skala, der måler følelsesmæssig belastning relateret til at leve med diabetes.</a:t>
                      </a:r>
                      <a:endParaRPr lang="da-DK" sz="1200" dirty="0"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9952" marR="59952" marT="29976" marB="29976" anchor="ctr"/>
                </a:tc>
                <a:extLst>
                  <a:ext uri="{0D108BD9-81ED-4DB2-BD59-A6C34878D82A}">
                    <a16:rowId xmlns:a16="http://schemas.microsoft.com/office/drawing/2014/main" val="1919448588"/>
                  </a:ext>
                </a:extLst>
              </a:tr>
            </a:tbl>
          </a:graphicData>
        </a:graphic>
      </p:graphicFrame>
      <p:pic>
        <p:nvPicPr>
          <p:cNvPr id="5" name="Billede 4">
            <a:extLst>
              <a:ext uri="{FF2B5EF4-FFF2-40B4-BE49-F238E27FC236}">
                <a16:creationId xmlns:a16="http://schemas.microsoft.com/office/drawing/2014/main" id="{257F2464-A10F-FA38-988A-CA4E187BC9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536" y="2103120"/>
            <a:ext cx="10027956" cy="38953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97207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0953482-53C3-4C60-A864-CCE92BD79F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58E14509-84D7-4439-9743-3285330E03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805B2BA2-DE05-54F8-B2B8-284688D8CF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502920"/>
            <a:ext cx="3419856" cy="1463040"/>
          </a:xfrm>
        </p:spPr>
        <p:txBody>
          <a:bodyPr anchor="ctr">
            <a:normAutofit/>
          </a:bodyPr>
          <a:lstStyle/>
          <a:p>
            <a:r>
              <a:rPr lang="da-DK" sz="4800" dirty="0"/>
              <a:t>Intervention</a:t>
            </a:r>
          </a:p>
        </p:txBody>
      </p:sp>
      <p:sp>
        <p:nvSpPr>
          <p:cNvPr id="18" name="sketch line">
            <a:extLst>
              <a:ext uri="{FF2B5EF4-FFF2-40B4-BE49-F238E27FC236}">
                <a16:creationId xmlns:a16="http://schemas.microsoft.com/office/drawing/2014/main" id="{7F8AB3B4-E340-7B86-79B9-038D63723B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566159" y="1225296"/>
            <a:ext cx="1554480" cy="18288"/>
          </a:xfrm>
          <a:custGeom>
            <a:avLst/>
            <a:gdLst>
              <a:gd name="csX0" fmla="*/ 0 w 1554480"/>
              <a:gd name="csY0" fmla="*/ 0 h 18288"/>
              <a:gd name="csX1" fmla="*/ 549250 w 1554480"/>
              <a:gd name="csY1" fmla="*/ 0 h 18288"/>
              <a:gd name="csX2" fmla="*/ 1082954 w 1554480"/>
              <a:gd name="csY2" fmla="*/ 0 h 18288"/>
              <a:gd name="csX3" fmla="*/ 1554480 w 1554480"/>
              <a:gd name="csY3" fmla="*/ 0 h 18288"/>
              <a:gd name="csX4" fmla="*/ 1554480 w 1554480"/>
              <a:gd name="csY4" fmla="*/ 18288 h 18288"/>
              <a:gd name="csX5" fmla="*/ 1067410 w 1554480"/>
              <a:gd name="csY5" fmla="*/ 18288 h 18288"/>
              <a:gd name="csX6" fmla="*/ 549250 w 1554480"/>
              <a:gd name="csY6" fmla="*/ 18288 h 18288"/>
              <a:gd name="csX7" fmla="*/ 0 w 1554480"/>
              <a:gd name="csY7" fmla="*/ 18288 h 18288"/>
              <a:gd name="csX8" fmla="*/ 0 w 1554480"/>
              <a:gd name="csY8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554480" h="18288" fill="none" extrusionOk="0">
                <a:moveTo>
                  <a:pt x="0" y="0"/>
                </a:moveTo>
                <a:cubicBezTo>
                  <a:pt x="114141" y="-19864"/>
                  <a:pt x="345055" y="-1657"/>
                  <a:pt x="549250" y="0"/>
                </a:cubicBezTo>
                <a:cubicBezTo>
                  <a:pt x="753445" y="1657"/>
                  <a:pt x="862292" y="-5674"/>
                  <a:pt x="1082954" y="0"/>
                </a:cubicBezTo>
                <a:cubicBezTo>
                  <a:pt x="1303616" y="5674"/>
                  <a:pt x="1363530" y="4537"/>
                  <a:pt x="1554480" y="0"/>
                </a:cubicBezTo>
                <a:cubicBezTo>
                  <a:pt x="1554963" y="7176"/>
                  <a:pt x="1553909" y="13682"/>
                  <a:pt x="1554480" y="18288"/>
                </a:cubicBezTo>
                <a:cubicBezTo>
                  <a:pt x="1338847" y="6127"/>
                  <a:pt x="1215066" y="37851"/>
                  <a:pt x="1067410" y="18288"/>
                </a:cubicBezTo>
                <a:cubicBezTo>
                  <a:pt x="919754" y="-1275"/>
                  <a:pt x="800465" y="3080"/>
                  <a:pt x="549250" y="18288"/>
                </a:cubicBezTo>
                <a:cubicBezTo>
                  <a:pt x="298035" y="33496"/>
                  <a:pt x="158868" y="22769"/>
                  <a:pt x="0" y="18288"/>
                </a:cubicBezTo>
                <a:cubicBezTo>
                  <a:pt x="-655" y="13237"/>
                  <a:pt x="709" y="4645"/>
                  <a:pt x="0" y="0"/>
                </a:cubicBezTo>
                <a:close/>
              </a:path>
              <a:path w="1554480" h="18288" stroke="0" extrusionOk="0">
                <a:moveTo>
                  <a:pt x="0" y="0"/>
                </a:moveTo>
                <a:cubicBezTo>
                  <a:pt x="249941" y="-58"/>
                  <a:pt x="367334" y="23448"/>
                  <a:pt x="502615" y="0"/>
                </a:cubicBezTo>
                <a:cubicBezTo>
                  <a:pt x="637897" y="-23448"/>
                  <a:pt x="813653" y="-20418"/>
                  <a:pt x="974141" y="0"/>
                </a:cubicBezTo>
                <a:cubicBezTo>
                  <a:pt x="1134629" y="20418"/>
                  <a:pt x="1268772" y="6288"/>
                  <a:pt x="1554480" y="0"/>
                </a:cubicBezTo>
                <a:cubicBezTo>
                  <a:pt x="1554917" y="7222"/>
                  <a:pt x="1555359" y="13299"/>
                  <a:pt x="1554480" y="18288"/>
                </a:cubicBezTo>
                <a:cubicBezTo>
                  <a:pt x="1336087" y="12172"/>
                  <a:pt x="1310024" y="19759"/>
                  <a:pt x="1067410" y="18288"/>
                </a:cubicBezTo>
                <a:cubicBezTo>
                  <a:pt x="824796" y="16818"/>
                  <a:pt x="787902" y="34647"/>
                  <a:pt x="518160" y="18288"/>
                </a:cubicBezTo>
                <a:cubicBezTo>
                  <a:pt x="248418" y="1930"/>
                  <a:pt x="133160" y="9205"/>
                  <a:pt x="0" y="18288"/>
                </a:cubicBezTo>
                <a:cubicBezTo>
                  <a:pt x="-643" y="9451"/>
                  <a:pt x="-340" y="7114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0" name="Pladsholder til indhold 9">
            <a:extLst>
              <a:ext uri="{FF2B5EF4-FFF2-40B4-BE49-F238E27FC236}">
                <a16:creationId xmlns:a16="http://schemas.microsoft.com/office/drawing/2014/main" id="{B29B0B22-D135-B406-1B4D-C5DD494FF266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654551" y="748617"/>
          <a:ext cx="6479112" cy="97132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479112">
                  <a:extLst>
                    <a:ext uri="{9D8B030D-6E8A-4147-A177-3AD203B41FA5}">
                      <a16:colId xmlns:a16="http://schemas.microsoft.com/office/drawing/2014/main" val="2511380987"/>
                    </a:ext>
                  </a:extLst>
                </a:gridCol>
              </a:tblGrid>
              <a:tr h="2398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 sz="1200" baseline="30000">
                          <a:effectLst/>
                        </a:rPr>
                        <a:t>a</a:t>
                      </a:r>
                      <a:r>
                        <a:rPr lang="da-DK" sz="1200">
                          <a:effectLst/>
                        </a:rPr>
                        <a:t> n: Antal borgere som indgår i analysen.</a:t>
                      </a:r>
                      <a:endParaRPr lang="da-DK" sz="1200"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9952" marR="59952" marT="29976" marB="29976" anchor="ctr"/>
                </a:tc>
                <a:extLst>
                  <a:ext uri="{0D108BD9-81ED-4DB2-BD59-A6C34878D82A}">
                    <a16:rowId xmlns:a16="http://schemas.microsoft.com/office/drawing/2014/main" val="3071470582"/>
                  </a:ext>
                </a:extLst>
              </a:tr>
              <a:tr h="2398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 sz="1200" baseline="30000">
                          <a:effectLst/>
                        </a:rPr>
                        <a:t>b</a:t>
                      </a:r>
                      <a:r>
                        <a:rPr lang="da-DK" sz="1200">
                          <a:effectLst/>
                        </a:rPr>
                        <a:t> P: P-værdi &lt;0,05 indikerer at ændringen er signifikant (ikke skyldes tilfældighed).</a:t>
                      </a:r>
                      <a:endParaRPr lang="da-DK" sz="1200"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9952" marR="59952" marT="29976" marB="29976" anchor="ctr"/>
                </a:tc>
                <a:extLst>
                  <a:ext uri="{0D108BD9-81ED-4DB2-BD59-A6C34878D82A}">
                    <a16:rowId xmlns:a16="http://schemas.microsoft.com/office/drawing/2014/main" val="2734482386"/>
                  </a:ext>
                </a:extLst>
              </a:tr>
              <a:tr h="2398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 sz="1200" baseline="30000">
                          <a:effectLst/>
                        </a:rPr>
                        <a:t>c</a:t>
                      </a:r>
                      <a:r>
                        <a:rPr lang="da-DK" sz="1200">
                          <a:effectLst/>
                        </a:rPr>
                        <a:t> PCD-5: 5-item skala, der måler oplevet kompetence i håndtering af diabetes.</a:t>
                      </a:r>
                      <a:endParaRPr lang="da-DK" sz="1200"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9952" marR="59952" marT="29976" marB="29976" anchor="ctr"/>
                </a:tc>
                <a:extLst>
                  <a:ext uri="{0D108BD9-81ED-4DB2-BD59-A6C34878D82A}">
                    <a16:rowId xmlns:a16="http://schemas.microsoft.com/office/drawing/2014/main" val="3101065252"/>
                  </a:ext>
                </a:extLst>
              </a:tr>
              <a:tr h="2398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 sz="1200" baseline="30000" dirty="0">
                          <a:effectLst/>
                        </a:rPr>
                        <a:t>d</a:t>
                      </a:r>
                      <a:r>
                        <a:rPr lang="da-DK" sz="1200" dirty="0">
                          <a:effectLst/>
                        </a:rPr>
                        <a:t> PAID-20: 20-item skala, der måler følelsesmæssig belastning relateret til at leve med diabetes.</a:t>
                      </a:r>
                      <a:endParaRPr lang="da-DK" sz="1200" dirty="0"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9952" marR="59952" marT="29976" marB="29976" anchor="ctr"/>
                </a:tc>
                <a:extLst>
                  <a:ext uri="{0D108BD9-81ED-4DB2-BD59-A6C34878D82A}">
                    <a16:rowId xmlns:a16="http://schemas.microsoft.com/office/drawing/2014/main" val="1919448588"/>
                  </a:ext>
                </a:extLst>
              </a:tr>
            </a:tbl>
          </a:graphicData>
        </a:graphic>
      </p:graphicFrame>
      <p:pic>
        <p:nvPicPr>
          <p:cNvPr id="4" name="Billede 3">
            <a:extLst>
              <a:ext uri="{FF2B5EF4-FFF2-40B4-BE49-F238E27FC236}">
                <a16:creationId xmlns:a16="http://schemas.microsoft.com/office/drawing/2014/main" id="{69DC3197-6812-B0B1-D5F1-C7D6F6BA18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6581" y="2124036"/>
            <a:ext cx="9822675" cy="38378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37990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88263A24-0C1F-4677-B43C-4AE14E276B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0ADDB668-2CA4-4D2B-9C34-3487CA330B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1553" y="304802"/>
            <a:ext cx="11097349" cy="1573149"/>
          </a:xfrm>
          <a:prstGeom prst="rect">
            <a:avLst/>
          </a:prstGeom>
          <a:ln w="12700">
            <a:solidFill>
              <a:srgbClr val="DEDEDE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65804710-76A7-7C7E-4A63-CF24F3AE91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8680" y="405575"/>
            <a:ext cx="2193116" cy="13716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600" dirty="0"/>
              <a:t>Kontrol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568BC19-F052-4108-93E1-6A3D1DEC07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4784" y="764424"/>
            <a:ext cx="128016" cy="65390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5FD337D-4D6B-4C8B-B6F5-121097E098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586984" y="1071836"/>
            <a:ext cx="1021458" cy="9144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Billede 4">
            <a:extLst>
              <a:ext uri="{FF2B5EF4-FFF2-40B4-BE49-F238E27FC236}">
                <a16:creationId xmlns:a16="http://schemas.microsoft.com/office/drawing/2014/main" id="{53F17FAA-5BEF-7BE3-FD29-D1AB04C4DC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6414" y="1892776"/>
            <a:ext cx="3704601" cy="4587742"/>
          </a:xfrm>
          <a:prstGeom prst="rect">
            <a:avLst/>
          </a:prstGeom>
        </p:spPr>
      </p:pic>
      <p:pic>
        <p:nvPicPr>
          <p:cNvPr id="7" name="Billede 6">
            <a:extLst>
              <a:ext uri="{FF2B5EF4-FFF2-40B4-BE49-F238E27FC236}">
                <a16:creationId xmlns:a16="http://schemas.microsoft.com/office/drawing/2014/main" id="{E730BB50-73EC-68E4-5BFD-6BE4BB04CC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52251" y="1892776"/>
            <a:ext cx="3953172" cy="4596714"/>
          </a:xfrm>
          <a:prstGeom prst="rect">
            <a:avLst/>
          </a:prstGeom>
        </p:spPr>
      </p:pic>
      <p:sp>
        <p:nvSpPr>
          <p:cNvPr id="8" name="Titel 1">
            <a:extLst>
              <a:ext uri="{FF2B5EF4-FFF2-40B4-BE49-F238E27FC236}">
                <a16:creationId xmlns:a16="http://schemas.microsoft.com/office/drawing/2014/main" id="{E9CBC77E-D7DC-D981-EB7D-199A6E488302}"/>
              </a:ext>
            </a:extLst>
          </p:cNvPr>
          <p:cNvSpPr txBox="1">
            <a:spLocks/>
          </p:cNvSpPr>
          <p:nvPr/>
        </p:nvSpPr>
        <p:spPr>
          <a:xfrm>
            <a:off x="6258790" y="412989"/>
            <a:ext cx="2779331" cy="1371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dirty="0"/>
              <a:t>Intervention</a:t>
            </a:r>
          </a:p>
        </p:txBody>
      </p:sp>
    </p:spTree>
    <p:extLst>
      <p:ext uri="{BB962C8B-B14F-4D97-AF65-F5344CB8AC3E}">
        <p14:creationId xmlns:p14="http://schemas.microsoft.com/office/powerpoint/2010/main" val="5360137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ladsholder til indhold 4">
            <a:extLst>
              <a:ext uri="{FF2B5EF4-FFF2-40B4-BE49-F238E27FC236}">
                <a16:creationId xmlns:a16="http://schemas.microsoft.com/office/drawing/2014/main" id="{5B3A1CE7-09BA-FA82-E0B2-F9E687EB339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645342" y="413887"/>
            <a:ext cx="6829236" cy="58560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00697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45D6BE0-7846-9F7E-0096-DD17879EFD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own Arrow 7">
            <a:extLst>
              <a:ext uri="{FF2B5EF4-FFF2-40B4-BE49-F238E27FC236}">
                <a16:creationId xmlns:a16="http://schemas.microsoft.com/office/drawing/2014/main" id="{67906C1E-E6ED-2A5F-263C-1F453D4141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ladsholder til indhold 5">
            <a:extLst>
              <a:ext uri="{FF2B5EF4-FFF2-40B4-BE49-F238E27FC236}">
                <a16:creationId xmlns:a16="http://schemas.microsoft.com/office/drawing/2014/main" id="{F4391ACD-FE8F-4684-9CA1-20473F89B90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679811" y="412051"/>
            <a:ext cx="6706875" cy="59566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80796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277</Words>
  <Application>Microsoft Office PowerPoint</Application>
  <PresentationFormat>Widescreen</PresentationFormat>
  <Paragraphs>34</Paragraphs>
  <Slides>12</Slides>
  <Notes>0</Notes>
  <HiddenSlides>0</HiddenSlides>
  <MMClips>0</MMClips>
  <ScaleCrop>false</ScaleCrop>
  <HeadingPairs>
    <vt:vector size="6" baseType="variant">
      <vt:variant>
        <vt:lpstr>Benyttede skrifttyper</vt:lpstr>
      </vt:variant>
      <vt:variant>
        <vt:i4>5</vt:i4>
      </vt:variant>
      <vt:variant>
        <vt:lpstr>Tema</vt:lpstr>
      </vt:variant>
      <vt:variant>
        <vt:i4>1</vt:i4>
      </vt:variant>
      <vt:variant>
        <vt:lpstr>Slidetitler</vt:lpstr>
      </vt:variant>
      <vt:variant>
        <vt:i4>12</vt:i4>
      </vt:variant>
    </vt:vector>
  </HeadingPairs>
  <TitlesOfParts>
    <vt:vector size="18" baseType="lpstr">
      <vt:lpstr>Aptos</vt:lpstr>
      <vt:lpstr>Aptos Display</vt:lpstr>
      <vt:lpstr>Arial</vt:lpstr>
      <vt:lpstr>Calibri</vt:lpstr>
      <vt:lpstr>Times New Roman</vt:lpstr>
      <vt:lpstr>Office-tema</vt:lpstr>
      <vt:lpstr>LIVING</vt:lpstr>
      <vt:lpstr>PowerPoint-præsentation</vt:lpstr>
      <vt:lpstr>En lynundervisning i statistik</vt:lpstr>
      <vt:lpstr>En lynundervisning i statistik</vt:lpstr>
      <vt:lpstr>En lynundervisning i statistik</vt:lpstr>
      <vt:lpstr>Kontrol</vt:lpstr>
      <vt:lpstr>Intervention</vt:lpstr>
      <vt:lpstr>Kontrol</vt:lpstr>
      <vt:lpstr>Intervention</vt:lpstr>
      <vt:lpstr>Kontrol</vt:lpstr>
      <vt:lpstr>PowerPoint-præsentation</vt:lpstr>
      <vt:lpstr>PowerPoint-præsentation</vt:lpstr>
    </vt:vector>
  </TitlesOfParts>
  <Company>Region Midtjylland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Jonas Munk Jensen</dc:creator>
  <cp:lastModifiedBy>Jonas Munk Jensen</cp:lastModifiedBy>
  <cp:revision>4</cp:revision>
  <dcterms:created xsi:type="dcterms:W3CDTF">2026-09-16T12:05:19Z</dcterms:created>
  <dcterms:modified xsi:type="dcterms:W3CDTF">2026-09-16T12:59:28Z</dcterms:modified>
</cp:coreProperties>
</file>