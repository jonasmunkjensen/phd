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bin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19"/>
  </p:notesMasterIdLst>
  <p:handoutMasterIdLst>
    <p:handoutMasterId r:id="rId20"/>
  </p:handoutMasterIdLst>
  <p:sldIdLst>
    <p:sldId id="261" r:id="rId14"/>
    <p:sldId id="262" r:id="rId17"/>
    <p:sldId id="263" r:id="rId16"/>
    <p:sldId id="264" r:id="rId15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60" r:id="rId18"/>
    <p:sldId id="275" r:id="rId45"/>
    <p:sldId id="276" r:id="rId46"/>
  </p:sldIdLst>
  <p:sldSz cx="12188825" cy="6858000"/>
  <p:notesSz cx="6797675" cy="9926638"/>
  <p:embeddedFontLst>
    <p:embeddedFont>
      <p:font typeface="AU Passata" panose="020B0604020202020204" charset="0"/>
      <p:regular r:id="rId21"/>
      <p:bold r:id="rId22"/>
    </p:embeddedFont>
    <p:embeddedFont>
      <p:font typeface="AU Passata Light" panose="020B0604020202020204" charset="0"/>
      <p:regular r:id="rId23"/>
      <p:bold r:id="rId24"/>
    </p:embeddedFont>
    <p:embeddedFont>
      <p:font typeface="AU Peto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3457" autoAdjust="0"/>
  </p:normalViewPr>
  <p:slideViewPr>
    <p:cSldViewPr snapToObjects="1" showGuides="1">
      <p:cViewPr varScale="1">
        <p:scale>
          <a:sx n="93" d="100"/>
          <a:sy n="93" d="100"/>
        </p:scale>
        <p:origin x="156" y="6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font" Target="fonts/font10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6.xml"/><Relationship Id="rId46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 intro til de nye ansigter: hvem jeg er, og at jeg er fysioterapeut og har været i gruppen siden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Paradokset: Træning virker, men folk stopper. Kommunerne leverer støtten, reformen vil standardisere den – uden effekt- eller brugerdata. Det er hullet, projektet sætter sig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slide, folk skal huske. Effekt, engagement og rækkevidde – tre sider af samme spørgsmål. Et tilbud kan godt virke i en RCT og stadig kun nå de ressourcestærke.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HIIT: 2 x 1 time om ugen i 8 uger, 5 x 1 min intervaller, Borg 14-16, overkrop og underkrop skifter. Målinger ved baseline, 3 og 5 mdr. 32 pr. gruppe. Dataindsamling er afsluttet, og SDU har behandlet accelerometerdata.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Kvalitativt studie i Syddjurs, hvor HIIT er valgfrit. Baseline- og endpoint-interviews er gennemført. 1-års opfølgning ligger knap et år ude. Dagbogen bruges som udgangspunkt for næste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Første artikel. Fire delspørgsmål: kortlægning, frafaldsanalyse, faktorer forbundet med tilbud/udækket behov/optag, og illustrative patientprofiler. Afgrænset til træningstilbud i ph.d.'en. Analyseplan på OSF.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ser I, hvordan de syv svarmuligheder bliver til de tre outcomes. Bemærk at 'ikke relevant' tæller som intet behov – det tester vi i en sensitivitetsanalyse. På næste slide samler jeg det i tre 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Foreløbige, uvægtede tal for træningstilbud. Ca. hver femte er blevet tilbudt træning, og 85 % af dem tog imod. Men lige så mange uden tilbud siger, at de gerne ville have haft det – det udækkede behov er på størrelse med det dækkede. Sensitivitetsanalyse uden 'ikke relevant': tilbud 25 % (832/3.368), udækket behov 34 % (843/2.492). Vægtede tal kommer.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RCT-analysen venter, til artikel 3 er skrevet. Interview 3 ligger knap et år 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Overgang: Jeg var til en kollegas kvantitative ph.d.-forsvar, hvor bedømmeren brugte meget tid på forskerens ståsted. Det vil jeg gerne have jeres hjælp 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 denne slide stå under hele diskussionen.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1dc3dcb3760a42a1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bin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6478afed5c194fe0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690ae09b585c418d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38be9b53-9de0-44b0-a00b-077370be019e&quot;}}" hidden="0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eca7e6c2-9fac-41e9-97ea-75511aef87c1&quot;}}" hidden="0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548de48a-e662-4c4f-82fc-973d86f9efca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 descr="{&quot;templafy&quot;:{&quot;id&quot;:&quot;903b0747-68cf-4d5a-8ebc-08ef672c62e9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92324256" name="SecondaryLogo" descr="{&quot;templafy&quot;:{&quot;id&quot;:&quot;aa5fc7f4-78c3-4e78-a089-695b582cd45c&quot;}}" hidden="0"/>
          <p:cNvPicPr>
            <a:picLocks noChangeAspect="1"/>
          </p:cNvPicPr>
          <p:nvPr/>
        </p:nvPicPr>
        <p:blipFill>
          <a:blip r:embed="R1dc3dcb3760a42a1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8b49d2b1-c3bc-411b-839c-25b3891777ec&quot;}}" hidden="0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9" name="OFF_logo1Computed" descr="{&quot;templafy&quot;:{&quot;id&quot;:&quot;a0ce3d28-5032-41f8-9489-10dd24398e3a&quot;}}" hidden="0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cc3b9b98-0917-47f4-a08f-26e303573e24&quot;}}" hidden="0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LD_Event" descr="{&quot;templafy&quot;:{&quot;id&quot;:&quot;5e16aedd-f012-4740-a329-2c573fbd071c&quot;}}" hidden="0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96dd8084-0008-4364-bff7-aae0894015a6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64634556" name="SecondaryLogo" descr="{&quot;templafy&quot;:{&quot;id&quot;:&quot;19a45456-0d4b-46f2-9388-7b520e82ac71&quot;}}" hidden="0"/>
          <p:cNvPicPr>
            <a:picLocks noChangeAspect="1"/>
          </p:cNvPicPr>
          <p:nvPr/>
        </p:nvPicPr>
        <p:blipFill>
          <a:blip r:embed="R6478afed5c194fe0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9264c2c4-f2d0-4103-a3b0-b92433774dc0&quot;}}" hidden="0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0" name="OFF_logo1Computed" descr="{&quot;templafy&quot;:{&quot;id&quot;:&quot;2666298a-86fc-444a-a874-e54959ce963a&quot;}}" hidden="0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744a8eec-4438-4ba0-b8cd-a8b53fa79a06&quot;}}" hidden="0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f56a434a-b296-4262-b95a-9e2d19b04c04&quot;}}" hidden="0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3359371" name="SecondaryLogo" descr="{&quot;templafy&quot;:{&quot;id&quot;:&quot;ce7e81c4-d804-4e6e-9263-0cd765577e3e&quot;}}" hidden="0"/>
          <p:cNvPicPr>
            <a:picLocks noChangeAspect="1"/>
          </p:cNvPicPr>
          <p:nvPr/>
        </p:nvPicPr>
        <p:blipFill>
          <a:blip r:embed="R690ae09b585c418d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13178164-8b4f-4084-8234-38382dc64659&quot;}}" hidden="0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2" name="OFF_logo1Computed" descr="{&quot;templafy&quot;:{&quot;id&quot;:&quot;cc29e3fc-216d-432e-86ae-a466dc2072eb&quot;}}" hidden="0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9bb828f5-7482-40d7-ad46-6e3527f3bd5b&quot;}}" hidden="0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4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3898f50333274aff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Relationship Id="rId23" Type="http://schemas.openxmlformats.org/officeDocument/2006/relationships/image" Target="../media/image2.emf"/></Relationships>
</file>

<file path=ppt/slideMasters/slideMaster1.xml><?xml version="1.0" encoding="utf-8"?>
<p:sldMaster xmlns:a14="http://schemas.microsoft.com/office/drawing/2010/main"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4266a319-bec5-4f76-bfdb-a7e8192fc87c&quot;}}" hidden="0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LD_Event" descr="{&quot;templafy&quot;:{&quot;id&quot;:&quot;92097323-fdbd-43b7-971e-daf4f1a8fe50&quot;}}" hidden="0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1c64a085-4b20-41b7-ad53-2f09d711fb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 descr="{&quot;templafy&quot;:{&quot;id&quot;:&quot;2fb113d0-5299-4d5a-ae6b-ad829a4149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02589636" name="SecondaryLogo_sort" descr="{&quot;templafy&quot;:{&quot;id&quot;:&quot;93df9841-657b-467a-b8af-c88060745be5&quot;}}" hidden="0"/>
          <p:cNvPicPr>
            <a:picLocks noChangeAspect="1"/>
          </p:cNvPicPr>
          <p:nvPr/>
        </p:nvPicPr>
        <p:blipFill>
          <a:blip r:embed="R3898f50333274aff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2c097b51-3bbd-4c97-930f-0f2b85bbad8d&quot;}}" hidden="0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 descr="{&quot;templafy&quot;:{&quot;id&quot;:&quot;7f75a427-bd16-4550-9026-49c22ec1ab35&quot;}}" hidden="0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0.xml"/><Relationship Id="rId2" Type="http://schemas.openxmlformats.org/officeDocument/2006/relationships/customXml" Target="../../customXml/item12.xml"/><Relationship Id="rId3" Type="http://schemas.openxmlformats.org/officeDocument/2006/relationships/tags" Target="../tags/tag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2.xml"/><Relationship Id="rId2" Type="http://schemas.openxmlformats.org/officeDocument/2006/relationships/customXml" Target="../../customXml/item7.xml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r>
              <a:t>Virker det, vil folk det – og når vi de rigtige?</a:t>
            </a:r>
          </a:p>
          <a:p>
            <a:r>
              <a:rPr sz="2000" b="0"/>
              <a:t>Træning i den kommunale diabetesindsats · status på min ph.d.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Træning virker – men folk stopper</a:t>
            </a:r>
          </a:p>
        </p:txBody>
      </p:sp>
      <p:sp>
        <p:nvSpPr>
          <p:cNvPr id="3" name="Stat 1"/>
          <p:cNvSpPr/>
          <p:nvPr/>
        </p:nvSpPr>
        <p:spPr>
          <a:xfrm>
            <a:off x="68580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tat tal 1"/>
          <p:cNvSpPr txBox="1"/>
          <p:nvPr/>
        </p:nvSpPr>
        <p:spPr>
          <a:xfrm>
            <a:off x="96012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348.000</a:t>
            </a:r>
          </a:p>
        </p:txBody>
      </p:sp>
      <p:sp>
        <p:nvSpPr>
          <p:cNvPr id="5" name="Stat tekst 1"/>
          <p:cNvSpPr txBox="1"/>
          <p:nvPr/>
        </p:nvSpPr>
        <p:spPr>
          <a:xfrm>
            <a:off x="96012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danskere lever med type 2-diabetes (2025) – og tallet stiger</a:t>
            </a:r>
          </a:p>
        </p:txBody>
      </p:sp>
      <p:sp>
        <p:nvSpPr>
          <p:cNvPr id="6" name="Stat 2"/>
          <p:cNvSpPr/>
          <p:nvPr/>
        </p:nvSpPr>
        <p:spPr>
          <a:xfrm>
            <a:off x="438912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 tal 2"/>
          <p:cNvSpPr txBox="1"/>
          <p:nvPr/>
        </p:nvSpPr>
        <p:spPr>
          <a:xfrm>
            <a:off x="466344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~6 mdr.</a:t>
            </a:r>
          </a:p>
        </p:txBody>
      </p:sp>
      <p:sp>
        <p:nvSpPr>
          <p:cNvPr id="8" name="Stat tekst 2"/>
          <p:cNvSpPr txBox="1"/>
          <p:nvPr/>
        </p:nvSpPr>
        <p:spPr>
          <a:xfrm>
            <a:off x="466344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efter et træningsforløb er effekten ofte væk igen – fordi folk stopper</a:t>
            </a:r>
          </a:p>
        </p:txBody>
      </p:sp>
      <p:sp>
        <p:nvSpPr>
          <p:cNvPr id="9" name="Stat 3"/>
          <p:cNvSpPr/>
          <p:nvPr/>
        </p:nvSpPr>
        <p:spPr>
          <a:xfrm>
            <a:off x="809244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at tal 3"/>
          <p:cNvSpPr txBox="1"/>
          <p:nvPr/>
        </p:nvSpPr>
        <p:spPr>
          <a:xfrm>
            <a:off x="836676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0</a:t>
            </a:r>
          </a:p>
        </p:txBody>
      </p:sp>
      <p:sp>
        <p:nvSpPr>
          <p:cNvPr id="11" name="Stat tekst 3"/>
          <p:cNvSpPr txBox="1"/>
          <p:nvPr/>
        </p:nvSpPr>
        <p:spPr>
          <a:xfrm>
            <a:off x="836676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registre over, hvem der bruger de kommunale tilbud</a:t>
            </a:r>
          </a:p>
        </p:txBody>
      </p:sp>
      <p:sp>
        <p:nvSpPr>
          <p:cNvPr id="12" name="Reform"/>
          <p:cNvSpPr/>
          <p:nvPr/>
        </p:nvSpPr>
        <p:spPr>
          <a:xfrm>
            <a:off x="685800" y="4069080"/>
            <a:ext cx="10835640" cy="16916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Sundhedsreformen og den nationale kvalitetsplan </a:t>
            </a:r>
            <a:r>
              <a:rPr sz="1800" b="0" i="0">
                <a:solidFill>
                  <a:srgbClr val="FFFFFF"/>
                </a:solidFill>
              </a:rPr>
              <a:t>skal gøre de kommunale diabetestilbud mere ens.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7D1F4"/>
                </a:solidFill>
              </a:rPr>
              <a:t>Men der mangler viden om, hvad der virker, hvad borgerne vil, og hvem tilbuddene når ud til.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spørgsmål, tre studier</a:t>
            </a:r>
          </a:p>
        </p:txBody>
      </p:sp>
      <p:sp>
        <p:nvSpPr>
          <p:cNvPr id="3" name="Formål"/>
          <p:cNvSpPr/>
          <p:nvPr/>
        </p:nvSpPr>
        <p:spPr>
          <a:xfrm>
            <a:off x="685800" y="1371600"/>
            <a:ext cx="10835640" cy="4572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003E5C"/>
                </a:solidFill>
              </a:rPr>
              <a:t>Formål: at give et bedre grundlag for, hvordan træning skal indgå i den kommunale diabetesindsats</a:t>
            </a:r>
          </a:p>
        </p:txBody>
      </p:sp>
      <p:sp>
        <p:nvSpPr>
          <p:cNvPr id="4" name="Spørgsmål 1"/>
          <p:cNvSpPr/>
          <p:nvPr/>
        </p:nvSpPr>
        <p:spPr>
          <a:xfrm>
            <a:off x="68580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Virker det?</a:t>
            </a:r>
          </a:p>
        </p:txBody>
      </p:sp>
      <p:sp>
        <p:nvSpPr>
          <p:cNvPr id="5" name="Studie 1"/>
          <p:cNvSpPr/>
          <p:nvPr/>
        </p:nvSpPr>
        <p:spPr>
          <a:xfrm>
            <a:off x="68580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Lev Livet med og uden HIIT – effekt på fysisk aktivitet og risikofaktorer</a:t>
            </a:r>
          </a:p>
        </p:txBody>
      </p:sp>
      <p:sp>
        <p:nvSpPr>
          <p:cNvPr id="6" name="Spørgsmål 2"/>
          <p:cNvSpPr/>
          <p:nvPr/>
        </p:nvSpPr>
        <p:spPr>
          <a:xfrm>
            <a:off x="438912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Vil folk det?</a:t>
            </a:r>
          </a:p>
        </p:txBody>
      </p:sp>
      <p:sp>
        <p:nvSpPr>
          <p:cNvPr id="7" name="Studie 2"/>
          <p:cNvSpPr/>
          <p:nvPr/>
        </p:nvSpPr>
        <p:spPr>
          <a:xfrm>
            <a:off x="438912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 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Hvad afgør, om man vælger HIIT til – og møder op gang på gang?</a:t>
            </a:r>
          </a:p>
        </p:txBody>
      </p:sp>
      <p:sp>
        <p:nvSpPr>
          <p:cNvPr id="8" name="Spørgsmål 3"/>
          <p:cNvSpPr/>
          <p:nvPr/>
        </p:nvSpPr>
        <p:spPr>
          <a:xfrm>
            <a:off x="809244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Når vi de rigtige?</a:t>
            </a:r>
          </a:p>
        </p:txBody>
      </p:sp>
      <p:sp>
        <p:nvSpPr>
          <p:cNvPr id="9" name="Studie 3"/>
          <p:cNvSpPr/>
          <p:nvPr/>
        </p:nvSpPr>
        <p:spPr>
          <a:xfrm>
            <a:off x="809244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Hvem bliver tilbudt et kommunalt træningstilbud, og hvem tager imod det?</a:t>
            </a:r>
          </a:p>
        </p:txBody>
      </p:sp>
      <p:sp>
        <p:nvSpPr>
          <p:cNvPr id="10" name="Fundament LIVING"/>
          <p:cNvSpPr/>
          <p:nvPr/>
        </p:nvSpPr>
        <p:spPr>
          <a:xfrm>
            <a:off x="685800" y="4983480"/>
            <a:ext cx="713232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LIVING</a:t>
            </a:r>
            <a:r>
              <a:rPr sz="1600" b="0" i="0">
                <a:solidFill>
                  <a:srgbClr val="003E5C"/>
                </a:solidFill>
              </a:rPr>
              <a:t> – pragmatisk RCT i kommunale sundhedscentre</a:t>
            </a:r>
          </a:p>
        </p:txBody>
      </p:sp>
      <p:sp>
        <p:nvSpPr>
          <p:cNvPr id="11" name="Fundament HICD"/>
          <p:cNvSpPr/>
          <p:nvPr/>
        </p:nvSpPr>
        <p:spPr>
          <a:xfrm>
            <a:off x="8092440" y="498348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Helbred i Midt</a:t>
            </a:r>
            <a:r>
              <a:rPr sz="1600" b="0" i="0">
                <a:solidFill>
                  <a:srgbClr val="003E5C"/>
                </a:solidFill>
              </a:rPr>
              <a:t> + Danmarks Statistik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1 · Virker det?</a:t>
            </a:r>
          </a:p>
        </p:txBody>
      </p:sp>
      <p:sp>
        <p:nvSpPr>
          <p:cNvPr id="3" name="Deltagere"/>
          <p:cNvSpPr/>
          <p:nvPr/>
        </p:nvSpPr>
        <p:spPr>
          <a:xfrm>
            <a:off x="685800" y="14630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Borgere med type 2-diabetes</a:t>
            </a:r>
          </a:p>
        </p:txBody>
      </p:sp>
      <p:sp>
        <p:nvSpPr>
          <p:cNvPr id="4" name="Randomisering"/>
          <p:cNvSpPr/>
          <p:nvPr/>
        </p:nvSpPr>
        <p:spPr>
          <a:xfrm>
            <a:off x="68580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Randomisering 2:1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7D1F4"/>
                </a:solidFill>
              </a:rPr>
              <a:t>inden for kommunen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83080" y="2377440"/>
            <a:ext cx="0" cy="41148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L"/>
          <p:cNvSpPr/>
          <p:nvPr/>
        </p:nvSpPr>
        <p:spPr>
          <a:xfrm>
            <a:off x="3429000" y="1463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Lev Livet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9 gruppesessioner</a:t>
            </a:r>
          </a:p>
        </p:txBody>
      </p:sp>
      <p:sp>
        <p:nvSpPr>
          <p:cNvPr id="7" name="LLH"/>
          <p:cNvSpPr/>
          <p:nvPr/>
        </p:nvSpPr>
        <p:spPr>
          <a:xfrm>
            <a:off x="3429000" y="2606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Lev Livet + HIIT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+ 16 superviserede træninger</a:t>
            </a:r>
          </a:p>
        </p:txBody>
      </p:sp>
      <p:sp>
        <p:nvSpPr>
          <p:cNvPr id="8" name="Kontrol"/>
          <p:cNvSpPr/>
          <p:nvPr/>
        </p:nvSpPr>
        <p:spPr>
          <a:xfrm>
            <a:off x="3429000" y="3749039"/>
            <a:ext cx="3200400" cy="822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548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Venteliste (kontrol)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1938528"/>
            <a:ext cx="548640" cy="1307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0360" y="3081528"/>
            <a:ext cx="548640" cy="164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246120"/>
            <a:ext cx="548640" cy="9144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te kommune"/>
          <p:cNvSpPr txBox="1"/>
          <p:nvPr/>
        </p:nvSpPr>
        <p:spPr>
          <a:xfrm>
            <a:off x="3429000" y="4754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B83"/>
                </a:solidFill>
              </a:rPr>
              <a:t>Hver kommune tilbyder enten Lev Livet eller Lev Livet + HIIT</a:t>
            </a:r>
          </a:p>
        </p:txBody>
      </p:sp>
      <p:sp>
        <p:nvSpPr>
          <p:cNvPr id="13" name="Primært outcome"/>
          <p:cNvSpPr/>
          <p:nvPr/>
        </p:nvSpPr>
        <p:spPr>
          <a:xfrm>
            <a:off x="7086600" y="1463040"/>
            <a:ext cx="4434840" cy="21031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7D1F4"/>
                </a:solidFill>
              </a:rPr>
              <a:t>Primært outcome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Tid i moderat til hård fysisk aktivitet (MVPA)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Accelerometer på låret, 7 døgn – det folk gør, ikke det de svarer</a:t>
            </a:r>
          </a:p>
        </p:txBody>
      </p:sp>
      <p:sp>
        <p:nvSpPr>
          <p:cNvPr id="14" name="Sekundære"/>
          <p:cNvSpPr/>
          <p:nvPr/>
        </p:nvSpPr>
        <p:spPr>
          <a:xfrm>
            <a:off x="7086600" y="3611880"/>
            <a:ext cx="44348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Sekundære outcomes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3E5C"/>
                </a:solidFill>
              </a:rPr>
              <a:t>Aktivitetstyper (sidde, gå, cykle …), HbA1c, blodtryk, kropssammensætning, rejse-sætte-sig-test, 6-min gangtest</a:t>
            </a:r>
          </a:p>
        </p:txBody>
      </p:sp>
      <p:sp>
        <p:nvSpPr>
          <p:cNvPr id="15" name="Pointe"/>
          <p:cNvSpPr txBox="1"/>
          <p:nvPr/>
        </p:nvSpPr>
        <p:spPr>
          <a:xfrm>
            <a:off x="685800" y="557784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Pointen: </a:t>
            </a:r>
            <a:r>
              <a:rPr sz="1600" b="0" i="0">
                <a:solidFill>
                  <a:srgbClr val="003E5C"/>
                </a:solidFill>
              </a:rPr>
              <a:t>de to forløb adskiller sig kun ved træningen – så vi kan se, hvad HIIT lægger oveni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2 · Vil folk det?</a:t>
            </a:r>
          </a:p>
        </p:txBody>
      </p:sp>
      <p:sp>
        <p:nvSpPr>
          <p:cNvPr id="3" name="Spørgsmål"/>
          <p:cNvSpPr/>
          <p:nvPr/>
        </p:nvSpPr>
        <p:spPr>
          <a:xfrm>
            <a:off x="685800" y="141732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03E5C"/>
                </a:solidFill>
              </a:rPr>
              <a:t>Hvad er på spil, når man skal beslutte sig for HIIT – og hvad får én til at møde op (eller blive væk) en tirsdag i februar?</a:t>
            </a:r>
          </a:p>
        </p:txBody>
      </p:sp>
      <p:sp>
        <p:nvSpPr>
          <p:cNvPr id="4" name="N total"/>
          <p:cNvSpPr/>
          <p:nvPr/>
        </p:nvSpPr>
        <p:spPr>
          <a:xfrm>
            <a:off x="68580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informanter</a:t>
            </a:r>
          </a:p>
        </p:txBody>
      </p:sp>
      <p:sp>
        <p:nvSpPr>
          <p:cNvPr id="5" name="N HIIT"/>
          <p:cNvSpPr/>
          <p:nvPr/>
        </p:nvSpPr>
        <p:spPr>
          <a:xfrm>
            <a:off x="269748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valgte HIIT</a:t>
            </a:r>
          </a:p>
        </p:txBody>
      </p:sp>
      <p:sp>
        <p:nvSpPr>
          <p:cNvPr id="6" name="N fravalg"/>
          <p:cNvSpPr/>
          <p:nvPr/>
        </p:nvSpPr>
        <p:spPr>
          <a:xfrm>
            <a:off x="470916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fravalgte HIIT</a:t>
            </a:r>
          </a:p>
        </p:txBody>
      </p:sp>
      <p:sp>
        <p:nvSpPr>
          <p:cNvPr id="7" name="Note fravalg"/>
          <p:cNvSpPr txBox="1"/>
          <p:nvPr/>
        </p:nvSpPr>
        <p:spPr>
          <a:xfrm>
            <a:off x="4709160" y="3611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– svære at få med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526280"/>
            <a:ext cx="5486400" cy="0"/>
          </a:xfrm>
          <a:prstGeom prst="line">
            <a:avLst/>
          </a:prstGeom>
          <a:ln>
            <a:solidFill>
              <a:srgbClr val="54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ik 1"/>
          <p:cNvSpPr/>
          <p:nvPr/>
        </p:nvSpPr>
        <p:spPr>
          <a:xfrm>
            <a:off x="923543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idslinje 1"/>
          <p:cNvSpPr txBox="1"/>
          <p:nvPr/>
        </p:nvSpPr>
        <p:spPr>
          <a:xfrm>
            <a:off x="685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valget ✓</a:t>
            </a:r>
          </a:p>
        </p:txBody>
      </p:sp>
      <p:sp>
        <p:nvSpPr>
          <p:cNvPr id="11" name="Prik 2"/>
          <p:cNvSpPr/>
          <p:nvPr/>
        </p:nvSpPr>
        <p:spPr>
          <a:xfrm>
            <a:off x="3438144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idslinje 2"/>
          <p:cNvSpPr txBox="1"/>
          <p:nvPr/>
        </p:nvSpPr>
        <p:spPr>
          <a:xfrm>
            <a:off x="27432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forløbet ✓</a:t>
            </a:r>
          </a:p>
        </p:txBody>
      </p:sp>
      <p:sp>
        <p:nvSpPr>
          <p:cNvPr id="13" name="Prik 3"/>
          <p:cNvSpPr/>
          <p:nvPr/>
        </p:nvSpPr>
        <p:spPr>
          <a:xfrm>
            <a:off x="5952744" y="43982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idslinje 3"/>
          <p:cNvSpPr txBox="1"/>
          <p:nvPr/>
        </p:nvSpPr>
        <p:spPr>
          <a:xfrm>
            <a:off x="5257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1 år efter (2027)</a:t>
            </a:r>
          </a:p>
        </p:txBody>
      </p:sp>
      <p:sp>
        <p:nvSpPr>
          <p:cNvPr id="15" name="Øvrige data"/>
          <p:cNvSpPr txBox="1"/>
          <p:nvPr/>
        </p:nvSpPr>
        <p:spPr>
          <a:xfrm>
            <a:off x="685800" y="5532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E5C"/>
                </a:solidFill>
              </a:rPr>
              <a:t>+ </a:t>
            </a:r>
            <a:r>
              <a:rPr sz="1400" b="0" i="0">
                <a:solidFill>
                  <a:srgbClr val="003E5C"/>
                </a:solidFill>
              </a:rPr>
              <a:t>dagbog ved hver træning og observationer under træningen · induktiv tematisk analyse</a:t>
            </a:r>
          </a:p>
        </p:txBody>
      </p:sp>
      <p:pic>
        <p:nvPicPr>
          <p:cNvPr id="16" name="Dagbog forside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pic>
        <p:nvPicPr>
          <p:cNvPr id="17" name="Dagbog træningsside" descr="hi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799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18" name="Billedtekst"/>
          <p:cNvSpPr txBox="1"/>
          <p:nvPr/>
        </p:nvSpPr>
        <p:spPr>
          <a:xfrm>
            <a:off x="6812280" y="480060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Dagbogen: før og efter hver træning – inkl. motivation og krop på 0–100 %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Når vi de rigtige?</a:t>
            </a:r>
          </a:p>
        </p:txBody>
      </p:sp>
      <p:sp>
        <p:nvSpPr>
          <p:cNvPr id="3" name="Flow 1"/>
          <p:cNvSpPr/>
          <p:nvPr/>
        </p:nvSpPr>
        <p:spPr>
          <a:xfrm>
            <a:off x="685800" y="141732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52.020</a:t>
            </a:r>
            <a:r>
              <a:rPr sz="1400" b="0" i="0">
                <a:solidFill>
                  <a:srgbClr val="003E5C"/>
                </a:solidFill>
              </a:rPr>
              <a:t>   med type 2-diabetes i Region Midt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224028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 2"/>
          <p:cNvSpPr/>
          <p:nvPr/>
        </p:nvSpPr>
        <p:spPr>
          <a:xfrm>
            <a:off x="685800" y="246888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20.516</a:t>
            </a:r>
            <a:r>
              <a:rPr sz="1400" b="0" i="0">
                <a:solidFill>
                  <a:srgbClr val="003E5C"/>
                </a:solidFill>
              </a:rPr>
              <a:t>   besvarede Helbred i Midt 2024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29184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 3"/>
          <p:cNvSpPr/>
          <p:nvPr/>
        </p:nvSpPr>
        <p:spPr>
          <a:xfrm>
            <a:off x="685800" y="3520439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13.328</a:t>
            </a:r>
            <a:r>
              <a:rPr sz="1400" b="0" i="0">
                <a:solidFill>
                  <a:srgbClr val="003E5C"/>
                </a:solidFill>
              </a:rPr>
              <a:t>   sagde ja til et ekstra spørgeskema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434340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4"/>
          <p:cNvSpPr/>
          <p:nvPr/>
        </p:nvSpPr>
        <p:spPr>
          <a:xfrm>
            <a:off x="685800" y="457200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</a:rPr>
              <a:t>4.704</a:t>
            </a:r>
            <a:r>
              <a:rPr sz="1400" b="0" i="0">
                <a:solidFill>
                  <a:srgbClr val="FFFFFF"/>
                </a:solidFill>
              </a:rPr>
              <a:t>   svarede om kommunale tilbud</a:t>
            </a:r>
          </a:p>
        </p:txBody>
      </p:sp>
      <p:sp>
        <p:nvSpPr>
          <p:cNvPr id="10" name="Note register"/>
          <p:cNvSpPr txBox="1"/>
          <p:nvPr/>
        </p:nvSpPr>
        <p:spPr>
          <a:xfrm>
            <a:off x="685800" y="5715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Koblet med registerdata – også for dem, der ikke svarede</a:t>
            </a:r>
          </a:p>
        </p:txBody>
      </p:sp>
      <p:sp>
        <p:nvSpPr>
          <p:cNvPr id="11" name="Spørgsmålet"/>
          <p:cNvSpPr/>
          <p:nvPr/>
        </p:nvSpPr>
        <p:spPr>
          <a:xfrm>
            <a:off x="6263640" y="141732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</a:rPr>
              <a:t>“Er du inden for de seneste 5 år blevet tilbudt støtte til fysisk aktivitet og/eller træning af kommunen?”</a:t>
            </a:r>
          </a:p>
        </p:txBody>
      </p:sp>
      <p:sp>
        <p:nvSpPr>
          <p:cNvPr id="12" name="Outcome 1"/>
          <p:cNvSpPr/>
          <p:nvPr/>
        </p:nvSpPr>
        <p:spPr>
          <a:xfrm>
            <a:off x="626364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Tilbudt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alle</a:t>
            </a:r>
          </a:p>
        </p:txBody>
      </p:sp>
      <p:sp>
        <p:nvSpPr>
          <p:cNvPr id="13" name="Outcome 2"/>
          <p:cNvSpPr/>
          <p:nvPr/>
        </p:nvSpPr>
        <p:spPr>
          <a:xfrm>
            <a:off x="8046719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Udækket behov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ikke fik tilbud</a:t>
            </a:r>
          </a:p>
        </p:txBody>
      </p:sp>
      <p:sp>
        <p:nvSpPr>
          <p:cNvPr id="14" name="Outcome 3"/>
          <p:cNvSpPr/>
          <p:nvPr/>
        </p:nvSpPr>
        <p:spPr>
          <a:xfrm>
            <a:off x="982980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Optag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fik tilbud</a:t>
            </a:r>
          </a:p>
        </p:txBody>
      </p:sp>
      <p:sp>
        <p:nvSpPr>
          <p:cNvPr id="15" name="Pointe"/>
          <p:cNvSpPr/>
          <p:nvPr/>
        </p:nvSpPr>
        <p:spPr>
          <a:xfrm>
            <a:off x="6263640" y="4206240"/>
            <a:ext cx="5257800" cy="1417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3E5C"/>
                </a:solidFill>
              </a:rPr>
              <a:t>Tilbuddet er gratis. </a:t>
            </a:r>
            <a:r>
              <a:rPr sz="1500" b="0" i="0">
                <a:solidFill>
                  <a:srgbClr val="003E5C"/>
                </a:solidFill>
              </a:rPr>
              <a:t>Finder vi stadig social skævhed, kan det ikke forklares med pris – så handler det om henvisning, information eller adgang.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Svar og kodning</a:t>
            </a:r>
          </a:p>
        </p:txBody>
      </p:sp>
      <p:graphicFrame>
        <p:nvGraphicFramePr>
          <p:cNvPr id="3" name="Tabel svar og kodning"/>
          <p:cNvGraphicFramePr>
            <a:graphicFrameLocks noGrp="1"/>
          </p:cNvGraphicFramePr>
          <p:nvPr/>
        </p:nvGraphicFramePr>
        <p:xfrm>
          <a:off x="685800" y="1417320"/>
          <a:ext cx="10835640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"/>
                <a:gridCol w="3776472"/>
                <a:gridCol w="868680"/>
                <a:gridCol w="685800"/>
                <a:gridCol w="2103120"/>
                <a:gridCol w="1051560"/>
                <a:gridCol w="1097280"/>
                <a:gridCol w="1051560"/>
              </a:tblGrid>
              <a:tr h="347472">
                <a:tc gridSpan="5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Kodning af outcomes</a:t>
                      </a:r>
                    </a:p>
                  </a:txBody>
                  <a:tcPr anchor="ctr" marL="73152" marR="73152" marT="18288" marB="18288">
                    <a:solidFill>
                      <a:srgbClr val="54819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Svarmulighed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Tæller som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Tilbud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Udækket behov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Optag</a:t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Ja, og tog imod tilbuddet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707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Tilbudt · optag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87D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87D1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54819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Ja, men takkede nej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125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Tilbudt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87D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9DB8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Nej, men kontaktede selv kommunen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44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Egen henvendelse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87D1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Nej, men ville gerne have haft tilbuddet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843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Udækket behov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87D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Nej, jeg har ikke brug for det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1.649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35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Intet oplevet behov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Ikke relevant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914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19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Intet oplevet behov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1">
                          <a:solidFill>
                            <a:srgbClr val="6B7B83"/>
                          </a:solidFill>
                        </a:rPr>
                        <a:t>Ved ikke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6B7B83"/>
                          </a:solidFill>
                        </a:rPr>
                        <a:t>367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6B7B83"/>
                          </a:solidFill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1">
                          <a:solidFill>
                            <a:srgbClr val="6B7B83"/>
                          </a:solidFill>
                        </a:rPr>
                        <a:t>Udelukket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1">
                          <a:solidFill>
                            <a:srgbClr val="6B7B83"/>
                          </a:solidFill>
                        </a:rPr>
                        <a:t>Mangler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6B7B83"/>
                          </a:solidFill>
                        </a:rPr>
                        <a:t>55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6B7B83"/>
                          </a:solidFill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1">
                          <a:solidFill>
                            <a:srgbClr val="6B7B83"/>
                          </a:solidFill>
                        </a:rPr>
                        <a:t>Udelukket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C6C6C6"/>
                          </a:solidFill>
                        </a:rPr>
                        <a:t>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I alt</a:t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4.704</a:t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003E5C"/>
                          </a:solidFill>
                        </a:rPr>
                        <a:t>100</a:t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003E5C"/>
                          </a:solidFill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 i="1">
                          <a:solidFill>
                            <a:srgbClr val="6B7B83"/>
                          </a:solidFill>
                        </a:rPr>
                        <a:t>1 = ja · 0 = nej · – = indgår ikke</a:t>
                      </a:r>
                    </a:p>
                  </a:txBody>
                  <a:tcPr anchor="ctr" marL="73152" marR="73152" marT="18288" marB="18288">
                    <a:solidFill>
                      <a:srgbClr val="F3F7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Fodnote tabel"/>
          <p:cNvSpPr txBox="1"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B7B83"/>
                </a:solidFill>
              </a:rPr>
              <a:t>Udækket behov opgøres blandt dem uden tilbud · optag blandt dem med tilbud · ved ikke og manglende svar udelades af nævneren. Foreløbige, uvægtede 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De første tal</a:t>
            </a:r>
          </a:p>
        </p:txBody>
      </p:sp>
      <p:sp>
        <p:nvSpPr>
          <p:cNvPr id="3" name="KPI 1"/>
          <p:cNvSpPr/>
          <p:nvPr/>
        </p:nvSpPr>
        <p:spPr>
          <a:xfrm>
            <a:off x="68580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Tilbud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19 %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</a:rPr>
              <a:t>blev tilbudt træning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7D1F4"/>
                </a:solidFill>
              </a:rPr>
              <a:t>832 af 4.282 med gyldigt svar</a:t>
            </a:r>
          </a:p>
        </p:txBody>
      </p:sp>
      <p:sp>
        <p:nvSpPr>
          <p:cNvPr id="4" name="KPI 2"/>
          <p:cNvSpPr/>
          <p:nvPr/>
        </p:nvSpPr>
        <p:spPr>
          <a:xfrm>
            <a:off x="438912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Udækket behov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3E5C"/>
                </a:solidFill>
              </a:rPr>
              <a:t>25 %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03E5C"/>
                </a:solidFill>
              </a:rPr>
              <a:t>ønskede et tilbud, men fik ikke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843 af 3.406 uden tilbud</a:t>
            </a:r>
          </a:p>
        </p:txBody>
      </p:sp>
      <p:sp>
        <p:nvSpPr>
          <p:cNvPr id="5" name="KPI 3"/>
          <p:cNvSpPr/>
          <p:nvPr/>
        </p:nvSpPr>
        <p:spPr>
          <a:xfrm>
            <a:off x="809244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Optag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3E5C"/>
                </a:solidFill>
              </a:rPr>
              <a:t>85 %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03E5C"/>
                </a:solidFill>
              </a:rPr>
              <a:t>tog imod tilbuddet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B83"/>
                </a:solidFill>
              </a:rPr>
              <a:t>707 af 832 tilbudte</a:t>
            </a:r>
          </a:p>
        </p:txBody>
      </p:sp>
      <p:sp>
        <p:nvSpPr>
          <p:cNvPr id="6" name="Bar titel"/>
          <p:cNvSpPr txBox="1"/>
          <p:nvPr/>
        </p:nvSpPr>
        <p:spPr>
          <a:xfrm>
            <a:off x="685800" y="3429000"/>
            <a:ext cx="10835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E5C"/>
                </a:solidFill>
              </a:rPr>
              <a:t>Svarfordeling</a:t>
            </a:r>
            <a:r>
              <a:rPr sz="1400" b="0" i="0">
                <a:solidFill>
                  <a:srgbClr val="6B7B83"/>
                </a:solidFill>
              </a:rPr>
              <a:t>  ·  n = 4.704</a:t>
            </a:r>
          </a:p>
        </p:txBody>
      </p:sp>
      <p:sp>
        <p:nvSpPr>
          <p:cNvPr id="7" name="Segment 1"/>
          <p:cNvSpPr/>
          <p:nvPr/>
        </p:nvSpPr>
        <p:spPr>
          <a:xfrm>
            <a:off x="685800" y="3794760"/>
            <a:ext cx="1628570" cy="566928"/>
          </a:xfrm>
          <a:prstGeom prst="rect">
            <a:avLst/>
          </a:prstGeom>
          <a:solidFill>
            <a:srgbClr val="003E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egment tal 1"/>
          <p:cNvSpPr txBox="1"/>
          <p:nvPr/>
        </p:nvSpPr>
        <p:spPr>
          <a:xfrm>
            <a:off x="685800" y="3794760"/>
            <a:ext cx="162857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15 %</a:t>
            </a:r>
          </a:p>
        </p:txBody>
      </p:sp>
      <p:sp>
        <p:nvSpPr>
          <p:cNvPr id="9" name="Segment 2"/>
          <p:cNvSpPr/>
          <p:nvPr/>
        </p:nvSpPr>
        <p:spPr>
          <a:xfrm>
            <a:off x="2314370" y="3794760"/>
            <a:ext cx="287936" cy="566928"/>
          </a:xfrm>
          <a:prstGeom prst="rect">
            <a:avLst/>
          </a:prstGeom>
          <a:solidFill>
            <a:srgbClr val="54819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egment 3"/>
          <p:cNvSpPr/>
          <p:nvPr/>
        </p:nvSpPr>
        <p:spPr>
          <a:xfrm>
            <a:off x="2602307" y="3794760"/>
            <a:ext cx="101353" cy="566928"/>
          </a:xfrm>
          <a:prstGeom prst="rect">
            <a:avLst/>
          </a:prstGeom>
          <a:solidFill>
            <a:srgbClr val="9DB8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egment 4"/>
          <p:cNvSpPr/>
          <p:nvPr/>
        </p:nvSpPr>
        <p:spPr>
          <a:xfrm>
            <a:off x="2703661" y="3794760"/>
            <a:ext cx="1941846" cy="566928"/>
          </a:xfrm>
          <a:prstGeom prst="rect">
            <a:avLst/>
          </a:prstGeom>
          <a:solidFill>
            <a:srgbClr val="87D1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egment tal 4"/>
          <p:cNvSpPr txBox="1"/>
          <p:nvPr/>
        </p:nvSpPr>
        <p:spPr>
          <a:xfrm>
            <a:off x="2703661" y="3794760"/>
            <a:ext cx="194184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18 %</a:t>
            </a:r>
          </a:p>
        </p:txBody>
      </p:sp>
      <p:sp>
        <p:nvSpPr>
          <p:cNvPr id="13" name="Segment 5"/>
          <p:cNvSpPr/>
          <p:nvPr/>
        </p:nvSpPr>
        <p:spPr>
          <a:xfrm>
            <a:off x="4645507" y="3794760"/>
            <a:ext cx="3798463" cy="566928"/>
          </a:xfrm>
          <a:prstGeom prst="rect">
            <a:avLst/>
          </a:prstGeom>
          <a:solidFill>
            <a:srgbClr val="C6C6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egment tal 5"/>
          <p:cNvSpPr txBox="1"/>
          <p:nvPr/>
        </p:nvSpPr>
        <p:spPr>
          <a:xfrm>
            <a:off x="4645507" y="3794760"/>
            <a:ext cx="37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35 %</a:t>
            </a:r>
          </a:p>
        </p:txBody>
      </p:sp>
      <p:sp>
        <p:nvSpPr>
          <p:cNvPr id="15" name="Segment 6"/>
          <p:cNvSpPr/>
          <p:nvPr/>
        </p:nvSpPr>
        <p:spPr>
          <a:xfrm>
            <a:off x="8443970" y="3794760"/>
            <a:ext cx="2105394" cy="566928"/>
          </a:xfrm>
          <a:prstGeom prst="rect">
            <a:avLst/>
          </a:prstGeom>
          <a:solidFill>
            <a:srgbClr val="E4E4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egment tal 6"/>
          <p:cNvSpPr txBox="1"/>
          <p:nvPr/>
        </p:nvSpPr>
        <p:spPr>
          <a:xfrm>
            <a:off x="8443970" y="3794760"/>
            <a:ext cx="21053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19 %</a:t>
            </a:r>
          </a:p>
        </p:txBody>
      </p:sp>
      <p:sp>
        <p:nvSpPr>
          <p:cNvPr id="17" name="Segment 7"/>
          <p:cNvSpPr/>
          <p:nvPr/>
        </p:nvSpPr>
        <p:spPr>
          <a:xfrm>
            <a:off x="10549365" y="3794760"/>
            <a:ext cx="97207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egment tal 7"/>
          <p:cNvSpPr txBox="1"/>
          <p:nvPr/>
        </p:nvSpPr>
        <p:spPr>
          <a:xfrm>
            <a:off x="10549365" y="3794760"/>
            <a:ext cx="97207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7B83"/>
                </a:solidFill>
              </a:rPr>
              <a:t>9 %</a:t>
            </a:r>
          </a:p>
        </p:txBody>
      </p:sp>
      <p:sp>
        <p:nvSpPr>
          <p:cNvPr id="19" name="Legende 1"/>
          <p:cNvSpPr/>
          <p:nvPr/>
        </p:nvSpPr>
        <p:spPr>
          <a:xfrm>
            <a:off x="685800" y="4608576"/>
            <a:ext cx="219456" cy="219456"/>
          </a:xfrm>
          <a:prstGeom prst="rect">
            <a:avLst/>
          </a:prstGeom>
          <a:solidFill>
            <a:srgbClr val="003E5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egendetekst 1"/>
          <p:cNvSpPr txBox="1"/>
          <p:nvPr/>
        </p:nvSpPr>
        <p:spPr>
          <a:xfrm>
            <a:off x="9966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Ja, og tog imod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707 (15 %)</a:t>
            </a:r>
          </a:p>
        </p:txBody>
      </p:sp>
      <p:sp>
        <p:nvSpPr>
          <p:cNvPr id="21" name="Legende 2"/>
          <p:cNvSpPr/>
          <p:nvPr/>
        </p:nvSpPr>
        <p:spPr>
          <a:xfrm>
            <a:off x="3429000" y="4608576"/>
            <a:ext cx="219456" cy="219456"/>
          </a:xfrm>
          <a:prstGeom prst="rect">
            <a:avLst/>
          </a:prstGeom>
          <a:solidFill>
            <a:srgbClr val="54819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egendetekst 2"/>
          <p:cNvSpPr txBox="1"/>
          <p:nvPr/>
        </p:nvSpPr>
        <p:spPr>
          <a:xfrm>
            <a:off x="37398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Ja, men takkede nej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125 (3 %)</a:t>
            </a:r>
          </a:p>
        </p:txBody>
      </p:sp>
      <p:sp>
        <p:nvSpPr>
          <p:cNvPr id="23" name="Legende 3"/>
          <p:cNvSpPr/>
          <p:nvPr/>
        </p:nvSpPr>
        <p:spPr>
          <a:xfrm>
            <a:off x="6172200" y="4608576"/>
            <a:ext cx="219456" cy="219456"/>
          </a:xfrm>
          <a:prstGeom prst="rect">
            <a:avLst/>
          </a:prstGeom>
          <a:solidFill>
            <a:srgbClr val="9DB8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egendetekst 3"/>
          <p:cNvSpPr txBox="1"/>
          <p:nvPr/>
        </p:nvSpPr>
        <p:spPr>
          <a:xfrm>
            <a:off x="64830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men kontaktede selv kommunen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44 (1 %)</a:t>
            </a:r>
          </a:p>
        </p:txBody>
      </p:sp>
      <p:sp>
        <p:nvSpPr>
          <p:cNvPr id="25" name="Legende 4"/>
          <p:cNvSpPr/>
          <p:nvPr/>
        </p:nvSpPr>
        <p:spPr>
          <a:xfrm>
            <a:off x="8915400" y="4608576"/>
            <a:ext cx="219456" cy="219456"/>
          </a:xfrm>
          <a:prstGeom prst="rect">
            <a:avLst/>
          </a:prstGeom>
          <a:solidFill>
            <a:srgbClr val="87D1F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Legendetekst 4"/>
          <p:cNvSpPr txBox="1"/>
          <p:nvPr/>
        </p:nvSpPr>
        <p:spPr>
          <a:xfrm>
            <a:off x="92262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men ville gerne have haft 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843 (18 %)</a:t>
            </a:r>
          </a:p>
        </p:txBody>
      </p:sp>
      <p:sp>
        <p:nvSpPr>
          <p:cNvPr id="27" name="Legende 5"/>
          <p:cNvSpPr/>
          <p:nvPr/>
        </p:nvSpPr>
        <p:spPr>
          <a:xfrm>
            <a:off x="685800" y="5157216"/>
            <a:ext cx="219456" cy="219456"/>
          </a:xfrm>
          <a:prstGeom prst="rect">
            <a:avLst/>
          </a:prstGeom>
          <a:solidFill>
            <a:srgbClr val="C6C6C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egendetekst 5"/>
          <p:cNvSpPr txBox="1"/>
          <p:nvPr/>
        </p:nvSpPr>
        <p:spPr>
          <a:xfrm>
            <a:off x="9966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jeg har ikke brug for 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1.649 (35 %)</a:t>
            </a:r>
          </a:p>
        </p:txBody>
      </p:sp>
      <p:sp>
        <p:nvSpPr>
          <p:cNvPr id="29" name="Legende 6"/>
          <p:cNvSpPr/>
          <p:nvPr/>
        </p:nvSpPr>
        <p:spPr>
          <a:xfrm>
            <a:off x="3429000" y="5157216"/>
            <a:ext cx="219456" cy="219456"/>
          </a:xfrm>
          <a:prstGeom prst="rect">
            <a:avLst/>
          </a:prstGeom>
          <a:solidFill>
            <a:srgbClr val="E4E4E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Legendetekst 6"/>
          <p:cNvSpPr txBox="1"/>
          <p:nvPr/>
        </p:nvSpPr>
        <p:spPr>
          <a:xfrm>
            <a:off x="37398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Ikke relevant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914 (19 %)</a:t>
            </a:r>
          </a:p>
        </p:txBody>
      </p:sp>
      <p:sp>
        <p:nvSpPr>
          <p:cNvPr id="31" name="Legende 7"/>
          <p:cNvSpPr/>
          <p:nvPr/>
        </p:nvSpPr>
        <p:spPr>
          <a:xfrm>
            <a:off x="6172200" y="5157216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Legendetekst 7"/>
          <p:cNvSpPr txBox="1"/>
          <p:nvPr/>
        </p:nvSpPr>
        <p:spPr>
          <a:xfrm>
            <a:off x="64830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Ved ikke / mangler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422 (9 %)</a:t>
            </a:r>
          </a:p>
        </p:txBody>
      </p:sp>
      <p:sp>
        <p:nvSpPr>
          <p:cNvPr id="33" name="Fodnote"/>
          <p:cNvSpPr txBox="1"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B7B83"/>
                </a:solidFill>
              </a:rPr>
              <a:t>Foreløbige, uvægtede tal. Nævner = gyldige svar (ved ikke og manglende svar er udeladt). Udækket behov opgøres blandt dem uden tilbud, der ikke selv har kontaktet kommunen.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er jeg nu?</a:t>
            </a:r>
          </a:p>
        </p:txBody>
      </p:sp>
      <p:sp>
        <p:nvSpPr>
          <p:cNvPr id="3" name="Række 1"/>
          <p:cNvSpPr txBox="1"/>
          <p:nvPr/>
        </p:nvSpPr>
        <p:spPr>
          <a:xfrm>
            <a:off x="685800" y="182880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</p:txBody>
      </p:sp>
      <p:sp>
        <p:nvSpPr>
          <p:cNvPr id="4" name="Trin 1.1"/>
          <p:cNvSpPr/>
          <p:nvPr/>
        </p:nvSpPr>
        <p:spPr>
          <a:xfrm>
            <a:off x="3154680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Data indsamlet</a:t>
            </a:r>
          </a:p>
        </p:txBody>
      </p:sp>
      <p:sp>
        <p:nvSpPr>
          <p:cNvPr id="5" name="Trin 1.2"/>
          <p:cNvSpPr/>
          <p:nvPr/>
        </p:nvSpPr>
        <p:spPr>
          <a:xfrm>
            <a:off x="5285232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Aktivitetsdata behandlet (SDU)</a:t>
            </a:r>
          </a:p>
        </p:txBody>
      </p:sp>
      <p:sp>
        <p:nvSpPr>
          <p:cNvPr id="6" name="Trin 1.3"/>
          <p:cNvSpPr/>
          <p:nvPr/>
        </p:nvSpPr>
        <p:spPr>
          <a:xfrm>
            <a:off x="7415783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7" name="Trin 1.4"/>
          <p:cNvSpPr/>
          <p:nvPr/>
        </p:nvSpPr>
        <p:spPr>
          <a:xfrm>
            <a:off x="9546336" y="1874519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Artikel</a:t>
            </a:r>
          </a:p>
        </p:txBody>
      </p:sp>
      <p:sp>
        <p:nvSpPr>
          <p:cNvPr id="8" name="Række 2"/>
          <p:cNvSpPr txBox="1"/>
          <p:nvPr/>
        </p:nvSpPr>
        <p:spPr>
          <a:xfrm>
            <a:off x="685800" y="283464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</a:t>
            </a:r>
          </a:p>
        </p:txBody>
      </p:sp>
      <p:sp>
        <p:nvSpPr>
          <p:cNvPr id="9" name="Trin 2.1"/>
          <p:cNvSpPr/>
          <p:nvPr/>
        </p:nvSpPr>
        <p:spPr>
          <a:xfrm>
            <a:off x="3154680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1</a:t>
            </a:r>
          </a:p>
        </p:txBody>
      </p:sp>
      <p:sp>
        <p:nvSpPr>
          <p:cNvPr id="10" name="Trin 2.2"/>
          <p:cNvSpPr/>
          <p:nvPr/>
        </p:nvSpPr>
        <p:spPr>
          <a:xfrm>
            <a:off x="5285232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2</a:t>
            </a:r>
          </a:p>
        </p:txBody>
      </p:sp>
      <p:sp>
        <p:nvSpPr>
          <p:cNvPr id="11" name="Trin 2.3"/>
          <p:cNvSpPr/>
          <p:nvPr/>
        </p:nvSpPr>
        <p:spPr>
          <a:xfrm>
            <a:off x="7415783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Interview 3 (2027)</a:t>
            </a:r>
          </a:p>
        </p:txBody>
      </p:sp>
      <p:sp>
        <p:nvSpPr>
          <p:cNvPr id="12" name="Trin 2.4"/>
          <p:cNvSpPr/>
          <p:nvPr/>
        </p:nvSpPr>
        <p:spPr>
          <a:xfrm>
            <a:off x="9546336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Analyse og artikel</a:t>
            </a:r>
          </a:p>
        </p:txBody>
      </p:sp>
      <p:sp>
        <p:nvSpPr>
          <p:cNvPr id="13" name="Række 3"/>
          <p:cNvSpPr txBox="1"/>
          <p:nvPr/>
        </p:nvSpPr>
        <p:spPr>
          <a:xfrm>
            <a:off x="685800" y="38404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</a:t>
            </a:r>
          </a:p>
        </p:txBody>
      </p:sp>
      <p:sp>
        <p:nvSpPr>
          <p:cNvPr id="14" name="Trin 3.1"/>
          <p:cNvSpPr/>
          <p:nvPr/>
        </p:nvSpPr>
        <p:spPr>
          <a:xfrm>
            <a:off x="3154680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Protokol / OSF</a:t>
            </a:r>
          </a:p>
        </p:txBody>
      </p:sp>
      <p:sp>
        <p:nvSpPr>
          <p:cNvPr id="15" name="Trin 3.2"/>
          <p:cNvSpPr/>
          <p:nvPr/>
        </p:nvSpPr>
        <p:spPr>
          <a:xfrm>
            <a:off x="5285232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16" name="Trin 3.3"/>
          <p:cNvSpPr/>
          <p:nvPr/>
        </p:nvSpPr>
        <p:spPr>
          <a:xfrm>
            <a:off x="7415783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Artikel 1</a:t>
            </a:r>
          </a:p>
        </p:txBody>
      </p:sp>
      <p:sp>
        <p:nvSpPr>
          <p:cNvPr id="17" name="Legende 1"/>
          <p:cNvSpPr/>
          <p:nvPr/>
        </p:nvSpPr>
        <p:spPr>
          <a:xfrm>
            <a:off x="315468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Legendetekst 1"/>
          <p:cNvSpPr txBox="1"/>
          <p:nvPr/>
        </p:nvSpPr>
        <p:spPr>
          <a:xfrm>
            <a:off x="352044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Færdig</a:t>
            </a:r>
          </a:p>
        </p:txBody>
      </p:sp>
      <p:sp>
        <p:nvSpPr>
          <p:cNvPr id="19" name="Legende 2"/>
          <p:cNvSpPr/>
          <p:nvPr/>
        </p:nvSpPr>
        <p:spPr>
          <a:xfrm>
            <a:off x="489204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egendetekst 2"/>
          <p:cNvSpPr txBox="1"/>
          <p:nvPr/>
        </p:nvSpPr>
        <p:spPr>
          <a:xfrm>
            <a:off x="525780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Nu / næste</a:t>
            </a:r>
          </a:p>
        </p:txBody>
      </p:sp>
      <p:sp>
        <p:nvSpPr>
          <p:cNvPr id="21" name="Legende 3"/>
          <p:cNvSpPr/>
          <p:nvPr/>
        </p:nvSpPr>
        <p:spPr>
          <a:xfrm>
            <a:off x="6629400" y="4937760"/>
            <a:ext cx="274320" cy="274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egendetekst 3"/>
          <p:cNvSpPr txBox="1"/>
          <p:nvPr/>
        </p:nvSpPr>
        <p:spPr>
          <a:xfrm>
            <a:off x="699516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Senere</a:t>
            </a:r>
          </a:p>
        </p:txBody>
      </p:sp>
      <p:sp>
        <p:nvSpPr>
          <p:cNvPr id="23" name="Ændringer"/>
          <p:cNvSpPr/>
          <p:nvPr/>
        </p:nvSpPr>
        <p:spPr>
          <a:xfrm>
            <a:off x="685800" y="544068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Første artikel er studie 3 </a:t>
            </a:r>
            <a:r>
              <a:rPr sz="1400" b="0" i="0">
                <a:solidFill>
                  <a:srgbClr val="003E5C"/>
                </a:solidFill>
              </a:rPr>
              <a:t>– data er klar. Siden ph.d.-planen: studie 3 er afgrænset til træningstilbud, studie 2 er nu induktivt, og MVPA bygger på aktivitetstyper.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Mit ståsted – og hvordan det kan farve projektet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Hvem er jeg i projektet?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kan mit ståsted slå igennem?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3564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Hvor kan det påvirke?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Hvad gør jeg ved det?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1 · RCT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2 · Kvalitativt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3 · Register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Eksempel: valgene i studie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Jeg vil gerne have jeres blik på</a:t>
            </a:r>
          </a:p>
        </p:txBody>
      </p:sp>
      <p:sp>
        <p:nvSpPr>
          <p:cNvPr id="3" name="Nr 1"/>
          <p:cNvSpPr/>
          <p:nvPr/>
        </p:nvSpPr>
        <p:spPr>
          <a:xfrm>
            <a:off x="685800" y="137160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Spørgsmål 1"/>
          <p:cNvSpPr/>
          <p:nvPr/>
        </p:nvSpPr>
        <p:spPr>
          <a:xfrm>
            <a:off x="2011680" y="137160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Hvilken af mine roller ser I som den største risiko for at farve resultaterne?</a:t>
            </a:r>
          </a:p>
        </p:txBody>
      </p:sp>
      <p:sp>
        <p:nvSpPr>
          <p:cNvPr id="5" name="Nr 2"/>
          <p:cNvSpPr/>
          <p:nvPr/>
        </p:nvSpPr>
        <p:spPr>
          <a:xfrm>
            <a:off x="685800" y="283464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pørgsmål 2"/>
          <p:cNvSpPr/>
          <p:nvPr/>
        </p:nvSpPr>
        <p:spPr>
          <a:xfrm>
            <a:off x="2011680" y="283464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Hvor meget plads skal ståstedet have i en kvantitativ artikel – positioneringsudsagn, under styrker og svagheder, eller kun i afhandlingen?</a:t>
            </a:r>
          </a:p>
        </p:txBody>
      </p:sp>
      <p:sp>
        <p:nvSpPr>
          <p:cNvPr id="7" name="Nr 3"/>
          <p:cNvSpPr/>
          <p:nvPr/>
        </p:nvSpPr>
        <p:spPr>
          <a:xfrm>
            <a:off x="685800" y="429768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pørgsmål 3"/>
          <p:cNvSpPr/>
          <p:nvPr/>
        </p:nvSpPr>
        <p:spPr>
          <a:xfrm>
            <a:off x="2011680" y="429768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Er forhåndsregistrering og sensitivitetsanalyser nok – eller skal jeg gøre mere, især hvor jeg er tæt på informanterne?</a:t>
            </a:r>
          </a:p>
        </p:txBody>
      </p:sp>
    </p:spTree>
  </p:cSld>
  <p:clrMapOvr>
    <a:masterClrMapping/>
  </p:clrMapOvr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Analysen i studie 3</a:t>
            </a:r>
          </a:p>
        </p:txBody>
      </p:sp>
      <p:sp>
        <p:nvSpPr>
          <p:cNvPr id="3" name="Del 1"/>
          <p:cNvSpPr/>
          <p:nvPr/>
        </p:nvSpPr>
        <p:spPr>
          <a:xfrm>
            <a:off x="6858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1 · Kortlægning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Andel tilbudt, udækket behov og optag – uvægtet og vægtet for frafald</a:t>
            </a:r>
          </a:p>
        </p:txBody>
      </p:sp>
      <p:sp>
        <p:nvSpPr>
          <p:cNvPr id="4" name="Del 2"/>
          <p:cNvSpPr/>
          <p:nvPr/>
        </p:nvSpPr>
        <p:spPr>
          <a:xfrm>
            <a:off x="61722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2 · Frafaldsanalyse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Svarpersoner vs. alle 52.020 på registervariable (SMD &gt; 0,1)</a:t>
            </a:r>
          </a:p>
        </p:txBody>
      </p:sp>
      <p:sp>
        <p:nvSpPr>
          <p:cNvPr id="5" name="Del 3"/>
          <p:cNvSpPr/>
          <p:nvPr/>
        </p:nvSpPr>
        <p:spPr>
          <a:xfrm>
            <a:off x="6858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3 · Faktorer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Logistisk regression i trin: crude → alder/køn → alle kovariater (socioøkonomi, sygdom, psykologiske ressourcer)</a:t>
            </a:r>
          </a:p>
        </p:txBody>
      </p:sp>
      <p:sp>
        <p:nvSpPr>
          <p:cNvPr id="6" name="Del 4"/>
          <p:cNvSpPr/>
          <p:nvPr/>
        </p:nvSpPr>
        <p:spPr>
          <a:xfrm>
            <a:off x="61722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4 · Personaer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Forudsagt sandsynlighed for tilbud for fem hypotetiske profiler</a:t>
            </a:r>
          </a:p>
        </p:txBody>
      </p:sp>
      <p:sp>
        <p:nvSpPr>
          <p:cNvPr id="7" name="Note vægte"/>
          <p:cNvSpPr txBox="1"/>
          <p:nvPr/>
        </p:nvSpPr>
        <p:spPr>
          <a:xfrm>
            <a:off x="685800" y="5440680"/>
            <a:ext cx="10835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B7B83"/>
                </a:solidFill>
              </a:rPr>
              <a:t>Vægte: invers sandsynlighed for at besvare det ekstra skema blandt de 13.328, der gav samtykke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Studie 1</a:t>
            </a:r>
          </a:p>
        </p:txBody>
      </p:sp>
      <p:sp>
        <p:nvSpPr>
          <p:cNvPr id="3" name="Kommune"/>
          <p:cNvSpPr/>
          <p:nvPr/>
        </p:nvSpPr>
        <p:spPr>
          <a:xfrm>
            <a:off x="6858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Kommune = intervention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Hver kommune tilbyder ét forløb, og HIIT findes ét sted. Sammenligning med kontrol er randomiseret inden for kommunen – sammenligningen mellem forløbene er også en sammenligning mellem kommuner.</a:t>
            </a:r>
          </a:p>
        </p:txBody>
      </p:sp>
      <p:sp>
        <p:nvSpPr>
          <p:cNvPr id="4" name="MVPA"/>
          <p:cNvSpPr/>
          <p:nvPr/>
        </p:nvSpPr>
        <p:spPr>
          <a:xfrm>
            <a:off x="61722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MVPA ud fra aktivitetstyper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MVPA beregnes ud fra de aktivitetstyper, accelerometret genkender. Sensitivitetsanalyse: SDU's hidtidige metode, hvor MVPA ikke bygger på aktivitetstyper – giver de samme konklusion?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thm15="http://schemas.microsoft.com/office/thememl/2012/main" xmlns:a="http://schemas.openxmlformats.org/drawingml/2006/main" name="AU 16:9">
  <a:themeElements>
    <a:clrScheme xmlns:a="http://schemas.openxmlformats.org/drawingml/2006/main" name="03 AU Lightblue">
      <a:dk1>
        <a:srgbClr val="000000"/>
      </a:dk1>
      <a:lt1>
        <a:srgbClr val="FFFFFF"/>
      </a:lt1>
      <a:dk2>
        <a:srgbClr val="003E5C"/>
      </a:dk2>
      <a:lt2>
        <a:srgbClr val="003E5C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TemplateConfiguration><![CDATA[{"elementsMetadata":[{"type":"shape","id":"4266a319-bec5-4f76-bfdb-a7e8192fc87c","elementConfiguration":{"binding":"{{FormatDateTime(Form.Date, \"d. MMMM yyyy\")}}","visibility":"","type":"text","disableUpdates":false}},{"type":"shape","id":"92097323-fdbd-43b7-971e-daf4f1a8fe50","elementConfiguration":{"binding":"{{Form.EventOccasion}}","visibility":"","type":"text","disableUpdates":false}},{"type":"shape","id":"1c64a085-4b20-41b7-ad53-2f09d711fb8c","elementConfiguration":{"binding":"{{Switch(UserProfile.DocumentLanguage.Language,\"da-DK\",UserProfile.Title,\"en-GB\",UserProfile.Title_EN,UserProfile.Title)}}","visibility":"","type":"text","disableUpdates":false}},{"type":"shape","id":"2fb113d0-5299-4d5a-ae6b-ad829a41498c","elementConfiguration":{"binding":"{{UserProfile.Name}}","visibility":"","type":"text","disableUpdates":false}},{"type":"shape","id":"93df9841-657b-467a-b8af-c88060745be5","elementConfiguration":{"inheritDimensions":"{{InheritDimensions.InheritNone}}","width":"4.61 cm","height":"1.55 cm","image":"{{UserProfile.UnitId.ExtraLogoRef.ImageRightAlignedRef.ImageFile}}","visibility":"","type":"image","disableUpdates":false}},{"type":"shape","id":"2c097b51-3bbd-4c97-930f-0f2b85bbad8d","elementConfiguration":{"binding":"{{UserProfile.UnitId.Logo2}}","visibility":"","type":"text","disableUpdates":false}},{"type":"shape","id":"7f75a427-bd16-4550-9026-49c22ec1ab35","elementConfiguration":{"binding":"{{UserProfile.UnitId.Logo1PowerPoint}}","visibility":"","type":"text","disableUpdates":false}},{"type":"shape","id":"744a8eec-4438-4ba0-b8cd-a8b53fa79a06","elementConfiguration":{"binding":"{{FormatDateTime(Form.Date, \"d. MMMM yyyy\")}}","visibility":"","type":"text","disableUpdates":false}},{"type":"shape","id":"f56a434a-b296-4262-b95a-9e2d19b04c04","elementConfiguration":{"binding":"{{Form.EventOccasion}}","visibility":"","type":"text","disableUpdates":false}},{"type":"shape","id":"ce7e81c4-d804-4e6e-9263-0cd765577e3e","elementConfiguration":{"inheritDimensions":"{{InheritDimensions.InheritNone}}","width":"4.61 cm","height":"1.55 cm","image":"{{UserProfile.UnitId.ExtraLogoRef.ImageRightAlignedNegRef.ImageFile}}","visibility":"","type":"image","disableUpdates":false}},{"type":"shape","id":"13178164-8b4f-4084-8234-38382dc64659","elementConfiguration":{"binding":"{{UserProfile.UnitId.Logo2}}","visibility":"","type":"text","disableUpdates":false}},{"type":"shape","id":"cc29e3fc-216d-432e-86ae-a466dc2072eb","elementConfiguration":{"binding":"{{UserProfile.UnitId.Logo1PowerPoint}}","visibility":"","type":"text","disableUpdates":false}},{"type":"shape","id":"cc3b9b98-0917-47f4-a08f-26e303573e24","elementConfiguration":{"binding":"{{FormatDateTime(Form.Date, \"d. MMMM yyyy\")}}","visibility":"","type":"text","disableUpdates":false}},{"type":"shape","id":"5e16aedd-f012-4740-a329-2c573fbd071c","elementConfiguration":{"binding":"{{Form.EventOccasion}}","visibility":"","type":"text","disableUpdates":false}},{"type":"shape","id":"96dd8084-0008-4364-bff7-aae0894015a6","elementConfiguration":{"binding":"{{UserProfile.Name}}","visibility":"","type":"text","disableUpdates":false}},{"type":"shape","id":"19a45456-0d4b-46f2-9388-7b520e82ac71","elementConfiguration":{"inheritDimensions":"{{InheritDimensions.InheritNone}}","width":"4.61 cm","height":"1.55 cm","image":"{{UserProfile.UnitId.ExtraLogoRef.ImageRightAlignedNegRef.ImageFile}}","visibility":"","type":"image","disableUpdates":false}},{"type":"shape","id":"9264c2c4-f2d0-4103-a3b0-b92433774dc0","elementConfiguration":{"binding":"{{UserProfile.UnitId.Logo2}}","visibility":"","type":"text","disableUpdates":false}},{"type":"shape","id":"2666298a-86fc-444a-a874-e54959ce963a","elementConfiguration":{"binding":"{{UserProfile.UnitId.Logo1PowerPoint}}","visibility":"","type":"text","disableUpdates":false}},{"type":"shape","id":"9bb828f5-7482-40d7-ad46-6e3527f3bd5b","elementConfiguration":{"binding":"{{UserProfile.UnitId.Logo1PowerPoint}}","visibility":"","type":"text","disableUpdates":false}},{"type":"shape","id":"38be9b53-9de0-44b0-a00b-077370be019e","elementConfiguration":{"binding":"{{FormatDateTime(Form.Date, \"d. MMMM yyyy\")}}","visibility":"","type":"text","disableUpdates":false}},{"type":"shape","id":"eca7e6c2-9fac-41e9-97ea-75511aef87c1","elementConfiguration":{"binding":"{{Form.EventOccasion}}","visibility":"","type":"text","disableUpdates":false}},{"type":"shape","id":"548de48a-e662-4c4f-82fc-973d86f9efca","elementConfiguration":{"binding":"{{Switch(UserProfile.DocumentLanguage.Language,\"da-DK\",UserProfile.Title,\"en-GB\",UserProfile.Title_EN,UserProfile.Title)}}","visibility":"","type":"text","disableUpdates":false}},{"type":"shape","id":"903b0747-68cf-4d5a-8ebc-08ef672c62e9","elementConfiguration":{"binding":"{{UserProfile.Name}}","visibility":"","type":"text","disableUpdates":false}},{"type":"shape","id":"aa5fc7f4-78c3-4e78-a089-695b582cd45c","elementConfiguration":{"inheritDimensions":"{{InheritDimensions.InheritNone}}","width":"4.61 cm","height":"1.55 cm","image":"{{UserProfile.UnitId.ExtraLogoRef.ImageRightAlignedNegRef.ImageFile}}","visibility":"","type":"image","disableUpdates":false}},{"type":"shape","id":"8b49d2b1-c3bc-411b-839c-25b3891777ec","elementConfiguration":{"binding":"{{UserProfile.UnitId.Logo2}}","visibility":"","type":"text","disableUpdates":false}},{"type":"shape","id":"a0ce3d28-5032-41f8-9489-10dd24398e3a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c6P7fnSzy0cMGIfIf4ydqA=="},{"name":"EventOccasion","value":"FoN5LKOkj6rFYeIni8R3k4wEYmGDBg2DON6IWyvM1w4="},{"name":"ChooseColorTheme","value":"fIJQYYzc4r28ocAptXsh80863092pNUn+dVHgSNjfUQ="}]}]]></Templafy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Props1.xml><?xml version="1.0" encoding="utf-8"?>
<ds:datastoreItem xmlns:ds="http://schemas.openxmlformats.org/officeDocument/2006/customXml" ds:itemID="{CDCAD78D-4B75-4D6D-A12C-4D7099050C85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AFC86994-F0FF-421B-841D-005E37E2CB9C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F6BDCACD-D9F5-4F4E-8192-10C1008EFFE8}">
  <ds:schemaRefs/>
</ds:datastoreItem>
</file>

<file path=customXml/itemProps7.xml><?xml version="1.0" encoding="utf-8"?>
<ds:datastoreItem xmlns:ds="http://schemas.openxmlformats.org/officeDocument/2006/customXml" ds:itemID="{E6076CFF-B2D0-45B5-8D6B-A70E14E9B3D8}">
  <ds:schemaRefs/>
</ds:datastoreItem>
</file>

<file path=customXml/itemProps8.xml><?xml version="1.0" encoding="utf-8"?>
<ds:datastoreItem xmlns:ds="http://schemas.openxmlformats.org/officeDocument/2006/customXml" ds:itemID="{D8EFAE61-AC68-4E39-9D00-2ECB552AF7C0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B2CA2D4C-0385-4D99-AB8D-7792A88C817E}">
  <ds:schemaRefs/>
</ds:datastoreItem>
</file>

<file path=customXml/itemProps11.xml><?xml version="1.0" encoding="utf-8"?>
<ds:datastoreItem xmlns:ds="http://schemas.openxmlformats.org/officeDocument/2006/customXml" ds:itemID="{3643F53D-29F6-46FD-9FF1-B40DF29295C1}">
  <ds:schemaRefs/>
</ds:datastoreItem>
</file>

<file path=customXml/itemProps12.xml><?xml version="1.0" encoding="utf-8"?>
<ds:datastoreItem xmlns:ds="http://schemas.openxmlformats.org/officeDocument/2006/customXml" ds:itemID="{7E04581C-D7FD-4482-805D-038A22FDA8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Custom</PresentationFormat>
  <Paragraphs>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Georgia</vt:lpstr>
      <vt:lpstr>AU Peto</vt:lpstr>
      <vt:lpstr>AU Passata</vt:lpstr>
      <vt:lpstr>AU Passata Light</vt:lpstr>
      <vt:lpstr>Calibri</vt:lpstr>
      <vt:lpstr>Arial</vt:lpstr>
      <vt:lpstr>AU 16:9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Gunilla Kristina Jensen</lastModifiedBy>
  <revision>4</revision>
  <dcterms:modified xsi:type="dcterms:W3CDTF">2026-10-28T10:54:48.3281541Z</dcterms:modified>
  <dcterms:created xsi:type="dcterms:W3CDTF">2026-10-28T10:54:48.3281541Z</dcterms:creat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:">
    <vt:lpwstr>omnidocs.com</vt:lpwstr>
  </op:property>
  <op:property fmtid="{D5CDD505-2E9C-101B-9397-08002B2CF9AE}" pid="3" name="colorthemechange">
    <vt:lpwstr>true</vt:lpwstr>
  </op:property>
  <op:property fmtid="{D5CDD505-2E9C-101B-9397-08002B2CF9AE}" pid="4" name="TemplafyTimeStamp">
    <vt:lpwstr>2026-01-26T10:17:35</vt:lpwstr>
  </op:property>
  <op:property fmtid="{D5CDD505-2E9C-101B-9397-08002B2CF9AE}" pid="5" name="TemplafyTenantId">
    <vt:lpwstr>auoffice</vt:lpwstr>
  </op:property>
  <op:property fmtid="{D5CDD505-2E9C-101B-9397-08002B2CF9AE}" pid="6" name="TemplafyTemplateId">
    <vt:lpwstr>766163489789838292</vt:lpwstr>
  </op:property>
  <op:property fmtid="{D5CDD505-2E9C-101B-9397-08002B2CF9AE}" pid="7" name="TemplafyUserProfileId">
    <vt:lpwstr>1338980459474845741</vt:lpwstr>
  </op:property>
  <op:property fmtid="{D5CDD505-2E9C-101B-9397-08002B2CF9AE}" pid="8" name="TemplafyLanguageCode">
    <vt:lpwstr>en-GB</vt:lpwstr>
  </op:property>
  <op:property fmtid="{D5CDD505-2E9C-101B-9397-08002B2CF9AE}" pid="9" name="TemplafyFromBlank">
    <vt:bool>false</vt:bool>
  </op:property>
</op:Properties>
</file>