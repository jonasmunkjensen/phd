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1"/>
  </p:sldMasterIdLst>
  <p:notesMasterIdLst>
    <p:notesMasterId r:id="rId20"/>
  </p:notesMasterIdLst>
  <p:handoutMasterIdLst>
    <p:handoutMasterId r:id="rId21"/>
  </p:handoutMasterIdLst>
  <p:sldIdLst>
    <p:sldId id="261" r:id="rId12"/>
    <p:sldId id="262" r:id="rId13"/>
    <p:sldId id="257" r:id="rId14"/>
    <p:sldId id="258" r:id="rId15"/>
    <p:sldId id="265" r:id="rId16"/>
    <p:sldId id="266" r:id="rId17"/>
    <p:sldId id="264" r:id="rId18"/>
    <p:sldId id="260" r:id="rId19"/>
  </p:sldIdLst>
  <p:sldSz cx="12188825" cy="6858000"/>
  <p:notesSz cx="6797675" cy="9926638"/>
  <p:embeddedFontLst>
    <p:embeddedFont>
      <p:font typeface="AU Passata" panose="020B0604020202020204" charset="0"/>
      <p:regular r:id="rId22"/>
      <p:bold r:id="rId23"/>
    </p:embeddedFont>
    <p:embeddedFont>
      <p:font typeface="AU Passata Light" panose="020B0604020202020204" charset="0"/>
      <p:regular r:id="rId24"/>
      <p:bold r:id="rId25"/>
    </p:embeddedFont>
    <p:embeddedFont>
      <p:font typeface="AU Peto" panose="020B0604020202020204" charset="0"/>
      <p:regular r:id="rId26"/>
      <p:bold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Georgia" panose="02040502050405020303" pitchFamily="18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3" autoAdjust="0"/>
    <p:restoredTop sz="93457" autoAdjust="0"/>
  </p:normalViewPr>
  <p:slideViewPr>
    <p:cSldViewPr snapToObjects="1" showGuides="1">
      <p:cViewPr varScale="1">
        <p:scale>
          <a:sx n="103" d="100"/>
          <a:sy n="103" d="100"/>
        </p:scale>
        <p:origin x="1350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handoutMaster" Target="handoutMasters/handoutMaster1.xml"/><Relationship Id="rId34" Type="http://schemas.openxmlformats.org/officeDocument/2006/relationships/font" Target="fonts/font13.fntdata"/><Relationship Id="rId7" Type="http://schemas.openxmlformats.org/officeDocument/2006/relationships/customXml" Target="../customXml/item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customXml" Target="../customXml/item10.xml"/><Relationship Id="rId19" Type="http://schemas.openxmlformats.org/officeDocument/2006/relationships/slide" Target="slides/slide8.xml"/><Relationship Id="rId31" Type="http://schemas.openxmlformats.org/officeDocument/2006/relationships/font" Target="fonts/font10.fntdata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Overblik over de fem dele. Nævn at del 2 (etik) indeholder en nuanceret gennemgang af et konkret studie, og at del 4 (når det går galt) bygger på virkelige sager.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Definer protokol bredt her. Pointen om "FØR" er det vigtigste at få slået fast — det er selve forskellen på en protokol og en metodebeskrivelse skrevet bagefter.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5" name="Date_DateCustomA" descr="{&quot;templafy&quot;:{&quot;id&quot;:&quot;1abd8f84-53c5-4416-98e5-e8b621ea4107&quot;}}">
            <a:extLst>
              <a:ext uri="{FF2B5EF4-FFF2-40B4-BE49-F238E27FC236}">
                <a16:creationId xmlns:a16="http://schemas.microsoft.com/office/drawing/2014/main" id="{7F20FB0B-AB99-D1DA-4E1C-7C844AE406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1. September 2026</a:t>
            </a:r>
          </a:p>
        </p:txBody>
      </p:sp>
      <p:sp>
        <p:nvSpPr>
          <p:cNvPr id="6" name="FLD_Event" descr="{&quot;templafy&quot;:{&quot;id&quot;:&quot;50a5d100-5ab1-44cd-824c-52940ceba2b0&quot;}}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6" name="USR_Title" descr="{&quot;templafy&quot;:{&quot;id&quot;:&quot;3ec34b93-5eef-40ec-ac1c-d4dbc4cb01f9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PhD Student</a:t>
            </a:r>
          </a:p>
        </p:txBody>
      </p:sp>
      <p:sp>
        <p:nvSpPr>
          <p:cNvPr id="37" name="USR_Name" descr="{&quot;templafy&quot;:{&quot;id&quot;:&quot;8b2a2c64-bd04-4e60-878d-d9d026d6d64e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</a:p>
        </p:txBody>
      </p:sp>
      <p:pic>
        <p:nvPicPr>
          <p:cNvPr id="556140634" name="SecondaryLogo" descr="{&quot;templafy&quot;:{&quot;id&quot;:&quot;e56c902f-0655-4b70-95d1-126b826c458d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764f646e-f5c5-4c24-ab4e-8226b9df2cb4&quot;}}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</a:p>
        </p:txBody>
      </p:sp>
      <p:sp>
        <p:nvSpPr>
          <p:cNvPr id="9" name="OFF_logo1Computed" descr="{&quot;templafy&quot;:{&quot;id&quot;:&quot;a2455af7-e131-4ae0-890e-31e72783842d&quot;}}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8" name="Date_DateCustomA" descr="{&quot;templafy&quot;:{&quot;id&quot;:&quot;439b6729-dde5-4110-a005-e0691006a184&quot;}}">
            <a:extLst>
              <a:ext uri="{FF2B5EF4-FFF2-40B4-BE49-F238E27FC236}">
                <a16:creationId xmlns:a16="http://schemas.microsoft.com/office/drawing/2014/main" id="{249423E2-54F8-7094-38E5-78521186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1. September 2026</a:t>
            </a:r>
          </a:p>
        </p:txBody>
      </p:sp>
      <p:sp>
        <p:nvSpPr>
          <p:cNvPr id="7" name="FLD_Event" descr="{&quot;templafy&quot;:{&quot;id&quot;:&quot;472d34ba-050f-4e9f-a4a1-fdca51257168&quot;}}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 descr="{&quot;templafy&quot;:{&quot;id&quot;:&quot;e29da30f-8fb3-4b67-a963-62e97b7f8946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Jonas Munk Jensen</a:t>
            </a:r>
          </a:p>
        </p:txBody>
      </p:sp>
      <p:pic>
        <p:nvPicPr>
          <p:cNvPr id="1287458953" name="SecondaryLogo" descr="{&quot;templafy&quot;:{&quot;id&quot;:&quot;3f90caa3-e858-474f-8b0c-1d7bd269f18c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0a26c19a-988e-45e3-bf46-8531da288112&quot;}}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</a:p>
        </p:txBody>
      </p:sp>
      <p:sp>
        <p:nvSpPr>
          <p:cNvPr id="10" name="OFF_logo1Computed" descr="{&quot;templafy&quot;:{&quot;id&quot;:&quot;48b984fa-bdff-48fa-8eee-854c8b7f3992&quot;}}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Date_DateCustomA" descr="{&quot;templafy&quot;:{&quot;id&quot;:&quot;ba27dec8-01b3-488d-8277-a038fb66cf70&quot;}}">
            <a:extLst>
              <a:ext uri="{FF2B5EF4-FFF2-40B4-BE49-F238E27FC236}">
                <a16:creationId xmlns:a16="http://schemas.microsoft.com/office/drawing/2014/main" id="{79F28AD6-C756-3FA9-8D35-B9ED537E5D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1. September 2026</a:t>
            </a:r>
          </a:p>
        </p:txBody>
      </p:sp>
      <p:sp>
        <p:nvSpPr>
          <p:cNvPr id="6" name="FLD_Event" descr="{&quot;templafy&quot;:{&quot;id&quot;:&quot;a0c3846a-64e6-467a-a542-30646672f3a8&quot;}}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434335604" name="SecondaryLogo" descr="{&quot;templafy&quot;:{&quot;id&quot;:&quot;3ef7e7c8-b03c-4f7c-9d9a-bca63789ef20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f569fdb4-080b-4f9c-baa0-cf078637b1e1&quot;}}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University</a:t>
            </a:r>
          </a:p>
        </p:txBody>
      </p:sp>
      <p:sp>
        <p:nvSpPr>
          <p:cNvPr id="12" name="OFF_logo1Computed" descr="{&quot;templafy&quot;:{&quot;id&quot;:&quot;9470e686-6663-4cf0-8515-63bde75a3ae7&quot;}}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 descr="{&quot;templafy&quot;:{&quot;id&quot;:&quot;7d70bb9e-84bb-40a8-be64-c13a40d25fd5&quot;}}"/>
          <p:cNvSpPr/>
          <p:nvPr userDrawn="1"/>
        </p:nvSpPr>
        <p:spPr bwMode="auto">
          <a:xfrm>
            <a:off x="6022613" y="2804400"/>
            <a:ext cx="65" cy="739391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Health Sciences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25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27/07/2026</a:t>
            </a:fld>
            <a:endParaRPr lang="en-GB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5" name="Date_DateCustomA" descr="{&quot;templafy&quot;:{&quot;id&quot;:&quot;07133d4c-6ec1-48c5-9910-7ba669a49494&quot;}}">
            <a:extLst>
              <a:ext uri="{FF2B5EF4-FFF2-40B4-BE49-F238E27FC236}">
                <a16:creationId xmlns:a16="http://schemas.microsoft.com/office/drawing/2014/main" id="{2DB864AE-EC00-948C-4AD8-CC3FC72BC8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1. September 2026</a:t>
            </a:r>
          </a:p>
        </p:txBody>
      </p:sp>
      <p:sp>
        <p:nvSpPr>
          <p:cNvPr id="4" name="FLD_Event" descr="{&quot;templafy&quot;:{&quot;id&quot;:&quot;4419c2f4-cee5-4075-92d1-83dc42bafc3a&quot;}}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" name="USR_Title" descr="{&quot;templafy&quot;:{&quot;id&quot;:&quot;202a0be3-1410-481b-9be5-168cf13bc8f7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PhD Student</a:t>
            </a:r>
          </a:p>
        </p:txBody>
      </p:sp>
      <p:sp>
        <p:nvSpPr>
          <p:cNvPr id="21" name="USR_Name" descr="{&quot;templafy&quot;:{&quot;id&quot;:&quot;80f13442-a188-4dd9-b04a-8bd52c5c10e9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Jonas Munk Jensen</a:t>
            </a:r>
          </a:p>
        </p:txBody>
      </p:sp>
      <p:pic>
        <p:nvPicPr>
          <p:cNvPr id="461996497" name="SecondaryLogo_sort" descr="{&quot;templafy&quot;:{&quot;id&quot;:&quot;7ce4b651-0d61-4edc-b95b-bd0863a133db&quot;}}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4fb08aa6-8f01-4359-a581-731802dc84e1&quot;}}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Aarhus University</a:t>
            </a:r>
          </a:p>
        </p:txBody>
      </p:sp>
      <p:sp>
        <p:nvSpPr>
          <p:cNvPr id="26" name="OFF_logo1Computed" descr="{&quot;templafy&quot;:{&quot;id&quot;:&quot;95c9f5f7-bdb9-4a07-a4d2-18120e7cdefe&quot;}}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Health Sciences</a:t>
            </a: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  <p:sldLayoutId id="2147483679" r:id="rId21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5.xml"/><Relationship Id="rId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9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387A470-7D85-086A-DFEF-335E742C6D2E}"/>
              </a:ext>
            </a:extLst>
          </p:cNvPr>
          <p:cNvSpPr/>
          <p:nvPr/>
        </p:nvSpPr>
        <p:spPr>
          <a:xfrm>
            <a:off x="1125860" y="122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OPLÆG · DEN SUNDHEDSFAGLIGE KANDIDATUDDANNELSE</a:t>
            </a:r>
            <a:endParaRPr lang="en-US" sz="13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E79AE01-1F6E-F263-A35A-C8E511F6672F}"/>
              </a:ext>
            </a:extLst>
          </p:cNvPr>
          <p:cNvSpPr/>
          <p:nvPr/>
        </p:nvSpPr>
        <p:spPr>
          <a:xfrm>
            <a:off x="1080140" y="1772816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Udarbejdelse af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forskningsprotokoller</a:t>
            </a:r>
            <a:endParaRPr lang="en-US" sz="4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6797393-CFCA-06F1-75E5-27266F3478D7}"/>
              </a:ext>
            </a:extLst>
          </p:cNvPr>
          <p:cNvSpPr/>
          <p:nvPr/>
        </p:nvSpPr>
        <p:spPr>
          <a:xfrm>
            <a:off x="1138132" y="3560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idé </a:t>
            </a:r>
            <a:r>
              <a:rPr lang="en-US" sz="1600" i="1" dirty="0" err="1">
                <a:solidFill>
                  <a:srgbClr val="7F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r>
              <a:rPr lang="en-US" sz="1600" i="1" dirty="0">
                <a:solidFill>
                  <a:srgbClr val="7F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7F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troværdig</a:t>
            </a:r>
            <a:r>
              <a:rPr lang="en-US" sz="1600" i="1" dirty="0">
                <a:solidFill>
                  <a:srgbClr val="7F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7FA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forskning</a:t>
            </a:r>
            <a:endParaRPr lang="en-US" sz="1600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Hvem</a:t>
            </a:r>
            <a:r>
              <a:rPr lang="en-GB" noProof="0" dirty="0"/>
              <a:t> er </a:t>
            </a:r>
            <a:r>
              <a:rPr lang="en-GB" noProof="0" dirty="0" err="1"/>
              <a:t>jeg</a:t>
            </a:r>
            <a:r>
              <a:rPr lang="en-GB" noProof="0" dirty="0"/>
              <a:t>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1902A9-72EE-C126-C724-01CA8FD0F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5176" y="2105805"/>
            <a:ext cx="10365158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a-DK" altLang="da-D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2025 –</a:t>
            </a:r>
            <a:r>
              <a:rPr kumimoji="0" lang="da-DK" altLang="da-D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	Ph.d.-studerende, Aarhus Universitet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a-DK" altLang="da-D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2020 – 2025</a:t>
            </a:r>
            <a:r>
              <a:rPr kumimoji="0" lang="da-DK" altLang="da-D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Forskningsassistent, Steno Diabetes Center Aarhus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a-DK" altLang="da-D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2020</a:t>
            </a:r>
            <a:r>
              <a:rPr kumimoji="0" lang="da-DK" altLang="da-D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	Forskningsassistent, Institut for </a:t>
            </a:r>
            <a:r>
              <a:rPr kumimoji="0" lang="da-DK" altLang="da-DK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Neurovidenskab</a:t>
            </a:r>
            <a:r>
              <a:rPr kumimoji="0" lang="da-DK" altLang="da-D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Københavns Universitet </a:t>
            </a:r>
            <a:endParaRPr kumimoji="0" lang="da-DK" altLang="da-D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da-DK" altLang="da-DK" sz="1800" b="1" dirty="0">
                <a:latin typeface="Arial" panose="020B0604020202020204" pitchFamily="34" charset="0"/>
              </a:rPr>
              <a:t>2019		</a:t>
            </a:r>
            <a:r>
              <a:rPr lang="da-DK" altLang="da-DK" sz="1800" b="1" dirty="0" err="1">
                <a:latin typeface="Arial" panose="020B0604020202020204" pitchFamily="34" charset="0"/>
              </a:rPr>
              <a:t>Cand.scient.san</a:t>
            </a:r>
            <a:r>
              <a:rPr lang="da-DK" altLang="da-DK" sz="1800" b="1" dirty="0">
                <a:latin typeface="Arial" panose="020B0604020202020204" pitchFamily="34" charset="0"/>
              </a:rPr>
              <a:t> – Københavns Universitet</a:t>
            </a:r>
          </a:p>
          <a:p>
            <a:pPr eaLnBrk="0" hangingPunct="0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da-DK" altLang="da-DK" sz="1800" b="1" dirty="0">
                <a:latin typeface="Arial" panose="020B0604020202020204" pitchFamily="34" charset="0"/>
              </a:rPr>
              <a:t>2015 – 2016</a:t>
            </a:r>
            <a:r>
              <a:rPr lang="da-DK" altLang="da-DK" sz="1800" dirty="0">
                <a:latin typeface="Arial" panose="020B0604020202020204" pitchFamily="34" charset="0"/>
              </a:rPr>
              <a:t> 	Frivillig fysioterapeut, Thailand (Raindrop Friends)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a-DK" altLang="da-D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2014 – 2018</a:t>
            </a:r>
            <a:r>
              <a:rPr kumimoji="0" lang="da-DK" altLang="da-D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Frederiksberg Sundhedscenter (Geriatri, neurologi, hverdagsrehabilitering)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a-DK" altLang="da-DK" sz="1800" b="1" dirty="0">
                <a:latin typeface="Arial" panose="020B0604020202020204" pitchFamily="34" charset="0"/>
              </a:rPr>
              <a:t>2014		</a:t>
            </a:r>
            <a:r>
              <a:rPr lang="da-DK" altLang="da-DK" sz="1800" dirty="0">
                <a:latin typeface="Arial" panose="020B0604020202020204" pitchFamily="34" charset="0"/>
              </a:rPr>
              <a:t>Fysioterapeut – </a:t>
            </a:r>
            <a:r>
              <a:rPr lang="da-DK" altLang="da-DK" sz="1800" dirty="0" err="1">
                <a:latin typeface="Arial" panose="020B0604020202020204" pitchFamily="34" charset="0"/>
              </a:rPr>
              <a:t>Ph</a:t>
            </a:r>
            <a:r>
              <a:rPr lang="da-DK" altLang="da-DK" sz="1800" dirty="0">
                <a:latin typeface="Arial" panose="020B0604020202020204" pitchFamily="34" charset="0"/>
              </a:rPr>
              <a:t>. Metropol, København</a:t>
            </a:r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81336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29474" y="415363"/>
            <a:ext cx="11061359" cy="777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99" b="1" dirty="0" err="1">
                <a:solidFill>
                  <a:srgbClr val="1A2E2E"/>
                </a:solidFill>
                <a:latin typeface="+mj-lt"/>
                <a:ea typeface="Cambria" pitchFamily="34" charset="-122"/>
                <a:cs typeface="Cambria" pitchFamily="34" charset="-120"/>
              </a:rPr>
              <a:t>Dagsorden</a:t>
            </a:r>
            <a:endParaRPr lang="en-US" sz="2999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062" y="1462771"/>
            <a:ext cx="621630" cy="62163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a-DK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/home/claude/protokol_deck/asset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253" y="1611962"/>
            <a:ext cx="323248" cy="3232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45940" y="1435346"/>
            <a:ext cx="998264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E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 · Grundlag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845940" y="1791869"/>
            <a:ext cx="9982648" cy="6033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Hvad er en protokol, og hvad kan den bruges til?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50062" y="2395216"/>
            <a:ext cx="621630" cy="62163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da-DK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/home/claude/protokol_deck/asset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253" y="2544407"/>
            <a:ext cx="323248" cy="3232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45940" y="2367791"/>
            <a:ext cx="998264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E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 · Etik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845940" y="2724314"/>
            <a:ext cx="9982648" cy="6033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Hvorfor skrive protokollen </a:t>
            </a:r>
            <a:r>
              <a:rPr lang="en-US" sz="1200" dirty="0" err="1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først</a:t>
            </a:r>
            <a:r>
              <a:rPr lang="en-US" sz="1200" dirty="0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?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50062" y="3327661"/>
            <a:ext cx="621630" cy="62163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a-DK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2" descr="/home/claude/protokol_deck/asset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253" y="3476852"/>
            <a:ext cx="323248" cy="3232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45940" y="3300236"/>
            <a:ext cx="998264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E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 · Standarder &amp; skabeloner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845940" y="3656759"/>
            <a:ext cx="9982648" cy="6033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SPIRIT, CONSORT etc. — på tværs af paradigmer.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950062" y="4260106"/>
            <a:ext cx="621630" cy="62163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a-DK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3" descr="/home/claude/protokol_deck/asset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253" y="4409297"/>
            <a:ext cx="323248" cy="3232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45940" y="4232681"/>
            <a:ext cx="998264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E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 · Når det går galt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845940" y="4589204"/>
            <a:ext cx="9982648" cy="6033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Et konkret eksempel, og hvorfor ændringer ikke i sig selv er problemet.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950062" y="5192551"/>
            <a:ext cx="621630" cy="62163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da-DK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age 4" descr="/home/claude/protokol_deck/assets/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253" y="5341742"/>
            <a:ext cx="323248" cy="3232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845940" y="5165126"/>
            <a:ext cx="9982648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E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 · Værdien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845940" y="5521649"/>
            <a:ext cx="9982648" cy="6033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Hvad </a:t>
            </a:r>
            <a:r>
              <a:rPr lang="en-US" sz="1200" dirty="0" err="1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protokollen</a:t>
            </a:r>
            <a:r>
              <a:rPr lang="en-US" sz="1200" dirty="0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giver </a:t>
            </a:r>
            <a:r>
              <a:rPr lang="en-US" sz="1200" dirty="0" err="1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ud</a:t>
            </a:r>
            <a:r>
              <a:rPr lang="en-US" sz="1200" dirty="0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over </a:t>
            </a:r>
            <a:r>
              <a:rPr lang="en-US" sz="1200" dirty="0" err="1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ordentlighed</a:t>
            </a:r>
            <a:r>
              <a:rPr lang="en-US" sz="1200" dirty="0">
                <a:solidFill>
                  <a:srgbClr val="5C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496" y="366558"/>
            <a:ext cx="10512862" cy="292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00" dirty="0">
                <a:solidFill>
                  <a:srgbClr val="01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GRUNDLAG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496" y="677373"/>
            <a:ext cx="11061359" cy="777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99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Hvad er en protokol?</a:t>
            </a:r>
            <a:endParaRPr lang="en-US" sz="2999" dirty="0"/>
          </a:p>
        </p:txBody>
      </p:sp>
      <p:sp>
        <p:nvSpPr>
          <p:cNvPr id="4" name="Text 2"/>
          <p:cNvSpPr/>
          <p:nvPr/>
        </p:nvSpPr>
        <p:spPr>
          <a:xfrm>
            <a:off x="639913" y="1829217"/>
            <a:ext cx="5210723" cy="1554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699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protokol er et skriftligt dokument, der beskriver et studies formål, hypoteser, design, metode og analyseplan.</a:t>
            </a:r>
            <a:endParaRPr lang="en-US" sz="1699" dirty="0"/>
          </a:p>
        </p:txBody>
      </p:sp>
      <p:sp>
        <p:nvSpPr>
          <p:cNvPr id="5" name="Shape 3"/>
          <p:cNvSpPr/>
          <p:nvPr/>
        </p:nvSpPr>
        <p:spPr>
          <a:xfrm>
            <a:off x="639913" y="3520416"/>
            <a:ext cx="5210723" cy="1005578"/>
          </a:xfrm>
          <a:prstGeom prst="roundRect">
            <a:avLst>
              <a:gd name="adj" fmla="val 7273"/>
            </a:avLst>
          </a:prstGeom>
          <a:solidFill>
            <a:srgbClr val="EEF6F5"/>
          </a:solidFill>
          <a:ln/>
        </p:spPr>
        <p:txBody>
          <a:bodyPr/>
          <a:lstStyle/>
          <a:p>
            <a:endParaRPr lang="da-DK" sz="4798"/>
          </a:p>
        </p:txBody>
      </p:sp>
      <p:sp>
        <p:nvSpPr>
          <p:cNvPr id="6" name="Text 4"/>
          <p:cNvSpPr/>
          <p:nvPr/>
        </p:nvSpPr>
        <p:spPr>
          <a:xfrm>
            <a:off x="868453" y="3657540"/>
            <a:ext cx="4753642" cy="31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1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afgørende ord er FØR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453" y="3977497"/>
            <a:ext cx="4753642" cy="457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2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Protokollen skrives, før data indsamles eller ses — ikke som dokumentation bagefter.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7716" y="1783508"/>
            <a:ext cx="5210723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PROTOKOL BESKRIVER TYPISK: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7716" y="2194881"/>
            <a:ext cx="502789" cy="502789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a-DK" sz="4798"/>
          </a:p>
        </p:txBody>
      </p:sp>
      <p:pic>
        <p:nvPicPr>
          <p:cNvPr id="10" name="Image 0" descr="/home/claude/protokol_deck/asset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386" y="2315551"/>
            <a:ext cx="261450" cy="2614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93338" y="2213165"/>
            <a:ext cx="4525101" cy="457081"/>
          </a:xfrm>
          <a:prstGeom prst="roundRect">
            <a:avLst>
              <a:gd name="adj" fmla="val 12000"/>
            </a:avLst>
          </a:prstGeom>
          <a:solidFill>
            <a:srgbClr val="E3F1EF"/>
          </a:solidFill>
          <a:ln/>
        </p:spPr>
        <p:txBody>
          <a:bodyPr/>
          <a:lstStyle/>
          <a:p>
            <a:endParaRPr lang="da-DK" sz="4798"/>
          </a:p>
        </p:txBody>
      </p:sp>
      <p:sp>
        <p:nvSpPr>
          <p:cNvPr id="12" name="Text 9"/>
          <p:cNvSpPr/>
          <p:nvPr/>
        </p:nvSpPr>
        <p:spPr>
          <a:xfrm>
            <a:off x="7176170" y="2213165"/>
            <a:ext cx="4205145" cy="279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Formål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7716" y="2971919"/>
            <a:ext cx="502789" cy="502789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da-DK" sz="4798"/>
          </a:p>
        </p:txBody>
      </p:sp>
      <p:pic>
        <p:nvPicPr>
          <p:cNvPr id="14" name="Image 1" descr="/home/claude/protokol_deck/assets/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386" y="3092589"/>
            <a:ext cx="261450" cy="2614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993338" y="2990202"/>
            <a:ext cx="4525101" cy="457081"/>
          </a:xfrm>
          <a:prstGeom prst="roundRect">
            <a:avLst>
              <a:gd name="adj" fmla="val 12000"/>
            </a:avLst>
          </a:prstGeom>
          <a:solidFill>
            <a:srgbClr val="E3F1EF"/>
          </a:solidFill>
          <a:ln/>
        </p:spPr>
        <p:txBody>
          <a:bodyPr/>
          <a:lstStyle/>
          <a:p>
            <a:endParaRPr lang="da-DK" sz="4798"/>
          </a:p>
        </p:txBody>
      </p:sp>
      <p:sp>
        <p:nvSpPr>
          <p:cNvPr id="16" name="Text 12"/>
          <p:cNvSpPr/>
          <p:nvPr/>
        </p:nvSpPr>
        <p:spPr>
          <a:xfrm>
            <a:off x="7176170" y="2990202"/>
            <a:ext cx="4205145" cy="457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Hypoteser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307716" y="3748957"/>
            <a:ext cx="502789" cy="502789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a-DK" sz="4798"/>
          </a:p>
        </p:txBody>
      </p:sp>
      <p:pic>
        <p:nvPicPr>
          <p:cNvPr id="18" name="Image 2" descr="/home/claude/protokol_deck/asset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386" y="3869626"/>
            <a:ext cx="261450" cy="2614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93338" y="3767240"/>
            <a:ext cx="4525101" cy="457081"/>
          </a:xfrm>
          <a:prstGeom prst="roundRect">
            <a:avLst>
              <a:gd name="adj" fmla="val 12000"/>
            </a:avLst>
          </a:prstGeom>
          <a:solidFill>
            <a:srgbClr val="E3F1EF"/>
          </a:solidFill>
          <a:ln/>
        </p:spPr>
        <p:txBody>
          <a:bodyPr/>
          <a:lstStyle/>
          <a:p>
            <a:endParaRPr lang="da-DK" sz="4798"/>
          </a:p>
        </p:txBody>
      </p:sp>
      <p:sp>
        <p:nvSpPr>
          <p:cNvPr id="20" name="Text 15"/>
          <p:cNvSpPr/>
          <p:nvPr/>
        </p:nvSpPr>
        <p:spPr>
          <a:xfrm>
            <a:off x="7176170" y="3767240"/>
            <a:ext cx="4205145" cy="457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307716" y="4525994"/>
            <a:ext cx="502789" cy="502789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da-DK" sz="4798"/>
          </a:p>
        </p:txBody>
      </p:sp>
      <p:pic>
        <p:nvPicPr>
          <p:cNvPr id="22" name="Image 3" descr="/home/claude/protokol_deck/asset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386" y="4646664"/>
            <a:ext cx="261450" cy="26145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93338" y="4544277"/>
            <a:ext cx="4525101" cy="457081"/>
          </a:xfrm>
          <a:prstGeom prst="roundRect">
            <a:avLst>
              <a:gd name="adj" fmla="val 12000"/>
            </a:avLst>
          </a:prstGeom>
          <a:solidFill>
            <a:srgbClr val="E3F1EF"/>
          </a:solidFill>
          <a:ln/>
        </p:spPr>
        <p:txBody>
          <a:bodyPr/>
          <a:lstStyle/>
          <a:p>
            <a:endParaRPr lang="da-DK" sz="4798"/>
          </a:p>
        </p:txBody>
      </p:sp>
      <p:sp>
        <p:nvSpPr>
          <p:cNvPr id="24" name="Text 18"/>
          <p:cNvSpPr/>
          <p:nvPr/>
        </p:nvSpPr>
        <p:spPr>
          <a:xfrm>
            <a:off x="7176170" y="4544277"/>
            <a:ext cx="4205145" cy="457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307716" y="5303032"/>
            <a:ext cx="502789" cy="502789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da-DK" sz="4798"/>
          </a:p>
        </p:txBody>
      </p:sp>
      <p:pic>
        <p:nvPicPr>
          <p:cNvPr id="26" name="Image 4" descr="/home/claude/protokol_deck/asset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386" y="5423701"/>
            <a:ext cx="261450" cy="26145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993338" y="5321315"/>
            <a:ext cx="4525101" cy="457081"/>
          </a:xfrm>
          <a:prstGeom prst="roundRect">
            <a:avLst>
              <a:gd name="adj" fmla="val 12000"/>
            </a:avLst>
          </a:prstGeom>
          <a:solidFill>
            <a:srgbClr val="E3F1EF"/>
          </a:solidFill>
          <a:ln/>
        </p:spPr>
        <p:txBody>
          <a:bodyPr/>
          <a:lstStyle/>
          <a:p>
            <a:endParaRPr lang="da-DK" sz="4798"/>
          </a:p>
        </p:txBody>
      </p:sp>
      <p:sp>
        <p:nvSpPr>
          <p:cNvPr id="28" name="Text 21"/>
          <p:cNvSpPr/>
          <p:nvPr/>
        </p:nvSpPr>
        <p:spPr>
          <a:xfrm>
            <a:off x="7176170" y="5321315"/>
            <a:ext cx="4205145" cy="457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Analyseplan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48497" y="6473159"/>
            <a:ext cx="5484971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5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FORSKNINGSPROTOKOLLER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878526" y="6473159"/>
            <a:ext cx="822746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C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C52B7-A604-CB14-AA8F-141528C4E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89773B4-3D47-89B1-F562-3A43DEC53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A106403-7698-7998-9254-E2BAE4D2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92DBB-8BCF-461B-92E2-2BC1C4DE508A}" type="datetime1">
              <a:rPr lang="en-GB" smtClean="0"/>
              <a:t>28/07/2026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4078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CB9EF00-12E0-85E9-90A3-95D6373D48F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EFB8E9-9CE5-4E4A-80AE-45C45DD236F8}" type="datetime1">
              <a:rPr lang="en-GB" smtClean="0"/>
              <a:t>28/07/2026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219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BD85B7D-E9A5-49E0-8ACF-AF93CE3E556F}" type="datetime1">
              <a:rPr lang="en-GB" noProof="0" smtClean="0"/>
              <a:t>27/07/2026</a:t>
            </a:fld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en-GB" noProof="0" dirty="0"/>
              <a:t>Insert Quote text, for next level ENTER and TAB</a:t>
            </a:r>
            <a:endParaRPr lang="en-GB"/>
          </a:p>
          <a:p>
            <a:pPr lvl="1"/>
            <a:r>
              <a:rPr lang="en-GB" noProof="0" dirty="0"/>
              <a:t>Insert Name</a:t>
            </a:r>
            <a:endParaRPr lang="en-GB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86159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9022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a="http://schemas.openxmlformats.org/drawingml/2006/main" name="AU 16:9">
  <a:themeElements>
    <a:clrScheme name="07 AU Orange">
      <a:dk1>
        <a:srgbClr val="000000"/>
      </a:dk1>
      <a:lt1>
        <a:srgbClr val="FFFFFF"/>
      </a:lt1>
      <a:dk2>
        <a:srgbClr val="5F3408"/>
      </a:dk2>
      <a:lt2>
        <a:srgbClr val="5F3408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TySe/pQ98XO28pDiLwy9rA=="},{"name":"ChooseColorTheme","value":"4mqjGZr9sTNxNY9tWDzo2fSAs7zcIKfFRnLJ7p4BGmk="}]}]]></TemplafyFormConfiguration>
</file>

<file path=customXml/item2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3.xml><?xml version="1.0" encoding="utf-8"?>
<TemplafySlideTemplateConfiguration><![CDATA[{"slideVersion":4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Switch(UserProfile.DocumentLanguage.Language,\"da-DK\",UserProfile.Title,\"en-GB\",UserProfile.Title_EN,UserProfile.Title)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4,"isValidatorEnabled":false,"isLocked":false,"elementsMetadata":[],"slideId":"638344221285055523","enableDocumentContentUpdater":false,"version":"2.0"}]]></TemplafySlideTemplateConfiguration>
</file>

<file path=customXml/item6.xml><?xml version="1.0" encoding="utf-8"?>
<TemplafyTemplateConfiguration><![CDATA[{"elementsMetadata":[{"type":"shape","id":"07133d4c-6ec1-48c5-9910-7ba669a49494","elementConfiguration":{"binding":"{{FormatDateTime(Form.Date, \"d. MMMM yyyy\")}}","visibility":"","type":"text","disableUpdates":false}},{"type":"shape","id":"4419c2f4-cee5-4075-92d1-83dc42bafc3a","elementConfiguration":{"binding":"{{Form.EventOccasion}}","visibility":"","type":"text","disableUpdates":false}},{"type":"shape","id":"202a0be3-1410-481b-9be5-168cf13bc8f7","elementConfiguration":{"binding":"{{Switch(UserProfile.DocumentLanguage.Language,\"da-DK\",UserProfile.Title,\"en-GB\",UserProfile.Title_EN,UserProfile.Title)}}","visibility":"","type":"text","disableUpdates":false}},{"type":"shape","id":"80f13442-a188-4dd9-b04a-8bd52c5c10e9","elementConfiguration":{"binding":"{{UserProfile.Name}}","visibility":"","type":"text","disableUpdates":false}},{"type":"shape","id":"7ce4b651-0d61-4edc-b95b-bd0863a133db","elementConfiguration":{"inheritDimensions":"{{InheritDimensions.InheritNone}}","width":"4.61 cm","height":"1.55 cm","image":"{{UserProfile.UnitId.ExtraLogoRef.ImageRightAlignedRef.ImageFile}}","visibility":"","type":"image","disableUpdates":false}},{"type":"shape","id":"4fb08aa6-8f01-4359-a581-731802dc84e1","elementConfiguration":{"binding":"{{UserProfile.UnitId.Logo2}}","visibility":"","type":"text","disableUpdates":false}},{"type":"shape","id":"95c9f5f7-bdb9-4a07-a4d2-18120e7cdefe","elementConfiguration":{"binding":"{{UserProfile.UnitId.Logo1PowerPoint}}","visibility":"","type":"text","disableUpdates":false}},{"type":"shape","id":"ba27dec8-01b3-488d-8277-a038fb66cf70","elementConfiguration":{"binding":"{{FormatDateTime(Form.Date, \"d. MMMM yyyy\")}}","visibility":"","type":"text","disableUpdates":false}},{"type":"shape","id":"a0c3846a-64e6-467a-a542-30646672f3a8","elementConfiguration":{"binding":"{{Form.EventOccasion}}","visibility":"","type":"text","disableUpdates":false}},{"type":"shape","id":"3ef7e7c8-b03c-4f7c-9d9a-bca63789ef20","elementConfiguration":{"inheritDimensions":"{{InheritDimensions.InheritNone}}","width":"4.61 cm","height":"1.55 cm","image":"{{UserProfile.UnitId.ExtraLogoRef.ImageRightAlignedNegRef.ImageFile}}","visibility":"","type":"image","disableUpdates":false}},{"type":"shape","id":"f569fdb4-080b-4f9c-baa0-cf078637b1e1","elementConfiguration":{"binding":"{{UserProfile.UnitId.Logo2}}","visibility":"","type":"text","disableUpdates":false}},{"type":"shape","id":"9470e686-6663-4cf0-8515-63bde75a3ae7","elementConfiguration":{"binding":"{{UserProfile.UnitId.Logo1PowerPoint}}","visibility":"","type":"text","disableUpdates":false}},{"type":"shape","id":"439b6729-dde5-4110-a005-e0691006a184","elementConfiguration":{"binding":"{{FormatDateTime(Form.Date, \"d. MMMM yyyy\")}}","visibility":"","type":"text","disableUpdates":false}},{"type":"shape","id":"472d34ba-050f-4e9f-a4a1-fdca51257168","elementConfiguration":{"binding":"{{Form.EventOccasion}}","visibility":"","type":"text","disableUpdates":false}},{"type":"shape","id":"e29da30f-8fb3-4b67-a963-62e97b7f8946","elementConfiguration":{"binding":"{{UserProfile.Name}}","visibility":"","type":"text","disableUpdates":false}},{"type":"shape","id":"3f90caa3-e858-474f-8b0c-1d7bd269f18c","elementConfiguration":{"inheritDimensions":"{{InheritDimensions.InheritNone}}","width":"4.61 cm","height":"1.55 cm","image":"{{UserProfile.UnitId.ExtraLogoRef.ImageRightAlignedNegRef.ImageFile}}","visibility":"","type":"image","disableUpdates":false}},{"type":"shape","id":"0a26c19a-988e-45e3-bf46-8531da288112","elementConfiguration":{"binding":"{{UserProfile.UnitId.Logo2}}","visibility":"","type":"text","disableUpdates":false}},{"type":"shape","id":"48b984fa-bdff-48fa-8eee-854c8b7f3992","elementConfiguration":{"binding":"{{UserProfile.UnitId.Logo1PowerPoint}}","visibility":"","type":"text","disableUpdates":false}},{"type":"shape","id":"7d70bb9e-84bb-40a8-be64-c13a40d25fd5","elementConfiguration":{"binding":"{{UserProfile.UnitId.Logo1PowerPoint}}","visibility":"","type":"text","disableUpdates":false}},{"type":"shape","id":"1abd8f84-53c5-4416-98e5-e8b621ea4107","elementConfiguration":{"binding":"{{FormatDateTime(Form.Date, \"d. MMMM yyyy\")}}","visibility":"","type":"text","disableUpdates":false}},{"type":"shape","id":"50a5d100-5ab1-44cd-824c-52940ceba2b0","elementConfiguration":{"binding":"{{Form.EventOccasion}}","visibility":"","type":"text","disableUpdates":false}},{"type":"shape","id":"3ec34b93-5eef-40ec-ac1c-d4dbc4cb01f9","elementConfiguration":{"binding":"{{Switch(UserProfile.DocumentLanguage.Language,\"da-DK\",UserProfile.Title,\"en-GB\",UserProfile.Title_EN,UserProfile.Title)}}","visibility":"","type":"text","disableUpdates":false}},{"type":"shape","id":"8b2a2c64-bd04-4e60-878d-d9d026d6d64e","elementConfiguration":{"binding":"{{UserProfile.Name}}","visibility":"","type":"text","disableUpdates":false}},{"type":"shape","id":"e56c902f-0655-4b70-95d1-126b826c458d","elementConfiguration":{"inheritDimensions":"{{InheritDimensions.InheritNone}}","width":"4.61 cm","height":"1.55 cm","image":"{{UserProfile.UnitId.ExtraLogoRef.ImageRightAlignedNegRef.ImageFile}}","visibility":"","type":"image","disableUpdates":false}},{"type":"shape","id":"764f646e-f5c5-4c24-ab4e-8226b9df2cb4","elementConfiguration":{"binding":"{{UserProfile.UnitId.Logo2}}","visibility":"","type":"text","disableUpdates":false}},{"type":"shape","id":"a2455af7-e131-4ae0-890e-31e72783842d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7.xml><?xml version="1.0" encoding="utf-8"?>
<TemplafySlideTemplateConfiguration><![CDATA[{"slideVersion":4,"isValidatorEnabled":false,"isLocked":false,"elementsMetadata":[],"slideId":"638344221285091994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4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7DA86E9B-4135-4144-9EBF-FD9F3AFEC348}">
  <ds:schemaRefs/>
</ds:datastoreItem>
</file>

<file path=customXml/itemProps2.xml><?xml version="1.0" encoding="utf-8"?>
<ds:datastoreItem xmlns:ds="http://schemas.openxmlformats.org/officeDocument/2006/customXml" ds:itemID="{7E04581C-D7FD-4482-805D-038A22FDA87B}">
  <ds:schemaRefs/>
</ds:datastoreItem>
</file>

<file path=customXml/itemProps3.xml><?xml version="1.0" encoding="utf-8"?>
<ds:datastoreItem xmlns:ds="http://schemas.openxmlformats.org/officeDocument/2006/customXml" ds:itemID="{B2CA2D4C-0385-4D99-AB8D-7792A88C817E}">
  <ds:schemaRefs/>
</ds:datastoreItem>
</file>

<file path=customXml/itemProps4.xml><?xml version="1.0" encoding="utf-8"?>
<ds:datastoreItem xmlns:ds="http://schemas.openxmlformats.org/officeDocument/2006/customXml" ds:itemID="{E6076CFF-B2D0-45B5-8D6B-A70E14E9B3D8}">
  <ds:schemaRefs/>
</ds:datastoreItem>
</file>

<file path=customXml/itemProps5.xml><?xml version="1.0" encoding="utf-8"?>
<ds:datastoreItem xmlns:ds="http://schemas.openxmlformats.org/officeDocument/2006/customXml" ds:itemID="{3711B4B0-0534-4D87-9554-EE0E3A45C434}">
  <ds:schemaRefs/>
</ds:datastoreItem>
</file>

<file path=customXml/itemProps6.xml><?xml version="1.0" encoding="utf-8"?>
<ds:datastoreItem xmlns:ds="http://schemas.openxmlformats.org/officeDocument/2006/customXml" ds:itemID="{AFC86994-F0FF-421B-841D-005E37E2CB9C}">
  <ds:schemaRefs/>
</ds:datastoreItem>
</file>

<file path=customXml/itemProps7.xml><?xml version="1.0" encoding="utf-8"?>
<ds:datastoreItem xmlns:ds="http://schemas.openxmlformats.org/officeDocument/2006/customXml" ds:itemID="{D8EFAE61-AC68-4E39-9D00-2ECB552AF7C0}">
  <ds:schemaRefs/>
</ds:datastoreItem>
</file>

<file path=customXml/itemProps8.xml><?xml version="1.0" encoding="utf-8"?>
<ds:datastoreItem xmlns:ds="http://schemas.openxmlformats.org/officeDocument/2006/customXml" ds:itemID="{065744AD-6466-4C46-AE6F-83D8FBC1C1CF}">
  <ds:schemaRefs/>
</ds:datastoreItem>
</file>

<file path=customXml/itemProps9.xml><?xml version="1.0" encoding="utf-8"?>
<ds:datastoreItem xmlns:ds="http://schemas.openxmlformats.org/officeDocument/2006/customXml" ds:itemID="{F6929CAD-9C4B-4C57-B5A5-181E7E3C58CB}">
  <ds:schemaRefs/>
</ds:datastoreItem>
</file>

<file path=customXml/itemProps10.xml><?xml version="1.0" encoding="utf-8"?>
<ds:datastoreItem xmlns:ds="http://schemas.openxmlformats.org/officeDocument/2006/customXml" ds:itemID="{F6BDCACD-D9F5-4F4E-8192-10C1008EFFE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Office PowerPoint</Application>
  <PresentationFormat>Brugerdefineret</PresentationFormat>
  <Paragraphs>46</Paragraphs>
  <Slides>8</Slides>
  <Notes>3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6" baseType="lpstr">
      <vt:lpstr>Calibri</vt:lpstr>
      <vt:lpstr>AU Passata</vt:lpstr>
      <vt:lpstr>Cambria</vt:lpstr>
      <vt:lpstr>Arial</vt:lpstr>
      <vt:lpstr>AU Peto</vt:lpstr>
      <vt:lpstr>Georgia</vt:lpstr>
      <vt:lpstr>AU Passata Light</vt:lpstr>
      <vt:lpstr>AU 16:9</vt:lpstr>
      <vt:lpstr>PowerPoint-præsentation</vt:lpstr>
      <vt:lpstr>Hvem er jeg?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Jonas Munk Jensen</cp:lastModifiedBy>
  <cp:revision>8</cp:revision>
  <dcterms:created xsi:type="dcterms:W3CDTF">2026-07-07T17:53:48Z</dcterms:created>
  <dcterms:modified xsi:type="dcterms:W3CDTF">2026-07-28T12:23:49Z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omnidocs.com</vt:lpwstr>
  </property>
  <property fmtid="{D5CDD505-2E9C-101B-9397-08002B2CF9AE}" pid="3" name="colorthemechange">
    <vt:lpwstr>true</vt:lpwstr>
  </property>
  <property fmtid="{D5CDD505-2E9C-101B-9397-08002B2CF9AE}" pid="4" name="TemplafyTimeStamp">
    <vt:lpwstr>2026-01-26T10:17:35</vt:lpwstr>
  </property>
  <property fmtid="{D5CDD505-2E9C-101B-9397-08002B2CF9AE}" pid="5" name="TemplafyTenantId">
    <vt:lpwstr>auoffice</vt:lpwstr>
  </property>
  <property fmtid="{D5CDD505-2E9C-101B-9397-08002B2CF9AE}" pid="6" name="TemplafyTemplateId">
    <vt:lpwstr>766163489789838292</vt:lpwstr>
  </property>
  <property fmtid="{D5CDD505-2E9C-101B-9397-08002B2CF9AE}" pid="7" name="TemplafyUserProfileId">
    <vt:lpwstr>1338980459474845741</vt:lpwstr>
  </property>
  <property fmtid="{D5CDD505-2E9C-101B-9397-08002B2CF9AE}" pid="8" name="TemplafyLanguageCode">
    <vt:lpwstr>en-GB</vt:lpwstr>
  </property>
  <property fmtid="{D5CDD505-2E9C-101B-9397-08002B2CF9AE}" pid="9" name="TemplafyFromBlank">
    <vt:bool>false</vt:bool>
  </property>
</Properties>
</file>