
<file path=[Content_Types].xml><?xml version="1.0" encoding="utf-8"?>
<Types xmlns="http://schemas.openxmlformats.org/package/2006/content-types">
  <Default Extension="bin" ContentType="image/png"/>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5.xml" ContentType="application/vnd.openxmlformats-officedocument.presentationml.tags+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48" r:id="rId21"/>
  </p:sldMasterIdLst>
  <p:notesMasterIdLst>
    <p:notesMasterId r:id="rId43"/>
  </p:notesMasterIdLst>
  <p:handoutMasterIdLst>
    <p:handoutMasterId r:id="rId44"/>
  </p:handoutMasterIdLst>
  <p:sldIdLst>
    <p:sldId id="261" r:id="rId22"/>
    <p:sldId id="285" r:id="rId23"/>
    <p:sldId id="269" r:id="rId24"/>
    <p:sldId id="271" r:id="rId25"/>
    <p:sldId id="284" r:id="rId26"/>
    <p:sldId id="265" r:id="rId27"/>
    <p:sldId id="268" r:id="rId28"/>
    <p:sldId id="267" r:id="rId29"/>
    <p:sldId id="258" r:id="rId30"/>
    <p:sldId id="264" r:id="rId31"/>
    <p:sldId id="272" r:id="rId32"/>
    <p:sldId id="274" r:id="rId33"/>
    <p:sldId id="279" r:id="rId34"/>
    <p:sldId id="275" r:id="rId35"/>
    <p:sldId id="282" r:id="rId36"/>
    <p:sldId id="277" r:id="rId37"/>
    <p:sldId id="278" r:id="rId38"/>
    <p:sldId id="280" r:id="rId39"/>
    <p:sldId id="281" r:id="rId40"/>
    <p:sldId id="273" r:id="rId41"/>
    <p:sldId id="260" r:id="rId42"/>
  </p:sldIdLst>
  <p:sldSz cx="12188825" cy="6858000"/>
  <p:notesSz cx="6797675" cy="9926638"/>
  <p:embeddedFontLst>
    <p:embeddedFont>
      <p:font typeface="AU Passata" panose="020B0604020202020204" charset="0"/>
      <p:regular r:id="rId45"/>
      <p:bold r:id="rId46"/>
    </p:embeddedFont>
    <p:embeddedFont>
      <p:font typeface="AU Passata Light" panose="020B0604020202020204" charset="0"/>
      <p:regular r:id="rId47"/>
      <p:bold r:id="rId48"/>
    </p:embeddedFont>
    <p:embeddedFont>
      <p:font typeface="AU Peto" panose="020B0604020202020204" charset="0"/>
      <p:regular r:id="rId49"/>
      <p:bold r:id="rId50"/>
    </p:embeddedFont>
    <p:embeddedFont>
      <p:font typeface="Georgia" panose="02040502050405020303" pitchFamily="18" charset="0"/>
      <p:regular r:id="rId51"/>
      <p:bold r:id="rId52"/>
      <p:italic r:id="rId53"/>
      <p:boldItalic r:id="rId54"/>
    </p:embeddedFont>
  </p:embeddedFontLst>
  <p:defaultTextStyle>
    <a:defPPr>
      <a:defRPr lang="en-US"/>
    </a:defPPr>
    <a:lvl1pPr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1pPr>
    <a:lvl2pPr marL="60949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2pPr>
    <a:lvl3pPr marL="1218987"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3pPr>
    <a:lvl4pPr marL="1828480"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4pPr>
    <a:lvl5pPr marL="2437973" algn="l" rtl="0" fontAlgn="base">
      <a:lnSpc>
        <a:spcPts val="4799"/>
      </a:lnSpc>
      <a:spcBef>
        <a:spcPct val="0"/>
      </a:spcBef>
      <a:spcAft>
        <a:spcPct val="0"/>
      </a:spcAft>
      <a:buFont typeface="AU Passata" pitchFamily="34" charset="0"/>
      <a:defRPr sz="4799" kern="1200">
        <a:solidFill>
          <a:schemeClr val="tx1"/>
        </a:solidFill>
        <a:latin typeface="AU Passata" pitchFamily="34" charset="0"/>
        <a:ea typeface="+mn-ea"/>
        <a:cs typeface="+mn-cs"/>
      </a:defRPr>
    </a:lvl5pPr>
    <a:lvl6pPr marL="3047467" algn="l" defTabSz="1218987" rtl="0" eaLnBrk="1" latinLnBrk="0" hangingPunct="1">
      <a:defRPr sz="4799" kern="1200">
        <a:solidFill>
          <a:schemeClr val="tx1"/>
        </a:solidFill>
        <a:latin typeface="AU Passata" pitchFamily="34" charset="0"/>
        <a:ea typeface="+mn-ea"/>
        <a:cs typeface="+mn-cs"/>
      </a:defRPr>
    </a:lvl6pPr>
    <a:lvl7pPr marL="3656960" algn="l" defTabSz="1218987" rtl="0" eaLnBrk="1" latinLnBrk="0" hangingPunct="1">
      <a:defRPr sz="4799" kern="1200">
        <a:solidFill>
          <a:schemeClr val="tx1"/>
        </a:solidFill>
        <a:latin typeface="AU Passata" pitchFamily="34" charset="0"/>
        <a:ea typeface="+mn-ea"/>
        <a:cs typeface="+mn-cs"/>
      </a:defRPr>
    </a:lvl7pPr>
    <a:lvl8pPr marL="4266453" algn="l" defTabSz="1218987" rtl="0" eaLnBrk="1" latinLnBrk="0" hangingPunct="1">
      <a:defRPr sz="4799" kern="1200">
        <a:solidFill>
          <a:schemeClr val="tx1"/>
        </a:solidFill>
        <a:latin typeface="AU Passata" pitchFamily="34" charset="0"/>
        <a:ea typeface="+mn-ea"/>
        <a:cs typeface="+mn-cs"/>
      </a:defRPr>
    </a:lvl8pPr>
    <a:lvl9pPr marL="4875947" algn="l" defTabSz="1218987" rtl="0" eaLnBrk="1" latinLnBrk="0" hangingPunct="1">
      <a:defRPr sz="4799" kern="1200">
        <a:solidFill>
          <a:schemeClr val="tx1"/>
        </a:solidFill>
        <a:latin typeface="AU Passata"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254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Ingen typografi, intet git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yst layout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2833802-FEF1-4C79-8D5D-14CF1EAF98D9}" styleName="Lyst layout 2 - Markering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58531" autoAdjust="0"/>
  </p:normalViewPr>
  <p:slideViewPr>
    <p:cSldViewPr snapToObjects="1" showGuides="1">
      <p:cViewPr varScale="1">
        <p:scale>
          <a:sx n="56" d="100"/>
          <a:sy n="56" d="100"/>
        </p:scale>
        <p:origin x="1550" y="38"/>
      </p:cViewPr>
      <p:guideLst/>
    </p:cSldViewPr>
  </p:slideViewPr>
  <p:notesTextViewPr>
    <p:cViewPr>
      <p:scale>
        <a:sx n="100" d="100"/>
        <a:sy n="100" d="100"/>
      </p:scale>
      <p:origin x="0" y="-2098"/>
    </p:cViewPr>
  </p:notesTextViewPr>
  <p:sorterViewPr>
    <p:cViewPr>
      <p:scale>
        <a:sx n="100" d="100"/>
        <a:sy n="100" d="100"/>
      </p:scale>
      <p:origin x="0" y="0"/>
    </p:cViewPr>
  </p:sorterViewPr>
  <p:notesViewPr>
    <p:cSldViewPr snapToObjects="1">
      <p:cViewPr varScale="1">
        <p:scale>
          <a:sx n="87" d="100"/>
          <a:sy n="87" d="100"/>
        </p:scale>
        <p:origin x="3762" y="72"/>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slide" Target="slides/slide5.xml"/><Relationship Id="rId39" Type="http://schemas.openxmlformats.org/officeDocument/2006/relationships/slide" Target="slides/slide18.xml"/><Relationship Id="rId21" Type="http://schemas.openxmlformats.org/officeDocument/2006/relationships/slideMaster" Target="slideMasters/slideMaster1.xml"/><Relationship Id="rId34" Type="http://schemas.openxmlformats.org/officeDocument/2006/relationships/slide" Target="slides/slide13.xml"/><Relationship Id="rId42" Type="http://schemas.openxmlformats.org/officeDocument/2006/relationships/slide" Target="slides/slide21.xml"/><Relationship Id="rId47" Type="http://schemas.openxmlformats.org/officeDocument/2006/relationships/font" Target="fonts/font3.fntdata"/><Relationship Id="rId50"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8.xml"/><Relationship Id="rId11" Type="http://schemas.openxmlformats.org/officeDocument/2006/relationships/customXml" Target="../customXml/item11.xml"/><Relationship Id="rId24" Type="http://schemas.openxmlformats.org/officeDocument/2006/relationships/slide" Target="slides/slide3.xml"/><Relationship Id="rId32" Type="http://schemas.openxmlformats.org/officeDocument/2006/relationships/slide" Target="slides/slide11.xml"/><Relationship Id="rId37" Type="http://schemas.openxmlformats.org/officeDocument/2006/relationships/slide" Target="slides/slide16.xml"/><Relationship Id="rId40" Type="http://schemas.openxmlformats.org/officeDocument/2006/relationships/slide" Target="slides/slide19.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customXml" Target="../customXml/item5.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slide" Target="slides/slide1.xml"/><Relationship Id="rId27" Type="http://schemas.openxmlformats.org/officeDocument/2006/relationships/slide" Target="slides/slide6.xml"/><Relationship Id="rId30" Type="http://schemas.openxmlformats.org/officeDocument/2006/relationships/slide" Target="slides/slide9.xml"/><Relationship Id="rId35" Type="http://schemas.openxmlformats.org/officeDocument/2006/relationships/slide" Target="slides/slide14.xml"/><Relationship Id="rId43" Type="http://schemas.openxmlformats.org/officeDocument/2006/relationships/notesMaster" Target="notesMasters/notesMaster1.xml"/><Relationship Id="rId48" Type="http://schemas.openxmlformats.org/officeDocument/2006/relationships/font" Target="fonts/font4.fntdata"/><Relationship Id="rId56"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font" Target="fonts/font7.fntdata"/><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slide" Target="slides/slide4.xml"/><Relationship Id="rId33" Type="http://schemas.openxmlformats.org/officeDocument/2006/relationships/slide" Target="slides/slide12.xml"/><Relationship Id="rId38" Type="http://schemas.openxmlformats.org/officeDocument/2006/relationships/slide" Target="slides/slide17.xml"/><Relationship Id="rId46" Type="http://schemas.openxmlformats.org/officeDocument/2006/relationships/font" Target="fonts/font2.fntdata"/><Relationship Id="rId20" Type="http://schemas.openxmlformats.org/officeDocument/2006/relationships/customXml" Target="../customXml/item20.xml"/><Relationship Id="rId41" Type="http://schemas.openxmlformats.org/officeDocument/2006/relationships/slide" Target="slides/slide20.xml"/><Relationship Id="rId54"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2.xml"/><Relationship Id="rId28" Type="http://schemas.openxmlformats.org/officeDocument/2006/relationships/slide" Target="slides/slide7.xml"/><Relationship Id="rId36" Type="http://schemas.openxmlformats.org/officeDocument/2006/relationships/slide" Target="slides/slide15.xml"/><Relationship Id="rId49" Type="http://schemas.openxmlformats.org/officeDocument/2006/relationships/font" Target="fonts/font5.fntdata"/><Relationship Id="rId57" Type="http://schemas.openxmlformats.org/officeDocument/2006/relationships/theme" Target="theme/theme1.xml"/><Relationship Id="rId10" Type="http://schemas.openxmlformats.org/officeDocument/2006/relationships/customXml" Target="../customXml/item10.xml"/><Relationship Id="rId31" Type="http://schemas.openxmlformats.org/officeDocument/2006/relationships/slide" Target="slides/slide10.xml"/><Relationship Id="rId44" Type="http://schemas.openxmlformats.org/officeDocument/2006/relationships/handoutMaster" Target="handoutMasters/handoutMaster1.xml"/><Relationship Id="rId52" Type="http://schemas.openxmlformats.org/officeDocument/2006/relationships/font" Target="fonts/font8.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39939" name="Rectangle 3"/>
          <p:cNvSpPr>
            <a:spLocks noGrp="1" noChangeArrowheads="1"/>
          </p:cNvSpPr>
          <p:nvPr>
            <p:ph type="dt" sz="quarter"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39940" name="Rectangle 4"/>
          <p:cNvSpPr>
            <a:spLocks noGrp="1" noChangeArrowheads="1"/>
          </p:cNvSpPr>
          <p:nvPr>
            <p:ph type="ftr" sz="quarter" idx="2"/>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39941" name="Rectangle 5"/>
          <p:cNvSpPr>
            <a:spLocks noGrp="1" noChangeArrowheads="1"/>
          </p:cNvSpPr>
          <p:nvPr>
            <p:ph type="sldNum" sz="quarter" idx="3"/>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88DF0C21-DE6B-488F-B9D9-B7FE08733B70}" type="slidenum">
              <a:rPr lang="en-GB"/>
              <a:pPr>
                <a:defRPr/>
              </a:pPr>
              <a:t>‹nr.›</a:t>
            </a:fld>
            <a:endParaRPr lang="en-GB" dirty="0"/>
          </a:p>
        </p:txBody>
      </p:sp>
    </p:spTree>
    <p:extLst>
      <p:ext uri="{BB962C8B-B14F-4D97-AF65-F5344CB8AC3E}">
        <p14:creationId xmlns:p14="http://schemas.microsoft.com/office/powerpoint/2010/main" val="7158050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buFontTx/>
              <a:buNone/>
              <a:defRPr sz="1200"/>
            </a:lvl1pPr>
          </a:lstStyle>
          <a:p>
            <a:pPr>
              <a:defRPr/>
            </a:pPr>
            <a:endParaRPr lang="en-GB" dirty="0"/>
          </a:p>
        </p:txBody>
      </p:sp>
      <p:sp>
        <p:nvSpPr>
          <p:cNvPr id="4099" name="Rectangle 3"/>
          <p:cNvSpPr>
            <a:spLocks noGrp="1" noChangeArrowheads="1"/>
          </p:cNvSpPr>
          <p:nvPr>
            <p:ph type="dt" idx="1"/>
          </p:nvPr>
        </p:nvSpPr>
        <p:spPr bwMode="auto">
          <a:xfrm>
            <a:off x="3850443" y="0"/>
            <a:ext cx="2945659" cy="4963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buFontTx/>
              <a:buNone/>
              <a:defRPr sz="1200"/>
            </a:lvl1pPr>
          </a:lstStyle>
          <a:p>
            <a:pPr>
              <a:defRPr/>
            </a:pPr>
            <a:endParaRPr lang="en-GB" dirty="0"/>
          </a:p>
        </p:txBody>
      </p:sp>
      <p:sp>
        <p:nvSpPr>
          <p:cNvPr id="7172" name="Rectangle 4"/>
          <p:cNvSpPr>
            <a:spLocks noGrp="1" noRot="1" noChangeAspect="1" noChangeArrowheads="1" noTextEdit="1"/>
          </p:cNvSpPr>
          <p:nvPr>
            <p:ph type="sldImg" idx="2"/>
          </p:nvPr>
        </p:nvSpPr>
        <p:spPr bwMode="auto">
          <a:xfrm>
            <a:off x="92075" y="744538"/>
            <a:ext cx="6613525" cy="3722687"/>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679768" y="4715153"/>
            <a:ext cx="5438140" cy="44669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dirty="0"/>
              <a:t>Click to edit Master text styles</a:t>
            </a:r>
          </a:p>
          <a:p>
            <a:pPr lvl="1"/>
            <a:r>
              <a:rPr lang="en-GB" noProof="0" dirty="0"/>
              <a:t>Second level</a:t>
            </a:r>
          </a:p>
          <a:p>
            <a:pPr lvl="2"/>
            <a:r>
              <a:rPr lang="en-GB" noProof="0" dirty="0"/>
              <a:t>Third level</a:t>
            </a:r>
          </a:p>
          <a:p>
            <a:pPr lvl="3"/>
            <a:r>
              <a:rPr lang="en-GB" noProof="0" dirty="0"/>
              <a:t>Fourth level</a:t>
            </a:r>
          </a:p>
          <a:p>
            <a:pPr lvl="4"/>
            <a:r>
              <a:rPr lang="en-GB" noProof="0" dirty="0"/>
              <a:t>Fifth level</a:t>
            </a:r>
          </a:p>
        </p:txBody>
      </p:sp>
      <p:sp>
        <p:nvSpPr>
          <p:cNvPr id="4102" name="Rectangle 6"/>
          <p:cNvSpPr>
            <a:spLocks noGrp="1" noChangeArrowheads="1"/>
          </p:cNvSpPr>
          <p:nvPr>
            <p:ph type="ftr" sz="quarter" idx="4"/>
          </p:nvPr>
        </p:nvSpPr>
        <p:spPr bwMode="auto">
          <a:xfrm>
            <a:off x="0"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buFontTx/>
              <a:buNone/>
              <a:defRPr sz="1200"/>
            </a:lvl1pPr>
          </a:lstStyle>
          <a:p>
            <a:pPr>
              <a:defRPr/>
            </a:pPr>
            <a:endParaRPr lang="en-GB" dirty="0"/>
          </a:p>
        </p:txBody>
      </p:sp>
      <p:sp>
        <p:nvSpPr>
          <p:cNvPr id="4103" name="Rectangle 7"/>
          <p:cNvSpPr>
            <a:spLocks noGrp="1" noChangeArrowheads="1"/>
          </p:cNvSpPr>
          <p:nvPr>
            <p:ph type="sldNum" sz="quarter" idx="5"/>
          </p:nvPr>
        </p:nvSpPr>
        <p:spPr bwMode="auto">
          <a:xfrm>
            <a:off x="3850443" y="9428583"/>
            <a:ext cx="2945659" cy="49633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buFontTx/>
              <a:buNone/>
              <a:defRPr sz="1200"/>
            </a:lvl1pPr>
          </a:lstStyle>
          <a:p>
            <a:pPr>
              <a:defRPr/>
            </a:pPr>
            <a:fld id="{72C160C3-3AB6-49C1-8001-AFDAD271EB5B}" type="slidenum">
              <a:rPr lang="en-GB"/>
              <a:pPr>
                <a:defRPr/>
              </a:pPr>
              <a:t>‹nr.›</a:t>
            </a:fld>
            <a:endParaRPr lang="en-GB" dirty="0"/>
          </a:p>
        </p:txBody>
      </p:sp>
    </p:spTree>
    <p:extLst>
      <p:ext uri="{BB962C8B-B14F-4D97-AF65-F5344CB8AC3E}">
        <p14:creationId xmlns:p14="http://schemas.microsoft.com/office/powerpoint/2010/main" val="244503906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U Passata" pitchFamily="34" charset="0"/>
        <a:ea typeface="+mn-ea"/>
        <a:cs typeface="Arial" charset="0"/>
      </a:defRPr>
    </a:lvl1pPr>
    <a:lvl2pPr marL="60949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2pPr>
    <a:lvl3pPr marL="1218987" algn="l" rtl="0" eaLnBrk="0" fontAlgn="base" hangingPunct="0">
      <a:spcBef>
        <a:spcPct val="30000"/>
      </a:spcBef>
      <a:spcAft>
        <a:spcPct val="0"/>
      </a:spcAft>
      <a:defRPr sz="1600" kern="1200">
        <a:solidFill>
          <a:schemeClr val="tx1"/>
        </a:solidFill>
        <a:latin typeface="AU Passata" pitchFamily="34" charset="0"/>
        <a:ea typeface="+mn-ea"/>
        <a:cs typeface="Arial" charset="0"/>
      </a:defRPr>
    </a:lvl3pPr>
    <a:lvl4pPr marL="1828480" algn="l" rtl="0" eaLnBrk="0" fontAlgn="base" hangingPunct="0">
      <a:spcBef>
        <a:spcPct val="30000"/>
      </a:spcBef>
      <a:spcAft>
        <a:spcPct val="0"/>
      </a:spcAft>
      <a:defRPr sz="1600" kern="1200">
        <a:solidFill>
          <a:schemeClr val="tx1"/>
        </a:solidFill>
        <a:latin typeface="AU Passata" pitchFamily="34" charset="0"/>
        <a:ea typeface="+mn-ea"/>
        <a:cs typeface="Arial" charset="0"/>
      </a:defRPr>
    </a:lvl4pPr>
    <a:lvl5pPr marL="2437973" algn="l" rtl="0" eaLnBrk="0" fontAlgn="base" hangingPunct="0">
      <a:spcBef>
        <a:spcPct val="30000"/>
      </a:spcBef>
      <a:spcAft>
        <a:spcPct val="0"/>
      </a:spcAft>
      <a:defRPr sz="1600" kern="1200">
        <a:solidFill>
          <a:schemeClr val="tx1"/>
        </a:solidFill>
        <a:latin typeface="AU Passata" pitchFamily="34" charset="0"/>
        <a:ea typeface="+mn-ea"/>
        <a:cs typeface="Arial" charset="0"/>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Jeg er her for at holde et </a:t>
            </a:r>
            <a:r>
              <a:rPr lang="da-DK"/>
              <a:t>oplæg om </a:t>
            </a:r>
            <a:r>
              <a:rPr lang="da-DK" dirty="0"/>
              <a:t>“hvor lidt er nok”, når det kommer til træning til borgere med type 2-diabetes.</a:t>
            </a:r>
          </a:p>
          <a:p>
            <a:endParaRPr lang="da-DK" dirty="0"/>
          </a:p>
          <a:p>
            <a:r>
              <a:rPr lang="da-DK" dirty="0"/>
              <a:t>Altså:</a:t>
            </a:r>
            <a:br>
              <a:rPr lang="da-DK" dirty="0"/>
            </a:br>
            <a:r>
              <a:rPr lang="da-DK" dirty="0"/>
              <a:t>Hvad er den mindste indsats, der skal til, før vi kan se meningsfulde resultater?</a:t>
            </a:r>
          </a:p>
          <a:p>
            <a:endParaRPr lang="da-DK" dirty="0"/>
          </a:p>
          <a:p>
            <a:r>
              <a:rPr lang="da-DK" dirty="0"/>
              <a:t>Jeg tænkte først: Det kan jeg da nemt svare på.</a:t>
            </a:r>
            <a:br>
              <a:rPr lang="da-DK" dirty="0"/>
            </a:br>
            <a:r>
              <a:rPr lang="da-DK" dirty="0"/>
              <a:t>Jeg dykker ned i litteraturen, finder et tal, så er vi videre.</a:t>
            </a:r>
          </a:p>
          <a:p>
            <a:endParaRPr lang="da-DK" dirty="0"/>
          </a:p>
          <a:p>
            <a:r>
              <a:rPr lang="da-DK" dirty="0"/>
              <a:t>Men jo mere jeg dykkede ned i litteraturen, jo mere gik det op for mig, at selvom spørgsmålet lyder relativt simpelt så er det ret nuanceret. </a:t>
            </a:r>
          </a:p>
          <a:p>
            <a:endParaRPr lang="da-DK" dirty="0"/>
          </a:p>
          <a:p>
            <a:r>
              <a:rPr lang="da-DK" dirty="0"/>
              <a:t>For “nok” afhænger af:</a:t>
            </a:r>
          </a:p>
          <a:p>
            <a:endParaRPr lang="da-DK" dirty="0"/>
          </a:p>
          <a:p>
            <a:pPr marL="285750" indent="-285750">
              <a:buFont typeface="Arial" panose="020B0604020202020204" pitchFamily="34" charset="0"/>
              <a:buChar char="•"/>
            </a:pPr>
            <a:r>
              <a:rPr lang="da-DK" dirty="0"/>
              <a:t>Hvad vi vil påvirke</a:t>
            </a:r>
          </a:p>
          <a:p>
            <a:pPr marL="285750" indent="-285750">
              <a:buFont typeface="Arial" panose="020B0604020202020204" pitchFamily="34" charset="0"/>
              <a:buChar char="•"/>
            </a:pPr>
            <a:r>
              <a:rPr lang="da-DK" dirty="0"/>
              <a:t>Hvad er personens udgangspunkt</a:t>
            </a:r>
          </a:p>
          <a:p>
            <a:pPr marL="285750" indent="-285750">
              <a:buFont typeface="Arial" panose="020B0604020202020204" pitchFamily="34" charset="0"/>
              <a:buChar char="•"/>
            </a:pPr>
            <a:r>
              <a:rPr lang="da-DK" dirty="0"/>
              <a:t>Og om vi taler om at forbedre, vedligeholde eller rykke sygdomskategori</a:t>
            </a:r>
          </a:p>
          <a:p>
            <a:pPr marL="0" indent="0">
              <a:buFont typeface="Arial" panose="020B0604020202020204" pitchFamily="34" charset="0"/>
              <a:buNone/>
            </a:pPr>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a:t>
            </a:fld>
            <a:endParaRPr lang="en-GB" dirty="0"/>
          </a:p>
        </p:txBody>
      </p:sp>
    </p:spTree>
    <p:extLst>
      <p:ext uri="{BB962C8B-B14F-4D97-AF65-F5344CB8AC3E}">
        <p14:creationId xmlns:p14="http://schemas.microsoft.com/office/powerpoint/2010/main" val="931456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Så i dag vil jeg angribe spørgsmålet fra tre vinkler:</a:t>
            </a:r>
          </a:p>
          <a:p>
            <a:endParaRPr lang="da-DK" dirty="0"/>
          </a:p>
          <a:p>
            <a:pPr marL="285750" indent="-285750">
              <a:buFont typeface="Arial" panose="020B0604020202020204" pitchFamily="34" charset="0"/>
              <a:buChar char="•"/>
            </a:pPr>
            <a:r>
              <a:rPr lang="da-DK" dirty="0"/>
              <a:t>Hvor meget traditionel træning skal der til for at påvirke blodsukker og sygdomsstatus?</a:t>
            </a:r>
          </a:p>
          <a:p>
            <a:pPr marL="285750" indent="-285750">
              <a:buFont typeface="Arial" panose="020B0604020202020204" pitchFamily="34" charset="0"/>
              <a:buChar char="•"/>
            </a:pPr>
            <a:r>
              <a:rPr lang="da-DK" dirty="0"/>
              <a:t>Hvad kan vi opnå, hvis vi i stedet fokuserer på at bryde stillesiddende adfærd?</a:t>
            </a:r>
          </a:p>
          <a:p>
            <a:pPr marL="285750" indent="-285750">
              <a:buFont typeface="Arial" panose="020B0604020202020204" pitchFamily="34" charset="0"/>
              <a:buChar char="•"/>
            </a:pPr>
            <a:r>
              <a:rPr lang="da-DK" dirty="0"/>
              <a:t>Og til sidst: Hvordan kan vi bruge en trappemodel for at ramme et passende niveau for den enkelte?</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2</a:t>
            </a:fld>
            <a:endParaRPr lang="en-GB" dirty="0"/>
          </a:p>
        </p:txBody>
      </p:sp>
    </p:spTree>
    <p:extLst>
      <p:ext uri="{BB962C8B-B14F-4D97-AF65-F5344CB8AC3E}">
        <p14:creationId xmlns:p14="http://schemas.microsoft.com/office/powerpoint/2010/main" val="2056276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59331-3AC7-9EF5-09C5-6F5768E69033}"/>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16FFC15-746C-E16A-996A-3172B93E1EF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F835742F-ABB6-78A9-F289-673B0F3FA529}"/>
              </a:ext>
            </a:extLst>
          </p:cNvPr>
          <p:cNvSpPr>
            <a:spLocks noGrp="1"/>
          </p:cNvSpPr>
          <p:nvPr>
            <p:ph type="body" idx="1"/>
          </p:nvPr>
        </p:nvSpPr>
        <p:spPr/>
        <p:txBody>
          <a:bodyPr/>
          <a:lstStyle/>
          <a:p>
            <a:r>
              <a:rPr lang="da-DK" sz="1600" kern="1200" dirty="0">
                <a:solidFill>
                  <a:schemeClr val="tx1"/>
                </a:solidFill>
                <a:effectLst/>
                <a:latin typeface="AU Passata" pitchFamily="34" charset="0"/>
                <a:ea typeface="+mn-ea"/>
                <a:cs typeface="Arial" charset="0"/>
              </a:rPr>
              <a:t>Jeg vil ganske kort bede jer om at huske tilbage til den virtuelle temadag vi afholdte for halvandet år siden, hvor Grit Leegaard fortalte om den forskning de laver på Center for Aktiv Sundhed. </a:t>
            </a:r>
          </a:p>
          <a:p>
            <a:r>
              <a:rPr lang="da-DK" sz="1600" kern="1200" dirty="0">
                <a:solidFill>
                  <a:schemeClr val="tx1"/>
                </a:solidFill>
                <a:effectLst/>
                <a:latin typeface="AU Passata" pitchFamily="34" charset="0"/>
                <a:ea typeface="+mn-ea"/>
                <a:cs typeface="Arial" charset="0"/>
              </a:rPr>
              <a:t>Her fandt de, at 3 træningspas om ugen var lige så effektivt som 6 træningspas om ugen i forhold til:</a:t>
            </a:r>
          </a:p>
          <a:p>
            <a:endParaRPr lang="da-DK" sz="1600" kern="1200" dirty="0">
              <a:solidFill>
                <a:schemeClr val="tx1"/>
              </a:solidFill>
              <a:effectLst/>
              <a:latin typeface="AU Passata" pitchFamily="34" charset="0"/>
              <a:ea typeface="+mn-ea"/>
              <a:cs typeface="Arial" charset="0"/>
            </a:endParaRP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Insulinfølsomhed</a:t>
            </a: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Insulin Disposition Index</a:t>
            </a:r>
          </a:p>
          <a:p>
            <a:pPr marL="0" lvl="0" indent="0">
              <a:buFont typeface="Arial" panose="020B0604020202020204" pitchFamily="34" charset="0"/>
              <a:buNone/>
            </a:pPr>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Altså: Bugspytkirtlens evne til at kompensere for nedsat insulinfølsomhed.</a:t>
            </a:r>
          </a:p>
          <a:p>
            <a:r>
              <a:rPr lang="da-DK" sz="1600" kern="1200" dirty="0">
                <a:solidFill>
                  <a:schemeClr val="tx1"/>
                </a:solidFill>
                <a:effectLst/>
                <a:latin typeface="AU Passata" pitchFamily="34" charset="0"/>
                <a:ea typeface="+mn-ea"/>
                <a:cs typeface="Arial" charset="0"/>
              </a:rPr>
              <a:t>Allerede her begynder det at krakelere lidt i forestillingen om, at “mere altid er bedre”.</a:t>
            </a:r>
          </a:p>
        </p:txBody>
      </p:sp>
      <p:sp>
        <p:nvSpPr>
          <p:cNvPr id="4" name="Pladsholder til slidenummer 3">
            <a:extLst>
              <a:ext uri="{FF2B5EF4-FFF2-40B4-BE49-F238E27FC236}">
                <a16:creationId xmlns:a16="http://schemas.microsoft.com/office/drawing/2014/main" id="{F3BD9250-AC2B-CC7C-9315-D8100C8F2E58}"/>
              </a:ext>
            </a:extLst>
          </p:cNvPr>
          <p:cNvSpPr>
            <a:spLocks noGrp="1"/>
          </p:cNvSpPr>
          <p:nvPr>
            <p:ph type="sldNum" sz="quarter" idx="5"/>
          </p:nvPr>
        </p:nvSpPr>
        <p:spPr/>
        <p:txBody>
          <a:bodyPr/>
          <a:lstStyle/>
          <a:p>
            <a:pPr>
              <a:defRPr/>
            </a:pPr>
            <a:fld id="{72C160C3-3AB6-49C1-8001-AFDAD271EB5B}" type="slidenum">
              <a:rPr lang="en-GB" smtClean="0"/>
              <a:pPr>
                <a:defRPr/>
              </a:pPr>
              <a:t>3</a:t>
            </a:fld>
            <a:endParaRPr lang="en-GB" dirty="0"/>
          </a:p>
        </p:txBody>
      </p:sp>
    </p:spTree>
    <p:extLst>
      <p:ext uri="{BB962C8B-B14F-4D97-AF65-F5344CB8AC3E}">
        <p14:creationId xmlns:p14="http://schemas.microsoft.com/office/powerpoint/2010/main" val="290683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133F7-1D55-2700-F8D1-29F1B0421A1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B2DD564-2DDC-55E8-C1C0-CC3B5A20B11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C90F5D43-7448-27FA-DFBB-B29127494D27}"/>
              </a:ext>
            </a:extLst>
          </p:cNvPr>
          <p:cNvSpPr>
            <a:spLocks noGrp="1"/>
          </p:cNvSpPr>
          <p:nvPr>
            <p:ph type="body" idx="1"/>
          </p:nvPr>
        </p:nvSpPr>
        <p:spPr/>
        <p:txBody>
          <a:bodyPr/>
          <a:lstStyle/>
          <a:p>
            <a:r>
              <a:rPr lang="da-DK" sz="1600" kern="1200" dirty="0">
                <a:solidFill>
                  <a:schemeClr val="tx1"/>
                </a:solidFill>
                <a:effectLst/>
                <a:latin typeface="AU Passata" pitchFamily="34" charset="0"/>
                <a:ea typeface="+mn-ea"/>
                <a:cs typeface="Arial" charset="0"/>
              </a:rPr>
              <a:t>I LIVING-projektet hvor Aarhus testede Lev Livet kombineret med højintens intervaltræning to gange om ugen, fandt vi at:</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HbA1c faldt i både kontrol- og interventionsgruppen. Der var ingen forskel. Det er ikke så overraskende, fordi mange var nyopstartet i medicinsk behandling. Og studiet er ikke designet til at kunne korrigere for den medicinske effekt. </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Men de fysiske tests fortalte en anden historie:</a:t>
            </a:r>
          </a:p>
          <a:p>
            <a:endParaRPr lang="da-DK" sz="1600" kern="1200" dirty="0">
              <a:solidFill>
                <a:schemeClr val="tx1"/>
              </a:solidFill>
              <a:effectLst/>
              <a:latin typeface="AU Passata" pitchFamily="34" charset="0"/>
              <a:ea typeface="+mn-ea"/>
              <a:cs typeface="Arial" charset="0"/>
            </a:endParaRP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Ca. 10% forbedring i rejse-sætte-sig-test</a:t>
            </a:r>
          </a:p>
          <a:p>
            <a:pPr marL="285750" lvl="0" indent="-285750">
              <a:buFont typeface="Arial" panose="020B0604020202020204" pitchFamily="34" charset="0"/>
              <a:buChar char="•"/>
            </a:pPr>
            <a:r>
              <a:rPr lang="da-DK" sz="1600" kern="1200" dirty="0">
                <a:solidFill>
                  <a:schemeClr val="tx1"/>
                </a:solidFill>
                <a:effectLst/>
                <a:latin typeface="AU Passata" pitchFamily="34" charset="0"/>
                <a:ea typeface="+mn-ea"/>
                <a:cs typeface="Arial" charset="0"/>
              </a:rPr>
              <a:t>Klare forbedringer i 6-minutters gangtest</a:t>
            </a:r>
          </a:p>
          <a:p>
            <a:endParaRPr lang="da-DK" sz="1600" kern="1200" dirty="0">
              <a:solidFill>
                <a:schemeClr val="tx1"/>
              </a:solidFill>
              <a:effectLst/>
              <a:latin typeface="AU Passata" pitchFamily="34" charset="0"/>
              <a:ea typeface="+mn-ea"/>
              <a:cs typeface="Arial" charset="0"/>
            </a:endParaRPr>
          </a:p>
          <a:p>
            <a:r>
              <a:rPr lang="da-DK" sz="1600" kern="1200" dirty="0">
                <a:solidFill>
                  <a:schemeClr val="tx1"/>
                </a:solidFill>
                <a:effectLst/>
                <a:latin typeface="AU Passata" pitchFamily="34" charset="0"/>
                <a:ea typeface="+mn-ea"/>
                <a:cs typeface="Arial" charset="0"/>
              </a:rPr>
              <a:t>Det er klinisk relevant funktionsforbedring. Og faktisk større forbedringer, end jeg havde turdet håbe på ved to ugentlige pas.</a:t>
            </a:r>
          </a:p>
        </p:txBody>
      </p:sp>
      <p:sp>
        <p:nvSpPr>
          <p:cNvPr id="4" name="Pladsholder til slidenummer 3">
            <a:extLst>
              <a:ext uri="{FF2B5EF4-FFF2-40B4-BE49-F238E27FC236}">
                <a16:creationId xmlns:a16="http://schemas.microsoft.com/office/drawing/2014/main" id="{6C6615C9-940E-6FEB-5ECB-D555919E5F48}"/>
              </a:ext>
            </a:extLst>
          </p:cNvPr>
          <p:cNvSpPr>
            <a:spLocks noGrp="1"/>
          </p:cNvSpPr>
          <p:nvPr>
            <p:ph type="sldNum" sz="quarter" idx="5"/>
          </p:nvPr>
        </p:nvSpPr>
        <p:spPr/>
        <p:txBody>
          <a:bodyPr/>
          <a:lstStyle/>
          <a:p>
            <a:pPr>
              <a:defRPr/>
            </a:pPr>
            <a:fld id="{72C160C3-3AB6-49C1-8001-AFDAD271EB5B}" type="slidenum">
              <a:rPr lang="en-GB" smtClean="0"/>
              <a:pPr>
                <a:defRPr/>
              </a:pPr>
              <a:t>4</a:t>
            </a:fld>
            <a:endParaRPr lang="en-GB" dirty="0"/>
          </a:p>
        </p:txBody>
      </p:sp>
    </p:spTree>
    <p:extLst>
      <p:ext uri="{BB962C8B-B14F-4D97-AF65-F5344CB8AC3E}">
        <p14:creationId xmlns:p14="http://schemas.microsoft.com/office/powerpoint/2010/main" val="1672297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Nu til hvad jeg bedt om at snakke om. </a:t>
            </a:r>
          </a:p>
          <a:p>
            <a:r>
              <a:rPr lang="da-DK" dirty="0"/>
              <a:t>Men - for at kunne tale om “hvor lidt”, er vi nødt til at forstå, hvordan træningsdosis måles i forskningen.</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5</a:t>
            </a:fld>
            <a:endParaRPr lang="en-GB" dirty="0"/>
          </a:p>
        </p:txBody>
      </p:sp>
    </p:spTree>
    <p:extLst>
      <p:ext uri="{BB962C8B-B14F-4D97-AF65-F5344CB8AC3E}">
        <p14:creationId xmlns:p14="http://schemas.microsoft.com/office/powerpoint/2010/main" val="184013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Man benytter sig typisk af MET-minutter. Og hvad er det? </a:t>
            </a:r>
          </a:p>
          <a:p>
            <a:endParaRPr lang="da-DK" dirty="0"/>
          </a:p>
          <a:p>
            <a:r>
              <a:rPr lang="da-DK" dirty="0"/>
              <a:t>MET står for </a:t>
            </a:r>
            <a:r>
              <a:rPr lang="da-DK" dirty="0" err="1"/>
              <a:t>Metabolic</a:t>
            </a:r>
            <a:r>
              <a:rPr lang="da-DK" dirty="0"/>
              <a:t> </a:t>
            </a:r>
            <a:r>
              <a:rPr lang="da-DK" dirty="0" err="1"/>
              <a:t>Equivalent</a:t>
            </a:r>
            <a:r>
              <a:rPr lang="da-DK" dirty="0"/>
              <a:t> og Task og angiver intensiteten af en aktivitet. Altså det energiforbrug en aktivitet kræver.</a:t>
            </a:r>
          </a:p>
          <a:p>
            <a:endParaRPr lang="da-DK" dirty="0"/>
          </a:p>
          <a:p>
            <a:r>
              <a:rPr lang="da-DK" b="1" dirty="0"/>
              <a:t>1 MET</a:t>
            </a:r>
            <a:r>
              <a:rPr lang="da-DK" dirty="0"/>
              <a:t> svarer til kroppens energiforbrug i hvile.</a:t>
            </a:r>
          </a:p>
          <a:p>
            <a:r>
              <a:rPr lang="da-DK" b="1" dirty="0"/>
              <a:t>4 MET</a:t>
            </a:r>
            <a:r>
              <a:rPr lang="da-DK" dirty="0"/>
              <a:t> betyder, at kroppen arbejder 4 gange så hårdt som i hvile.</a:t>
            </a:r>
          </a:p>
          <a:p>
            <a:r>
              <a:rPr lang="da-DK" b="1" dirty="0"/>
              <a:t>8 MET</a:t>
            </a:r>
            <a:r>
              <a:rPr lang="da-DK" dirty="0"/>
              <a:t> betyder 8 gange hvileniveau.</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6</a:t>
            </a:fld>
            <a:endParaRPr lang="en-GB" dirty="0"/>
          </a:p>
        </p:txBody>
      </p:sp>
    </p:spTree>
    <p:extLst>
      <p:ext uri="{BB962C8B-B14F-4D97-AF65-F5344CB8AC3E}">
        <p14:creationId xmlns:p14="http://schemas.microsoft.com/office/powerpoint/2010/main" val="247514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FB3E8-7B49-8E85-F4EF-EAD95E45CFC6}"/>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8B34A9B-479C-2AA1-47E2-FF7848673FD3}"/>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4BFBE0ED-C4BE-021C-5DD3-FC372B97A4BF}"/>
              </a:ext>
            </a:extLst>
          </p:cNvPr>
          <p:cNvSpPr>
            <a:spLocks noGrp="1"/>
          </p:cNvSpPr>
          <p:nvPr>
            <p:ph type="body" idx="1"/>
          </p:nvPr>
        </p:nvSpPr>
        <p:spPr/>
        <p:txBody>
          <a:bodyPr/>
          <a:lstStyle/>
          <a:p>
            <a:r>
              <a:rPr lang="da-DK" dirty="0"/>
              <a:t>Når vi ganger intensitet med tid, får vi MET-minutter.</a:t>
            </a:r>
          </a:p>
          <a:p>
            <a:endParaRPr lang="da-DK" dirty="0"/>
          </a:p>
          <a:p>
            <a:r>
              <a:rPr lang="da-DK" dirty="0"/>
              <a:t>Det betyder, at:</a:t>
            </a:r>
          </a:p>
          <a:p>
            <a:pPr marL="285750" indent="-285750">
              <a:buFont typeface="Arial" panose="020B0604020202020204" pitchFamily="34" charset="0"/>
              <a:buChar char="•"/>
            </a:pPr>
            <a:r>
              <a:rPr lang="da-DK" dirty="0"/>
              <a:t>ved 30 minutter rask gang indsamler 120 MET-minutter.</a:t>
            </a:r>
            <a:br>
              <a:rPr lang="da-DK" dirty="0"/>
            </a:br>
            <a:br>
              <a:rPr lang="da-DK" dirty="0"/>
            </a:br>
            <a:r>
              <a:rPr lang="da-DK" dirty="0"/>
              <a:t>eller opnå det samme ved </a:t>
            </a:r>
            <a:br>
              <a:rPr lang="da-DK" dirty="0"/>
            </a:br>
            <a:endParaRPr lang="da-DK" dirty="0"/>
          </a:p>
          <a:p>
            <a:pPr marL="285750" indent="-285750">
              <a:buFont typeface="Arial" panose="020B0604020202020204" pitchFamily="34" charset="0"/>
              <a:buChar char="•"/>
            </a:pPr>
            <a:r>
              <a:rPr lang="da-DK" dirty="0"/>
              <a:t>10 minutter crossfit</a:t>
            </a:r>
          </a:p>
          <a:p>
            <a:pPr marL="285750" indent="-285750">
              <a:buFont typeface="Arial" panose="020B0604020202020204" pitchFamily="34" charset="0"/>
              <a:buChar char="•"/>
            </a:pPr>
            <a:endParaRPr lang="da-DK" dirty="0"/>
          </a:p>
          <a:p>
            <a:r>
              <a:rPr lang="da-DK" dirty="0"/>
              <a:t>Samme metaboliske belastning. Forskellig tidsinvestering.</a:t>
            </a:r>
          </a:p>
          <a:p>
            <a:endParaRPr lang="da-DK" dirty="0"/>
          </a:p>
        </p:txBody>
      </p:sp>
      <p:sp>
        <p:nvSpPr>
          <p:cNvPr id="4" name="Pladsholder til slidenummer 3">
            <a:extLst>
              <a:ext uri="{FF2B5EF4-FFF2-40B4-BE49-F238E27FC236}">
                <a16:creationId xmlns:a16="http://schemas.microsoft.com/office/drawing/2014/main" id="{3CFBDEDF-4F7E-3D45-97AB-ECFA217828B6}"/>
              </a:ext>
            </a:extLst>
          </p:cNvPr>
          <p:cNvSpPr>
            <a:spLocks noGrp="1"/>
          </p:cNvSpPr>
          <p:nvPr>
            <p:ph type="sldNum" sz="quarter" idx="5"/>
          </p:nvPr>
        </p:nvSpPr>
        <p:spPr/>
        <p:txBody>
          <a:bodyPr/>
          <a:lstStyle/>
          <a:p>
            <a:pPr>
              <a:defRPr/>
            </a:pPr>
            <a:fld id="{72C160C3-3AB6-49C1-8001-AFDAD271EB5B}" type="slidenum">
              <a:rPr lang="en-GB" smtClean="0"/>
              <a:pPr>
                <a:defRPr/>
              </a:pPr>
              <a:t>7</a:t>
            </a:fld>
            <a:endParaRPr lang="en-GB" dirty="0"/>
          </a:p>
        </p:txBody>
      </p:sp>
    </p:spTree>
    <p:extLst>
      <p:ext uri="{BB962C8B-B14F-4D97-AF65-F5344CB8AC3E}">
        <p14:creationId xmlns:p14="http://schemas.microsoft.com/office/powerpoint/2010/main" val="2310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39C4E-324A-D0C2-E50B-B67EC8BEDA4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1AC3765-05D6-2FED-D8EC-C3B55E788A1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2D6ACF32-7BA5-D051-1E00-BD26184986F6}"/>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da-DK" dirty="0"/>
              <a:t>MET-minutter gør det muligt at sammenligne æbler, pærer og bananer. og angiver den samlede træningsdosis på en uge og ikke kun den samlede træningstid. </a:t>
            </a:r>
          </a:p>
          <a:p>
            <a:endParaRPr lang="da-DK" dirty="0"/>
          </a:p>
          <a:p>
            <a:r>
              <a:rPr lang="da-DK" dirty="0"/>
              <a:t>Vi kan for eksempel have en ambition om at opnå en samlet ugentlig “træningsdosis” på 1100 MET minutter. Og det kan vi opnå på forskellige måder. </a:t>
            </a:r>
          </a:p>
          <a:p>
            <a:r>
              <a:rPr lang="da-DK" dirty="0"/>
              <a:t>Jo højere intensitet, desto færre minutter kræves for at opnå samme samlede metaboliske belastning.</a:t>
            </a:r>
          </a:p>
          <a:p>
            <a:endParaRPr lang="da-DK" dirty="0"/>
          </a:p>
          <a:p>
            <a:r>
              <a:rPr lang="da-DK" dirty="0"/>
              <a:t>Og hvorfor har jeg lige valgt 1100 MET-minutter...</a:t>
            </a:r>
          </a:p>
          <a:p>
            <a:endParaRPr lang="da-DK" dirty="0"/>
          </a:p>
          <a:p>
            <a:endParaRPr lang="da-DK" dirty="0"/>
          </a:p>
        </p:txBody>
      </p:sp>
      <p:sp>
        <p:nvSpPr>
          <p:cNvPr id="4" name="Pladsholder til slidenummer 3">
            <a:extLst>
              <a:ext uri="{FF2B5EF4-FFF2-40B4-BE49-F238E27FC236}">
                <a16:creationId xmlns:a16="http://schemas.microsoft.com/office/drawing/2014/main" id="{4A98C332-C194-2B46-5CE0-C4E2A01AB740}"/>
              </a:ext>
            </a:extLst>
          </p:cNvPr>
          <p:cNvSpPr>
            <a:spLocks noGrp="1"/>
          </p:cNvSpPr>
          <p:nvPr>
            <p:ph type="sldNum" sz="quarter" idx="5"/>
          </p:nvPr>
        </p:nvSpPr>
        <p:spPr/>
        <p:txBody>
          <a:bodyPr/>
          <a:lstStyle/>
          <a:p>
            <a:pPr>
              <a:defRPr/>
            </a:pPr>
            <a:fld id="{72C160C3-3AB6-49C1-8001-AFDAD271EB5B}" type="slidenum">
              <a:rPr lang="en-GB" smtClean="0"/>
              <a:pPr>
                <a:defRPr/>
              </a:pPr>
              <a:t>8</a:t>
            </a:fld>
            <a:endParaRPr lang="en-GB" dirty="0"/>
          </a:p>
        </p:txBody>
      </p:sp>
    </p:spTree>
    <p:extLst>
      <p:ext uri="{BB962C8B-B14F-4D97-AF65-F5344CB8AC3E}">
        <p14:creationId xmlns:p14="http://schemas.microsoft.com/office/powerpoint/2010/main" val="33281274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Det her relativt nye studie fra 2024 er et systematisk </a:t>
            </a:r>
            <a:r>
              <a:rPr lang="da-DK" dirty="0" err="1"/>
              <a:t>review</a:t>
            </a:r>
            <a:r>
              <a:rPr lang="da-DK" dirty="0"/>
              <a:t>. </a:t>
            </a:r>
          </a:p>
          <a:p>
            <a:endParaRPr lang="da-DK" dirty="0"/>
          </a:p>
          <a:p>
            <a:r>
              <a:rPr lang="da-DK" dirty="0"/>
              <a:t>Et systematisk </a:t>
            </a:r>
            <a:r>
              <a:rPr lang="da-DK" dirty="0" err="1"/>
              <a:t>review</a:t>
            </a:r>
            <a:r>
              <a:rPr lang="da-DK" dirty="0"/>
              <a:t> samler og analyserer al tilgængelig forskning på området efter faste kriterier. I det her tilfælde, har forfatterne samlet resultater fra 126 randomiserede forsøg og lavet en model for hvad træningseffekten er ved forskellige MET-minutter om ugen. De har sågar delt det op i forhold til sværhedsgraden af diabetes. Så vi kan se effekten af træning for henholdsvis svær </a:t>
            </a:r>
            <a:r>
              <a:rPr lang="da-DK" dirty="0" err="1"/>
              <a:t>ukontroleret</a:t>
            </a:r>
            <a:r>
              <a:rPr lang="da-DK" dirty="0"/>
              <a:t> diabetes, </a:t>
            </a:r>
            <a:r>
              <a:rPr lang="da-DK" dirty="0" err="1"/>
              <a:t>ukontroleret</a:t>
            </a:r>
            <a:r>
              <a:rPr lang="da-DK" dirty="0"/>
              <a:t> diabetes, </a:t>
            </a:r>
            <a:r>
              <a:rPr lang="da-DK" dirty="0" err="1"/>
              <a:t>kontroleret</a:t>
            </a:r>
            <a:r>
              <a:rPr lang="da-DK" dirty="0"/>
              <a:t> diabetes og prædiabetes. </a:t>
            </a:r>
          </a:p>
          <a:p>
            <a:endParaRPr lang="da-DK" dirty="0"/>
          </a:p>
          <a:p>
            <a:r>
              <a:rPr lang="da-DK" dirty="0"/>
              <a:t>Den største effekt på hbaa1c var ved </a:t>
            </a:r>
            <a:r>
              <a:rPr lang="da-DK" b="1" dirty="0"/>
              <a:t>1.100 MET-minutter om ugen</a:t>
            </a:r>
            <a:r>
              <a:rPr lang="da-DK" dirty="0"/>
              <a:t> i alle grupper. Og effekten var størst i hos dem der havde det højeste blodsukker til at starte med. </a:t>
            </a:r>
          </a:p>
          <a:p>
            <a:endParaRPr lang="da-DK" dirty="0"/>
          </a:p>
          <a:p>
            <a:pPr marL="285750" indent="-285750">
              <a:buFont typeface="Arial" panose="020B0604020202020204" pitchFamily="34" charset="0"/>
              <a:buChar char="•"/>
            </a:pPr>
            <a:r>
              <a:rPr lang="da-DK" dirty="0"/>
              <a:t>Ved </a:t>
            </a:r>
            <a:r>
              <a:rPr lang="da-DK" b="1" dirty="0"/>
              <a:t>svært ukontrolleret diabetes</a:t>
            </a:r>
            <a:r>
              <a:rPr lang="da-DK" dirty="0"/>
              <a:t> faldt det med mellem 1,02 og 0,66 procentpoint.</a:t>
            </a:r>
          </a:p>
          <a:p>
            <a:pPr marL="285750" indent="-285750">
              <a:buFont typeface="Arial" panose="020B0604020202020204" pitchFamily="34" charset="0"/>
              <a:buChar char="•"/>
            </a:pPr>
            <a:r>
              <a:rPr lang="da-DK" dirty="0"/>
              <a:t>Ved </a:t>
            </a:r>
            <a:r>
              <a:rPr lang="da-DK" b="1" dirty="0"/>
              <a:t>ukontrolleret diabetes</a:t>
            </a:r>
            <a:r>
              <a:rPr lang="da-DK" dirty="0"/>
              <a:t> faldt det med mellem 0,64 og 0,49 procentpoint.</a:t>
            </a:r>
          </a:p>
          <a:p>
            <a:pPr marL="285750" indent="-285750">
              <a:buFont typeface="Arial" panose="020B0604020202020204" pitchFamily="34" charset="0"/>
              <a:buChar char="•"/>
            </a:pPr>
            <a:r>
              <a:rPr lang="da-DK" dirty="0"/>
              <a:t>Ved </a:t>
            </a:r>
            <a:r>
              <a:rPr lang="da-DK" b="1" dirty="0"/>
              <a:t>velreguleret diabetes</a:t>
            </a:r>
            <a:r>
              <a:rPr lang="da-DK" dirty="0"/>
              <a:t> faldt det med mellem 0,47 og 0,40 procentpoint.</a:t>
            </a:r>
          </a:p>
          <a:p>
            <a:pPr marL="285750" indent="-285750">
              <a:buFont typeface="Arial" panose="020B0604020202020204" pitchFamily="34" charset="0"/>
              <a:buChar char="•"/>
            </a:pPr>
            <a:r>
              <a:rPr lang="da-DK" dirty="0"/>
              <a:t>Ved </a:t>
            </a:r>
            <a:r>
              <a:rPr lang="da-DK" b="1" dirty="0"/>
              <a:t>prædiabetes</a:t>
            </a:r>
            <a:r>
              <a:rPr lang="da-DK" dirty="0"/>
              <a:t> faldt det med mellem 0,38 og 0,24 procentpoint.</a:t>
            </a:r>
          </a:p>
          <a:p>
            <a:endParaRPr lang="da-DK" dirty="0"/>
          </a:p>
          <a:p>
            <a:r>
              <a:rPr lang="da-DK" sz="1600" b="0" i="0" kern="1200" dirty="0">
                <a:solidFill>
                  <a:schemeClr val="tx1"/>
                </a:solidFill>
                <a:effectLst/>
                <a:latin typeface="AU Passata" pitchFamily="34" charset="0"/>
                <a:ea typeface="+mn-ea"/>
                <a:cs typeface="Arial" charset="0"/>
              </a:rPr>
              <a:t>At reducere sit langtidsblodsukker (HbA1c) med 1 procentpoint (f.eks. fra 8% til 7% eller fra 64 mmol/mol til 53 mmol/mol) er forbundet med: </a:t>
            </a:r>
          </a:p>
          <a:p>
            <a:endParaRPr lang="da-DK" dirty="0"/>
          </a:p>
          <a:p>
            <a:pPr marL="285750" indent="-285750">
              <a:buFont typeface="Arial" panose="020B0604020202020204" pitchFamily="34" charset="0"/>
              <a:buChar char="•"/>
            </a:pPr>
            <a:r>
              <a:rPr lang="da-DK" dirty="0"/>
              <a:t>35–40% lavere risiko for mikrovaskulære komplikationer</a:t>
            </a:r>
          </a:p>
          <a:p>
            <a:pPr marL="285750" indent="-285750">
              <a:buFont typeface="Arial" panose="020B0604020202020204" pitchFamily="34" charset="0"/>
              <a:buChar char="•"/>
            </a:pPr>
            <a:r>
              <a:rPr lang="da-DK" dirty="0"/>
              <a:t>14–16% lavere risiko for myokardieinfarkt</a:t>
            </a:r>
          </a:p>
          <a:p>
            <a:pPr marL="285750" indent="-285750">
              <a:buFont typeface="Arial" panose="020B0604020202020204" pitchFamily="34" charset="0"/>
              <a:buChar char="•"/>
            </a:pPr>
            <a:r>
              <a:rPr lang="da-DK" dirty="0"/>
              <a:t>Ca. 20% lavere diabetesrelateret dødelighed</a:t>
            </a:r>
          </a:p>
          <a:p>
            <a:endParaRPr lang="da-DK" dirty="0"/>
          </a:p>
          <a:p>
            <a:r>
              <a:rPr lang="da-DK" dirty="0"/>
              <a:t>Ud over at undersøge den optimale træningsdosis, så kiggede studiet også på, hvor meget træning der skulle til, for at rykke sig fra en sygdomskategori til en anden. </a:t>
            </a:r>
          </a:p>
          <a:p>
            <a:endParaRPr lang="da-DK" dirty="0"/>
          </a:p>
          <a:p>
            <a:r>
              <a:rPr lang="da-DK" b="1" dirty="0"/>
              <a:t>Fra svært ukontrolleret til ukontrolleret diabetes</a:t>
            </a:r>
            <a:br>
              <a:rPr lang="da-DK" dirty="0"/>
            </a:br>
            <a:r>
              <a:rPr lang="da-DK" dirty="0"/>
              <a:t>Folk som ligger tæt på grænseværdien med et HbA1c på 65, kunne nøjes med 150 MET-min om ugen for at rykke over </a:t>
            </a:r>
            <a:r>
              <a:rPr lang="da-DK" dirty="0" err="1"/>
              <a:t>tærklen</a:t>
            </a:r>
            <a:r>
              <a:rPr lang="da-DK" dirty="0"/>
              <a:t> til </a:t>
            </a:r>
            <a:r>
              <a:rPr lang="da-DK" dirty="0" err="1"/>
              <a:t>ukotrolleret</a:t>
            </a:r>
            <a:r>
              <a:rPr lang="da-DK" dirty="0"/>
              <a:t> diabetes. Mens folk med højere HbA1c på 70 skulle op på 810 MET-min. </a:t>
            </a:r>
          </a:p>
          <a:p>
            <a:endParaRPr lang="da-DK" dirty="0"/>
          </a:p>
          <a:p>
            <a:r>
              <a:rPr lang="da-DK" b="1" dirty="0"/>
              <a:t>Fra ukontrolleret til velreguleret diabetes</a:t>
            </a:r>
            <a:br>
              <a:rPr lang="da-DK" dirty="0"/>
            </a:br>
            <a:r>
              <a:rPr lang="da-DK" dirty="0"/>
              <a:t>Der skulle mellem 330 og 990 MET-minutter om ugen til.</a:t>
            </a:r>
            <a:br>
              <a:rPr lang="da-DK" dirty="0"/>
            </a:br>
            <a:r>
              <a:rPr lang="da-DK" dirty="0"/>
              <a:t>Det skulle folk tæt på grænseværdien 54 mmol/mol, opnå 330 MET-min, mens personer længere fra (58 mmol/mol) skulle op omkring 990 MET-minutter om ugen.</a:t>
            </a:r>
          </a:p>
          <a:p>
            <a:endParaRPr lang="da-DK" dirty="0"/>
          </a:p>
          <a:p>
            <a:r>
              <a:rPr lang="da-DK" b="1" dirty="0"/>
              <a:t>Fra velreguleret diabetes til prædiabetes</a:t>
            </a:r>
            <a:br>
              <a:rPr lang="da-DK" dirty="0"/>
            </a:br>
            <a:r>
              <a:rPr lang="da-DK" dirty="0"/>
              <a:t>Det laveste behov gjaldt personer med HbA1c på 649 mmol/mol, mens personer med 51 mmol/mol skulle op omkring 900 MET-minutter om ugen.</a:t>
            </a:r>
          </a:p>
          <a:p>
            <a:endParaRPr lang="da-DK" dirty="0"/>
          </a:p>
          <a:p>
            <a:r>
              <a:rPr lang="da-DK" dirty="0"/>
              <a:t>Hvis vi lige vælger at kigge på de personer som ligger lige ved grænseværdien, så ser det også ud som om at, jo lavere et HbA1c man har, desto mere skal der til for at flytte sig yderligere.</a:t>
            </a:r>
          </a:p>
          <a:p>
            <a:endParaRPr lang="da-DK" dirty="0"/>
          </a:p>
          <a:p>
            <a:r>
              <a:rPr lang="da-DK" dirty="0"/>
              <a:t>Det er måske meget intuitivt. Men det er vigtigt i praksis.</a:t>
            </a:r>
          </a:p>
          <a:p>
            <a:endParaRPr lang="da-DK" dirty="0"/>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9</a:t>
            </a:fld>
            <a:endParaRPr lang="en-GB" dirty="0"/>
          </a:p>
        </p:txBody>
      </p:sp>
    </p:spTree>
    <p:extLst>
      <p:ext uri="{BB962C8B-B14F-4D97-AF65-F5344CB8AC3E}">
        <p14:creationId xmlns:p14="http://schemas.microsoft.com/office/powerpoint/2010/main" val="24321688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Rammer I 1.100 MET-minutter i jeres tilbud?</a:t>
            </a:r>
          </a:p>
          <a:p>
            <a:r>
              <a:rPr lang="da-DK" dirty="0"/>
              <a:t>Det behøver I ikke svare på nu. Men det kan være en interessant øvelse at regne på, når I kommer hjem.</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10</a:t>
            </a:fld>
            <a:endParaRPr lang="en-GB" dirty="0"/>
          </a:p>
        </p:txBody>
      </p:sp>
    </p:spTree>
    <p:extLst>
      <p:ext uri="{BB962C8B-B14F-4D97-AF65-F5344CB8AC3E}">
        <p14:creationId xmlns:p14="http://schemas.microsoft.com/office/powerpoint/2010/main" val="1798839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Lad os vende spørgsmålet om:</a:t>
            </a:r>
          </a:p>
          <a:p>
            <a:endParaRPr lang="da-DK" dirty="0"/>
          </a:p>
          <a:p>
            <a:r>
              <a:rPr lang="da-DK" dirty="0"/>
              <a:t>Hvor lidt skal man egentlig sidde for at opnå sundhedseffekt?</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11</a:t>
            </a:fld>
            <a:endParaRPr lang="en-GB" dirty="0"/>
          </a:p>
        </p:txBody>
      </p:sp>
    </p:spTree>
    <p:extLst>
      <p:ext uri="{BB962C8B-B14F-4D97-AF65-F5344CB8AC3E}">
        <p14:creationId xmlns:p14="http://schemas.microsoft.com/office/powerpoint/2010/main" val="42073539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Vi ved, at mange voksne i dag tilbringer mere end halvdelen af deres vågne timer siddende. </a:t>
            </a:r>
          </a:p>
          <a:p>
            <a:endParaRPr lang="da-DK" dirty="0"/>
          </a:p>
          <a:p>
            <a:r>
              <a:rPr lang="da-DK" dirty="0"/>
              <a:t>Selvrapporterede data viser typisk en daglig siddetid på 5 til 8 timer, nogle amerikanske studier helt op til 12–14 timer dagligt. Når man måler med aktivitetsmålere, ligger den gennemsnitlige siddetid ofte omkring 7 til 11 timer om dagen. Det tyder på, at mange undervurderer, hvor stor en del af dagen de faktisk er stillesiddende.</a:t>
            </a:r>
          </a:p>
          <a:p>
            <a:endParaRPr lang="da-DK" dirty="0"/>
          </a:p>
          <a:p>
            <a:r>
              <a:rPr lang="da-DK" dirty="0"/>
              <a:t>Og der er stærk evidens for, at store mængder daglig siddetid er forbundet med en markant øget risiko for både total dødelighed, kardiovaskulær dødelighed, udvikling af hjertekarsygdom og type 2-diabetes.</a:t>
            </a:r>
          </a:p>
          <a:p>
            <a:r>
              <a:rPr lang="da-DK" dirty="0"/>
              <a:t>Det betyder, at når vi taler forebyggelse og behandling, er det ikke nok kun at fokusere på, om borgeren når 30 minutters motion om dagen. Vi er også nødt til at forholde os til, hvad der sker i de resterende 15–16 vågne timer.</a:t>
            </a:r>
          </a:p>
          <a:p>
            <a:endParaRPr lang="da-DK" dirty="0"/>
          </a:p>
          <a:p>
            <a:r>
              <a:rPr lang="da-DK" dirty="0"/>
              <a:t>Et centralt pointe for os som sundhedsprofessionelle er, at man godt kan opfylde eller endda overstige de officielle anbefalinger for fysisk aktivitet og samtidig tilbringe størstedelen af sine vågne timer siddende. Fysisk aktivitet og stillesiddende adfærd er altså to forskellige dimensioner, som ikke nødvendigvis ophæver hinanden.</a:t>
            </a:r>
          </a:p>
          <a:p>
            <a:endParaRPr lang="da-DK" dirty="0"/>
          </a:p>
          <a:p>
            <a:endParaRPr lang="da-DK" dirty="0"/>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12</a:t>
            </a:fld>
            <a:endParaRPr lang="en-GB" dirty="0"/>
          </a:p>
        </p:txBody>
      </p:sp>
    </p:spTree>
    <p:extLst>
      <p:ext uri="{BB962C8B-B14F-4D97-AF65-F5344CB8AC3E}">
        <p14:creationId xmlns:p14="http://schemas.microsoft.com/office/powerpoint/2010/main" val="4260906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25E88-78C3-336A-8A15-ADAFD6814D8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37DEBCF1-AC13-F6A3-B3A7-648F17FE45D0}"/>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36C80496-2B6E-7A58-5536-9CC6FA11D49D}"/>
              </a:ext>
            </a:extLst>
          </p:cNvPr>
          <p:cNvSpPr>
            <a:spLocks noGrp="1"/>
          </p:cNvSpPr>
          <p:nvPr>
            <p:ph type="body" idx="1"/>
          </p:nvPr>
        </p:nvSpPr>
        <p:spPr/>
        <p:txBody>
          <a:bodyPr/>
          <a:lstStyle/>
          <a:p>
            <a:r>
              <a:rPr lang="da-DK" dirty="0"/>
              <a:t>Her ser vi to eksempler på aktivitetsmønstre i løbet af en dag. Her har to personer båret en aktivitetsmåler. Rød betyder at personen har været stillesiddende, gul betyder at personen har bevæget sig med let intensitet (fx gang), og orange er moderat til høj intensitet (fx. løb, rask cykling). De to mænd bevæger sig omtrent det samme i moderat til høj intensitet, men der er tydelige forskelle på hvor længde de er stillesiddende af gangen. </a:t>
            </a:r>
            <a:r>
              <a:rPr lang="da-DK" dirty="0" err="1"/>
              <a:t>Interrupteren</a:t>
            </a:r>
            <a:r>
              <a:rPr lang="da-DK" dirty="0"/>
              <a:t> her, vil ikke i samme omfang opleve de negative sundhedseffekter af stillesiddende adfærd, fordi han får afbrudt de lange træk. Også selvom der ikke er nævneværdig forskel på den totale mængde af stillesiddende tid.  </a:t>
            </a:r>
          </a:p>
          <a:p>
            <a:endParaRPr lang="da-DK" dirty="0"/>
          </a:p>
          <a:p>
            <a:r>
              <a:rPr lang="da-DK" dirty="0"/>
              <a:t>Træning er heller ikke en fuldstændig modgift mod langvarig stillesiddende adfærd.</a:t>
            </a:r>
          </a:p>
          <a:p>
            <a:r>
              <a:rPr lang="da-DK" dirty="0"/>
              <a:t>Der findes det, man kalder “</a:t>
            </a:r>
            <a:r>
              <a:rPr lang="da-DK" dirty="0" err="1"/>
              <a:t>sitting-induced</a:t>
            </a:r>
            <a:r>
              <a:rPr lang="da-DK" dirty="0"/>
              <a:t> </a:t>
            </a:r>
            <a:r>
              <a:rPr lang="da-DK" dirty="0" err="1"/>
              <a:t>exercise</a:t>
            </a:r>
            <a:r>
              <a:rPr lang="da-DK" dirty="0"/>
              <a:t> </a:t>
            </a:r>
            <a:r>
              <a:rPr lang="da-DK" dirty="0" err="1"/>
              <a:t>resistance</a:t>
            </a:r>
            <a:r>
              <a:rPr lang="da-DK" dirty="0"/>
              <a:t>”.</a:t>
            </a:r>
          </a:p>
          <a:p>
            <a:r>
              <a:rPr lang="da-DK" dirty="0"/>
              <a:t>Nu smækker vi lige en træningssession ind her. Hvis vi sammenligner to personer med samme træningssession, men den ene afbryder sine stillesiddende perioder og den anden ikke gør, så ser vi forskelle i metabolisk respons.</a:t>
            </a:r>
          </a:p>
          <a:p>
            <a:r>
              <a:rPr lang="da-DK" dirty="0" err="1"/>
              <a:t>Interrupteren</a:t>
            </a:r>
            <a:r>
              <a:rPr lang="da-DK" dirty="0"/>
              <a:t> er mere “klar” til at respondere på træning.</a:t>
            </a:r>
          </a:p>
          <a:p>
            <a:endParaRPr lang="da-DK" dirty="0"/>
          </a:p>
        </p:txBody>
      </p:sp>
      <p:sp>
        <p:nvSpPr>
          <p:cNvPr id="4" name="Pladsholder til slidenummer 3">
            <a:extLst>
              <a:ext uri="{FF2B5EF4-FFF2-40B4-BE49-F238E27FC236}">
                <a16:creationId xmlns:a16="http://schemas.microsoft.com/office/drawing/2014/main" id="{5E701999-57DF-8243-85C2-0B257D91A57F}"/>
              </a:ext>
            </a:extLst>
          </p:cNvPr>
          <p:cNvSpPr>
            <a:spLocks noGrp="1"/>
          </p:cNvSpPr>
          <p:nvPr>
            <p:ph type="sldNum" sz="quarter" idx="5"/>
          </p:nvPr>
        </p:nvSpPr>
        <p:spPr/>
        <p:txBody>
          <a:bodyPr/>
          <a:lstStyle/>
          <a:p>
            <a:pPr>
              <a:defRPr/>
            </a:pPr>
            <a:fld id="{72C160C3-3AB6-49C1-8001-AFDAD271EB5B}" type="slidenum">
              <a:rPr lang="en-GB" smtClean="0"/>
              <a:pPr>
                <a:defRPr/>
              </a:pPr>
              <a:t>13</a:t>
            </a:fld>
            <a:endParaRPr lang="en-GB" dirty="0"/>
          </a:p>
        </p:txBody>
      </p:sp>
    </p:spTree>
    <p:extLst>
      <p:ext uri="{BB962C8B-B14F-4D97-AF65-F5344CB8AC3E}">
        <p14:creationId xmlns:p14="http://schemas.microsoft.com/office/powerpoint/2010/main" val="660057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b="0" dirty="0"/>
              <a:t>I ved alle sammen at det ikke er sundt at sidde meget – og jeg vil ikke gå i detaljer med de mekanismer som gør at sidde til det nye rygning – som der er mange der mener. Men at sidde i længere tid har negativ indflydelse på </a:t>
            </a:r>
            <a:r>
              <a:rPr lang="da-DK" b="0" dirty="0" err="1"/>
              <a:t>blodkarenes</a:t>
            </a:r>
            <a:r>
              <a:rPr lang="da-DK" b="0" dirty="0"/>
              <a:t> funktion, blodtrykket, blodsukkeret og blodgennemstrømningen i hjernen. Derudover er der også studier som viser at det inflammationsniveauet i kroppen stiger jo længere man sidder. </a:t>
            </a:r>
          </a:p>
          <a:p>
            <a:endParaRPr lang="da-DK" b="1" dirty="0"/>
          </a:p>
          <a:p>
            <a:r>
              <a:rPr lang="da-DK" b="0" dirty="0"/>
              <a:t>Og hvad er så evidensen for at man kan komme de negative effekter i forkøbet ved at afbryde den stillesiddende adfærd med aktive pauser.  </a:t>
            </a:r>
          </a:p>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14</a:t>
            </a:fld>
            <a:endParaRPr lang="en-GB" dirty="0"/>
          </a:p>
        </p:txBody>
      </p:sp>
    </p:spTree>
    <p:extLst>
      <p:ext uri="{BB962C8B-B14F-4D97-AF65-F5344CB8AC3E}">
        <p14:creationId xmlns:p14="http://schemas.microsoft.com/office/powerpoint/2010/main" val="25939685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Igen et stort systematisk </a:t>
            </a:r>
            <a:r>
              <a:rPr lang="da-DK" dirty="0" err="1"/>
              <a:t>review</a:t>
            </a:r>
            <a:r>
              <a:rPr lang="da-DK" dirty="0"/>
              <a:t> med </a:t>
            </a:r>
            <a:r>
              <a:rPr lang="da-DK" dirty="0" err="1"/>
              <a:t>mata</a:t>
            </a:r>
            <a:r>
              <a:rPr lang="da-DK" dirty="0"/>
              <a:t>-analyse </a:t>
            </a:r>
            <a:r>
              <a:rPr lang="da-DK" dirty="0" err="1"/>
              <a:t>ala</a:t>
            </a:r>
            <a:r>
              <a:rPr lang="da-DK" dirty="0"/>
              <a:t> det vi har været forbi med 1100 MET-minutter. De her studie samler randomiserede undersøgelser som undersøger effekten af at holde aktive pauser i løbet af dagen på  det gennemsnitlige blodsukker i løbet af dagen. </a:t>
            </a:r>
          </a:p>
          <a:p>
            <a:endParaRPr lang="da-DK" dirty="0"/>
          </a:p>
          <a:p>
            <a:r>
              <a:rPr lang="da-DK" dirty="0"/>
              <a:t>Her er det man kalder et forrest plot. Dvs. vi har et overblik over de forskellige studier som er på området. </a:t>
            </a:r>
          </a:p>
          <a:p>
            <a:endParaRPr lang="da-DK" dirty="0"/>
          </a:p>
          <a:p>
            <a:r>
              <a:rPr lang="da-DK" dirty="0"/>
              <a:t>Forfatterne her har været søde at kategorisere studierne, så vi kan se resultaterne adskilt for personer som er aktive, og personer som er inaktive, utrænede, har T2D eller overvægtige. </a:t>
            </a:r>
          </a:p>
          <a:p>
            <a:endParaRPr lang="da-DK" dirty="0"/>
          </a:p>
          <a:p>
            <a:r>
              <a:rPr lang="da-DK" dirty="0"/>
              <a:t>Vi får opgjort middelblodsukkeret for de personer som holder aktive pauser i løbet af dagen og dem som ikke gør. Og så får vi angivet effekten her ude til højre. Den lille prik her i midten er den gennemsnitlige forskel i mellem grupperne, og armene til hver side angiver den statistiske usikkerhed omkring estimatet. Fx. i det her studie af Bailey et al, der estimerer vi at dem der holder aktive pauser (her i form af let gang) i gennemsnit har et blodsukker som er 1,6 lavere end dem som ikke holder pauser. Men den sande gennemsnitlige forskel kan være så høj som 2,6 eller så lav som -0,5. Det kalder man et </a:t>
            </a:r>
            <a:r>
              <a:rPr lang="da-DK" dirty="0" err="1"/>
              <a:t>konfidens</a:t>
            </a:r>
            <a:r>
              <a:rPr lang="da-DK" dirty="0"/>
              <a:t> interval. Og hvis konfidensintervallet går over nul, så er forskellen ikke statistisk signifikant. Hvis I er vant til at snakke om </a:t>
            </a:r>
            <a:r>
              <a:rPr lang="da-DK" dirty="0" err="1"/>
              <a:t>p-værdier</a:t>
            </a:r>
            <a:r>
              <a:rPr lang="da-DK" dirty="0"/>
              <a:t>, så er det det samme somme at sige at </a:t>
            </a:r>
            <a:r>
              <a:rPr lang="da-DK" dirty="0" err="1"/>
              <a:t>p-værdien</a:t>
            </a:r>
            <a:r>
              <a:rPr lang="da-DK" dirty="0"/>
              <a:t> er er mere end. 0.05.</a:t>
            </a:r>
          </a:p>
          <a:p>
            <a:endParaRPr lang="da-DK" dirty="0"/>
          </a:p>
          <a:p>
            <a:r>
              <a:rPr lang="da-DK" dirty="0"/>
              <a:t>Og hvis vi hurtigt skimmer studierne i gennem, så kan vi se at rigtig mange studier, ikke kan vise signifikante forbedringer på blodsukkeret når man holder aktive pauser i løbet af dagen. Det kan der være flere årsager til. Mest oplagt fordi der ikke er en forskel. Men det kan også skyldes at det er fordi man ikke har nok deltagere i sit studie – så bliver usikkerheden høj og ”armene bliver lange”.  </a:t>
            </a:r>
          </a:p>
          <a:p>
            <a:endParaRPr lang="da-DK" dirty="0"/>
          </a:p>
          <a:p>
            <a:r>
              <a:rPr lang="da-DK" dirty="0"/>
              <a:t>Det fede ved sådan en </a:t>
            </a:r>
            <a:r>
              <a:rPr lang="da-DK" dirty="0" err="1"/>
              <a:t>mataanalyser</a:t>
            </a:r>
            <a:r>
              <a:rPr lang="da-DK" dirty="0"/>
              <a:t> her er, at man kan samle effekterne af alle studierne og analysere sig frem til en samlet effekt. Forudsat at studierne er relativt ens og undersøger nogenlunde ens interventioner. </a:t>
            </a:r>
          </a:p>
          <a:p>
            <a:endParaRPr lang="da-DK" dirty="0"/>
          </a:p>
          <a:p>
            <a:r>
              <a:rPr lang="da-DK" dirty="0"/>
              <a:t>I dette tilfælde fandt man en samlet signifikant reduktion i blodsukkeret på -0,6 for personerne hos inaktive/utrænede personer. Det var ikke tilfældes hos de trænede personer. </a:t>
            </a:r>
          </a:p>
          <a:p>
            <a:endParaRPr lang="da-DK" dirty="0"/>
          </a:p>
          <a:p>
            <a:r>
              <a:rPr lang="da-DK" dirty="0"/>
              <a:t>Effekten er ikke enorm. Men den er reel.</a:t>
            </a:r>
          </a:p>
          <a:p>
            <a:r>
              <a:rPr lang="da-DK" dirty="0"/>
              <a:t>Så man kan komme et stykke vej bare ved at bryde de lange siddestræk.</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15</a:t>
            </a:fld>
            <a:endParaRPr lang="en-GB" dirty="0"/>
          </a:p>
        </p:txBody>
      </p:sp>
    </p:spTree>
    <p:extLst>
      <p:ext uri="{BB962C8B-B14F-4D97-AF65-F5344CB8AC3E}">
        <p14:creationId xmlns:p14="http://schemas.microsoft.com/office/powerpoint/2010/main" val="2833457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dirty="0"/>
              <a:t>Vi har meget fokus på blodsukker – det kommer vi ofte til at have når vi snakker type 2 diabetes. Men de har aktive pauser kan også have positive effekter på andre biomarkører som fx. blodsukkeret? </a:t>
            </a:r>
          </a:p>
          <a:p>
            <a:endParaRPr lang="da-DK" dirty="0"/>
          </a:p>
          <a:p>
            <a:r>
              <a:rPr lang="da-DK" dirty="0"/>
              <a:t>I det her studie af </a:t>
            </a:r>
            <a:r>
              <a:rPr lang="da-DK" dirty="0" err="1"/>
              <a:t>Dempsey</a:t>
            </a:r>
            <a:r>
              <a:rPr lang="da-DK" dirty="0"/>
              <a:t> et al., der hev man folk med type 2 diabetes ind i et laboratorium og bad dem om at sætte sig og arbejde på en computer. 1 tredjedel skulle bare sidde og arbejde, gå på toilettet når naturen kaldte, men ellers bare sidde og være fokuseret. 1 tredjedel skulle hver halve time gå en kort tur på 3 min. Og den sidste 3 del skulle lave en ultrakort træning bestående af styrkeøvelser. </a:t>
            </a:r>
          </a:p>
          <a:p>
            <a:endParaRPr lang="da-DK" dirty="0"/>
          </a:p>
          <a:p>
            <a:r>
              <a:rPr lang="da-DK" dirty="0"/>
              <a:t>Og som I kan se fandt de en ret markant forskel både i det systoliske og diastoliske blodtryk mellem den stillesiddende gruppe og de to aktive grupper. Og som I kan se hvad der ikke nogen særlig forskel i mellem </a:t>
            </a:r>
            <a:r>
              <a:rPr lang="da-DK" dirty="0" err="1"/>
              <a:t>gågruppen</a:t>
            </a:r>
            <a:r>
              <a:rPr lang="da-DK" dirty="0"/>
              <a:t> og </a:t>
            </a:r>
            <a:r>
              <a:rPr lang="da-DK" dirty="0" err="1"/>
              <a:t>styrkegruppen</a:t>
            </a:r>
            <a:r>
              <a:rPr lang="da-DK" dirty="0"/>
              <a:t>. </a:t>
            </a:r>
          </a:p>
          <a:p>
            <a:endParaRPr lang="da-DK" dirty="0"/>
          </a:p>
          <a:p>
            <a:r>
              <a:rPr lang="da-DK" dirty="0"/>
              <a:t>Det krævede altså ikke hård træning for at se en effekter på blodtrykket.</a:t>
            </a:r>
          </a:p>
          <a:p>
            <a:endParaRPr lang="da-DK" dirty="0"/>
          </a:p>
          <a:p>
            <a:r>
              <a:rPr lang="da-DK" dirty="0"/>
              <a:t>Men studiet bestod kun af 24 deltagere – så vi skal være lidt ydmyge for resultaterne</a:t>
            </a:r>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16</a:t>
            </a:fld>
            <a:endParaRPr lang="en-GB" dirty="0"/>
          </a:p>
        </p:txBody>
      </p:sp>
    </p:spTree>
    <p:extLst>
      <p:ext uri="{BB962C8B-B14F-4D97-AF65-F5344CB8AC3E}">
        <p14:creationId xmlns:p14="http://schemas.microsoft.com/office/powerpoint/2010/main" val="2900999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2A72-B66F-8F37-092A-7F752D77E58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FCB2DD9F-CB51-3C84-C2AD-664EC188FDAF}"/>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4DCB815A-99EC-63E1-121A-A8EBE5ABA83B}"/>
              </a:ext>
            </a:extLst>
          </p:cNvPr>
          <p:cNvSpPr>
            <a:spLocks noGrp="1"/>
          </p:cNvSpPr>
          <p:nvPr>
            <p:ph type="body" idx="1"/>
          </p:nvPr>
        </p:nvSpPr>
        <p:spPr/>
        <p:txBody>
          <a:bodyPr/>
          <a:lstStyle/>
          <a:p>
            <a:r>
              <a:rPr lang="en-US" dirty="0" err="1"/>
              <a:t>Måske</a:t>
            </a:r>
            <a:r>
              <a:rPr lang="en-US" dirty="0"/>
              <a:t> </a:t>
            </a:r>
            <a:r>
              <a:rPr lang="en-US" dirty="0" err="1"/>
              <a:t>nogle</a:t>
            </a:r>
            <a:r>
              <a:rPr lang="en-US" dirty="0"/>
              <a:t> </a:t>
            </a:r>
            <a:r>
              <a:rPr lang="en-US" dirty="0" err="1"/>
              <a:t>af</a:t>
            </a:r>
            <a:r>
              <a:rPr lang="en-US" dirty="0"/>
              <a:t> </a:t>
            </a:r>
            <a:r>
              <a:rPr lang="en-US" dirty="0" err="1"/>
              <a:t>jer</a:t>
            </a:r>
            <a:r>
              <a:rPr lang="en-US" dirty="0"/>
              <a:t> </a:t>
            </a:r>
            <a:r>
              <a:rPr lang="en-US" dirty="0" err="1"/>
              <a:t>har</a:t>
            </a:r>
            <a:r>
              <a:rPr lang="en-US" dirty="0"/>
              <a:t> </a:t>
            </a:r>
            <a:r>
              <a:rPr lang="en-US" dirty="0" err="1"/>
              <a:t>hørt</a:t>
            </a:r>
            <a:r>
              <a:rPr lang="en-US" dirty="0"/>
              <a:t> om Exercise Snacks, </a:t>
            </a:r>
            <a:r>
              <a:rPr lang="en-US" dirty="0" err="1"/>
              <a:t>trænings</a:t>
            </a:r>
            <a:r>
              <a:rPr lang="en-US" dirty="0"/>
              <a:t> </a:t>
            </a:r>
            <a:r>
              <a:rPr lang="en-US" dirty="0" err="1"/>
              <a:t>hapsere</a:t>
            </a:r>
            <a:r>
              <a:rPr lang="en-US" dirty="0"/>
              <a:t>, </a:t>
            </a:r>
            <a:r>
              <a:rPr lang="en-US" dirty="0" err="1"/>
              <a:t>mikrotræning</a:t>
            </a:r>
            <a:r>
              <a:rPr lang="en-US" dirty="0"/>
              <a:t> – </a:t>
            </a:r>
            <a:r>
              <a:rPr lang="en-US" dirty="0" err="1"/>
              <a:t>kald</a:t>
            </a:r>
            <a:r>
              <a:rPr lang="en-US" dirty="0"/>
              <a:t> det </a:t>
            </a:r>
            <a:r>
              <a:rPr lang="en-US" dirty="0" err="1"/>
              <a:t>hvad</a:t>
            </a:r>
            <a:r>
              <a:rPr lang="en-US" dirty="0"/>
              <a:t> du vil. Det er </a:t>
            </a:r>
            <a:r>
              <a:rPr lang="en-US" dirty="0" err="1"/>
              <a:t>meget</a:t>
            </a:r>
            <a:r>
              <a:rPr lang="en-US" dirty="0"/>
              <a:t> </a:t>
            </a:r>
            <a:r>
              <a:rPr lang="en-US" dirty="0" err="1"/>
              <a:t>oppe</a:t>
            </a:r>
            <a:r>
              <a:rPr lang="en-US" dirty="0"/>
              <a:t> </a:t>
            </a:r>
            <a:r>
              <a:rPr lang="en-US" dirty="0" err="1"/>
              <a:t>i</a:t>
            </a:r>
            <a:r>
              <a:rPr lang="en-US" dirty="0"/>
              <a:t> </a:t>
            </a:r>
            <a:r>
              <a:rPr lang="en-US" dirty="0" err="1"/>
              <a:t>vælten</a:t>
            </a:r>
            <a:r>
              <a:rPr lang="en-US" dirty="0"/>
              <a:t> </a:t>
            </a:r>
            <a:r>
              <a:rPr lang="en-US" dirty="0" err="1"/>
              <a:t>og</a:t>
            </a:r>
            <a:r>
              <a:rPr lang="en-US" dirty="0"/>
              <a:t> </a:t>
            </a:r>
            <a:r>
              <a:rPr lang="en-US" dirty="0" err="1"/>
              <a:t>har</a:t>
            </a:r>
            <a:r>
              <a:rPr lang="en-US" dirty="0"/>
              <a:t> </a:t>
            </a:r>
            <a:r>
              <a:rPr lang="en-US" dirty="0" err="1"/>
              <a:t>vist</a:t>
            </a:r>
            <a:r>
              <a:rPr lang="en-US" dirty="0"/>
              <a:t> </a:t>
            </a:r>
            <a:r>
              <a:rPr lang="en-US" dirty="0" err="1"/>
              <a:t>meget</a:t>
            </a:r>
            <a:r>
              <a:rPr lang="en-US" dirty="0"/>
              <a:t> positive </a:t>
            </a:r>
            <a:r>
              <a:rPr lang="en-US" dirty="0" err="1"/>
              <a:t>resultater</a:t>
            </a:r>
            <a:r>
              <a:rPr lang="en-US" dirty="0"/>
              <a:t> </a:t>
            </a:r>
            <a:r>
              <a:rPr lang="en-US" dirty="0" err="1"/>
              <a:t>på</a:t>
            </a:r>
            <a:r>
              <a:rPr lang="en-US" dirty="0"/>
              <a:t> </a:t>
            </a:r>
            <a:r>
              <a:rPr lang="en-US" dirty="0" err="1"/>
              <a:t>sådan</a:t>
            </a:r>
            <a:r>
              <a:rPr lang="en-US" dirty="0"/>
              <a:t> </a:t>
            </a:r>
            <a:r>
              <a:rPr lang="en-US" dirty="0" err="1"/>
              <a:t>noget</a:t>
            </a:r>
            <a:r>
              <a:rPr lang="en-US" dirty="0"/>
              <a:t> </a:t>
            </a:r>
            <a:r>
              <a:rPr lang="en-US" dirty="0" err="1"/>
              <a:t>som</a:t>
            </a:r>
            <a:r>
              <a:rPr lang="en-US" dirty="0"/>
              <a:t> </a:t>
            </a:r>
            <a:r>
              <a:rPr lang="en-US" dirty="0" err="1"/>
              <a:t>iltoptagelse</a:t>
            </a:r>
            <a:r>
              <a:rPr lang="en-US" dirty="0"/>
              <a:t>, </a:t>
            </a:r>
            <a:r>
              <a:rPr lang="en-US" dirty="0" err="1"/>
              <a:t>smerter</a:t>
            </a:r>
            <a:r>
              <a:rPr lang="en-US" dirty="0"/>
              <a:t>, </a:t>
            </a:r>
            <a:r>
              <a:rPr lang="en-US" dirty="0" err="1"/>
              <a:t>fysisk</a:t>
            </a:r>
            <a:r>
              <a:rPr lang="en-US" dirty="0"/>
              <a:t> </a:t>
            </a:r>
            <a:r>
              <a:rPr lang="en-US" dirty="0" err="1"/>
              <a:t>funktion</a:t>
            </a:r>
            <a:r>
              <a:rPr lang="en-US" dirty="0"/>
              <a:t> </a:t>
            </a:r>
            <a:r>
              <a:rPr lang="en-US" dirty="0" err="1"/>
              <a:t>osv</a:t>
            </a:r>
            <a:r>
              <a:rPr lang="en-US" dirty="0"/>
              <a:t> </a:t>
            </a:r>
            <a:r>
              <a:rPr lang="en-US" dirty="0" err="1"/>
              <a:t>på</a:t>
            </a:r>
            <a:r>
              <a:rPr lang="en-US" dirty="0"/>
              <a:t> </a:t>
            </a:r>
            <a:r>
              <a:rPr lang="en-US" dirty="0" err="1"/>
              <a:t>raske</a:t>
            </a:r>
            <a:r>
              <a:rPr lang="en-US" dirty="0"/>
              <a:t> </a:t>
            </a:r>
            <a:r>
              <a:rPr lang="en-US" dirty="0" err="1"/>
              <a:t>mennesker</a:t>
            </a:r>
            <a:r>
              <a:rPr lang="en-US" dirty="0"/>
              <a:t>. Der er </a:t>
            </a:r>
            <a:r>
              <a:rPr lang="en-US" dirty="0" err="1"/>
              <a:t>desværre</a:t>
            </a:r>
            <a:r>
              <a:rPr lang="en-US" dirty="0"/>
              <a:t> </a:t>
            </a:r>
            <a:r>
              <a:rPr lang="en-US" dirty="0" err="1"/>
              <a:t>ikke</a:t>
            </a:r>
            <a:r>
              <a:rPr lang="en-US" dirty="0"/>
              <a:t> </a:t>
            </a:r>
            <a:r>
              <a:rPr lang="en-US" dirty="0" err="1"/>
              <a:t>særlig</a:t>
            </a:r>
            <a:r>
              <a:rPr lang="en-US" dirty="0"/>
              <a:t> </a:t>
            </a:r>
            <a:r>
              <a:rPr lang="en-US" dirty="0" err="1"/>
              <a:t>meget</a:t>
            </a:r>
            <a:r>
              <a:rPr lang="en-US" dirty="0"/>
              <a:t> </a:t>
            </a:r>
            <a:r>
              <a:rPr lang="en-US" dirty="0" err="1"/>
              <a:t>på</a:t>
            </a:r>
            <a:r>
              <a:rPr lang="en-US" dirty="0"/>
              <a:t> T2 </a:t>
            </a:r>
            <a:r>
              <a:rPr lang="en-US" dirty="0" err="1"/>
              <a:t>området</a:t>
            </a:r>
            <a:r>
              <a:rPr lang="en-US" dirty="0"/>
              <a:t> </a:t>
            </a:r>
            <a:r>
              <a:rPr lang="en-US" dirty="0" err="1"/>
              <a:t>endnu</a:t>
            </a:r>
            <a:r>
              <a:rPr lang="en-US" dirty="0"/>
              <a:t>.  Og det </a:t>
            </a:r>
            <a:r>
              <a:rPr lang="en-US" dirty="0" err="1"/>
              <a:t>hænger</a:t>
            </a:r>
            <a:r>
              <a:rPr lang="en-US" dirty="0"/>
              <a:t> </a:t>
            </a:r>
            <a:r>
              <a:rPr lang="en-US" dirty="0" err="1"/>
              <a:t>nok</a:t>
            </a:r>
            <a:r>
              <a:rPr lang="en-US" dirty="0"/>
              <a:t> </a:t>
            </a:r>
            <a:r>
              <a:rPr lang="en-US" dirty="0" err="1"/>
              <a:t>sammen</a:t>
            </a:r>
            <a:r>
              <a:rPr lang="en-US" dirty="0"/>
              <a:t> med at det er </a:t>
            </a:r>
            <a:r>
              <a:rPr lang="en-US" dirty="0" err="1"/>
              <a:t>skide</a:t>
            </a:r>
            <a:r>
              <a:rPr lang="en-US" dirty="0"/>
              <a:t> </a:t>
            </a:r>
            <a:r>
              <a:rPr lang="en-US" dirty="0" err="1"/>
              <a:t>svært</a:t>
            </a:r>
            <a:r>
              <a:rPr lang="en-US" dirty="0"/>
              <a:t> at </a:t>
            </a:r>
            <a:r>
              <a:rPr lang="en-US" dirty="0" err="1"/>
              <a:t>forske</a:t>
            </a:r>
            <a:r>
              <a:rPr lang="en-US" dirty="0"/>
              <a:t> </a:t>
            </a:r>
            <a:r>
              <a:rPr lang="en-US" dirty="0" err="1"/>
              <a:t>i</a:t>
            </a:r>
            <a:r>
              <a:rPr lang="en-US" dirty="0"/>
              <a:t>. Det </a:t>
            </a:r>
            <a:r>
              <a:rPr lang="en-US" dirty="0" err="1"/>
              <a:t>eneste</a:t>
            </a:r>
            <a:r>
              <a:rPr lang="en-US" dirty="0"/>
              <a:t> </a:t>
            </a:r>
            <a:r>
              <a:rPr lang="en-US" dirty="0" err="1"/>
              <a:t>ordentlige</a:t>
            </a:r>
            <a:r>
              <a:rPr lang="en-US" dirty="0"/>
              <a:t> </a:t>
            </a:r>
            <a:r>
              <a:rPr lang="en-US" dirty="0" err="1"/>
              <a:t>studie</a:t>
            </a:r>
            <a:r>
              <a:rPr lang="en-US" dirty="0"/>
              <a:t> </a:t>
            </a:r>
            <a:r>
              <a:rPr lang="en-US" dirty="0" err="1"/>
              <a:t>jeg</a:t>
            </a:r>
            <a:r>
              <a:rPr lang="en-US" dirty="0"/>
              <a:t> </a:t>
            </a:r>
            <a:r>
              <a:rPr lang="en-US" dirty="0" err="1"/>
              <a:t>kunne</a:t>
            </a:r>
            <a:r>
              <a:rPr lang="en-US" dirty="0"/>
              <a:t> </a:t>
            </a:r>
            <a:r>
              <a:rPr lang="en-US" dirty="0" err="1"/>
              <a:t>støve</a:t>
            </a:r>
            <a:r>
              <a:rPr lang="en-US" dirty="0"/>
              <a:t> op, var det her </a:t>
            </a:r>
            <a:r>
              <a:rPr lang="en-US" dirty="0" err="1"/>
              <a:t>tilbage</a:t>
            </a:r>
            <a:r>
              <a:rPr lang="en-US" dirty="0"/>
              <a:t> </a:t>
            </a:r>
            <a:r>
              <a:rPr lang="en-US" dirty="0" err="1"/>
              <a:t>fra</a:t>
            </a:r>
            <a:r>
              <a:rPr lang="en-US" dirty="0"/>
              <a:t> 2014. Der </a:t>
            </a:r>
            <a:r>
              <a:rPr lang="en-US" dirty="0" err="1"/>
              <a:t>undersøgte</a:t>
            </a:r>
            <a:r>
              <a:rPr lang="en-US" dirty="0"/>
              <a:t> man 3 </a:t>
            </a:r>
            <a:r>
              <a:rPr lang="en-US" dirty="0" err="1"/>
              <a:t>forskellige</a:t>
            </a:r>
            <a:r>
              <a:rPr lang="en-US" dirty="0"/>
              <a:t> </a:t>
            </a:r>
            <a:r>
              <a:rPr lang="en-US" dirty="0" err="1"/>
              <a:t>interventioner</a:t>
            </a:r>
            <a:r>
              <a:rPr lang="en-US" dirty="0"/>
              <a:t>. </a:t>
            </a:r>
          </a:p>
          <a:p>
            <a:endParaRPr lang="en-US" dirty="0"/>
          </a:p>
          <a:p>
            <a:r>
              <a:rPr lang="en-US" dirty="0"/>
              <a:t>Man </a:t>
            </a:r>
            <a:r>
              <a:rPr lang="en-US" dirty="0" err="1"/>
              <a:t>hev</a:t>
            </a:r>
            <a:r>
              <a:rPr lang="en-US" dirty="0"/>
              <a:t> </a:t>
            </a:r>
            <a:r>
              <a:rPr lang="en-US" dirty="0" err="1"/>
              <a:t>personer</a:t>
            </a:r>
            <a:r>
              <a:rPr lang="en-US" dirty="0"/>
              <a:t> med T2D </a:t>
            </a:r>
            <a:r>
              <a:rPr lang="en-US" dirty="0" err="1"/>
              <a:t>ind</a:t>
            </a:r>
            <a:r>
              <a:rPr lang="en-US" dirty="0"/>
              <a:t> </a:t>
            </a:r>
            <a:r>
              <a:rPr lang="en-US" dirty="0" err="1"/>
              <a:t>i</a:t>
            </a:r>
            <a:r>
              <a:rPr lang="en-US" dirty="0"/>
              <a:t> et </a:t>
            </a:r>
            <a:r>
              <a:rPr lang="en-US" dirty="0" err="1"/>
              <a:t>laboratorium</a:t>
            </a:r>
            <a:r>
              <a:rPr lang="en-US" dirty="0"/>
              <a:t>, </a:t>
            </a:r>
            <a:r>
              <a:rPr lang="en-US" dirty="0" err="1"/>
              <a:t>så</a:t>
            </a:r>
            <a:r>
              <a:rPr lang="en-US" dirty="0"/>
              <a:t> man </a:t>
            </a:r>
            <a:r>
              <a:rPr lang="en-US" dirty="0" err="1"/>
              <a:t>kunne</a:t>
            </a:r>
            <a:r>
              <a:rPr lang="en-US" dirty="0"/>
              <a:t> </a:t>
            </a:r>
            <a:r>
              <a:rPr lang="en-US" dirty="0" err="1"/>
              <a:t>sikre</a:t>
            </a:r>
            <a:r>
              <a:rPr lang="en-US" dirty="0"/>
              <a:t> sig at de </a:t>
            </a:r>
            <a:r>
              <a:rPr lang="en-US" dirty="0" err="1"/>
              <a:t>fik</a:t>
            </a:r>
            <a:r>
              <a:rPr lang="en-US" dirty="0"/>
              <a:t> det </a:t>
            </a:r>
            <a:r>
              <a:rPr lang="en-US" dirty="0" err="1"/>
              <a:t>samme</a:t>
            </a:r>
            <a:r>
              <a:rPr lang="en-US" dirty="0"/>
              <a:t> at </a:t>
            </a:r>
            <a:r>
              <a:rPr lang="en-US" dirty="0" err="1"/>
              <a:t>spise</a:t>
            </a:r>
            <a:r>
              <a:rPr lang="en-US" dirty="0"/>
              <a:t> </a:t>
            </a:r>
            <a:r>
              <a:rPr lang="en-US" dirty="0" err="1"/>
              <a:t>på</a:t>
            </a:r>
            <a:r>
              <a:rPr lang="en-US" dirty="0"/>
              <a:t> de same </a:t>
            </a:r>
            <a:r>
              <a:rPr lang="en-US" dirty="0" err="1"/>
              <a:t>tidspunkter</a:t>
            </a:r>
            <a:r>
              <a:rPr lang="en-US" dirty="0"/>
              <a:t> </a:t>
            </a:r>
            <a:r>
              <a:rPr lang="en-US" dirty="0" err="1"/>
              <a:t>i</a:t>
            </a:r>
            <a:r>
              <a:rPr lang="en-US" dirty="0"/>
              <a:t> </a:t>
            </a:r>
            <a:r>
              <a:rPr lang="en-US" dirty="0" err="1"/>
              <a:t>løbet</a:t>
            </a:r>
            <a:r>
              <a:rPr lang="en-US" dirty="0"/>
              <a:t> </a:t>
            </a:r>
            <a:r>
              <a:rPr lang="en-US" dirty="0" err="1"/>
              <a:t>af</a:t>
            </a:r>
            <a:r>
              <a:rPr lang="en-US" dirty="0"/>
              <a:t> </a:t>
            </a:r>
            <a:r>
              <a:rPr lang="en-US" dirty="0" err="1"/>
              <a:t>dagen</a:t>
            </a:r>
            <a:r>
              <a:rPr lang="en-US" dirty="0"/>
              <a:t>.  </a:t>
            </a:r>
            <a:r>
              <a:rPr lang="en-US" dirty="0" err="1"/>
              <a:t>På</a:t>
            </a:r>
            <a:r>
              <a:rPr lang="en-US" dirty="0"/>
              <a:t> den </a:t>
            </a:r>
            <a:r>
              <a:rPr lang="en-US" dirty="0" err="1"/>
              <a:t>samme</a:t>
            </a:r>
            <a:r>
              <a:rPr lang="en-US" dirty="0"/>
              <a:t> </a:t>
            </a:r>
            <a:r>
              <a:rPr lang="en-US" dirty="0" err="1"/>
              <a:t>måde</a:t>
            </a:r>
            <a:r>
              <a:rPr lang="en-US" dirty="0"/>
              <a:t> </a:t>
            </a:r>
            <a:r>
              <a:rPr lang="en-US" dirty="0" err="1"/>
              <a:t>som</a:t>
            </a:r>
            <a:r>
              <a:rPr lang="en-US" dirty="0"/>
              <a:t> det </a:t>
            </a:r>
            <a:r>
              <a:rPr lang="en-US" dirty="0" err="1"/>
              <a:t>forrige</a:t>
            </a:r>
            <a:r>
              <a:rPr lang="en-US" dirty="0"/>
              <a:t> </a:t>
            </a:r>
            <a:r>
              <a:rPr lang="en-US" dirty="0" err="1"/>
              <a:t>studie</a:t>
            </a:r>
            <a:r>
              <a:rPr lang="en-US" dirty="0"/>
              <a:t>, </a:t>
            </a:r>
            <a:r>
              <a:rPr lang="en-US" dirty="0" err="1"/>
              <a:t>blev</a:t>
            </a:r>
            <a:r>
              <a:rPr lang="en-US" dirty="0"/>
              <a:t> de </a:t>
            </a:r>
            <a:r>
              <a:rPr lang="en-US" dirty="0" err="1"/>
              <a:t>tildelt</a:t>
            </a:r>
            <a:r>
              <a:rPr lang="en-US" dirty="0"/>
              <a:t> </a:t>
            </a:r>
            <a:r>
              <a:rPr lang="en-US" dirty="0" err="1"/>
              <a:t>en</a:t>
            </a:r>
            <a:r>
              <a:rPr lang="en-US" dirty="0"/>
              <a:t> </a:t>
            </a:r>
            <a:r>
              <a:rPr lang="en-US" dirty="0" err="1"/>
              <a:t>af</a:t>
            </a:r>
            <a:r>
              <a:rPr lang="en-US" dirty="0"/>
              <a:t> 3 </a:t>
            </a:r>
            <a:r>
              <a:rPr lang="en-US" dirty="0" err="1"/>
              <a:t>interventioner</a:t>
            </a:r>
            <a:r>
              <a:rPr lang="en-US" dirty="0"/>
              <a:t>. Den </a:t>
            </a:r>
            <a:r>
              <a:rPr lang="en-US" dirty="0" err="1"/>
              <a:t>første</a:t>
            </a:r>
            <a:r>
              <a:rPr lang="en-US" dirty="0"/>
              <a:t> </a:t>
            </a:r>
            <a:r>
              <a:rPr lang="en-US" dirty="0" err="1"/>
              <a:t>skulle</a:t>
            </a:r>
            <a:r>
              <a:rPr lang="en-US" dirty="0"/>
              <a:t> </a:t>
            </a:r>
            <a:r>
              <a:rPr lang="en-US" dirty="0" err="1"/>
              <a:t>træne</a:t>
            </a:r>
            <a:r>
              <a:rPr lang="en-US" dirty="0"/>
              <a:t> </a:t>
            </a:r>
            <a:r>
              <a:rPr lang="en-US" dirty="0" err="1"/>
              <a:t>en</a:t>
            </a:r>
            <a:r>
              <a:rPr lang="en-US" dirty="0"/>
              <a:t> gang </a:t>
            </a:r>
            <a:r>
              <a:rPr lang="en-US" dirty="0" err="1"/>
              <a:t>inden</a:t>
            </a:r>
            <a:r>
              <a:rPr lang="en-US" dirty="0"/>
              <a:t> </a:t>
            </a:r>
            <a:r>
              <a:rPr lang="en-US" dirty="0" err="1"/>
              <a:t>aftensmad</a:t>
            </a:r>
            <a:r>
              <a:rPr lang="en-US" dirty="0"/>
              <a:t> </a:t>
            </a:r>
            <a:r>
              <a:rPr lang="en-US" dirty="0" err="1"/>
              <a:t>en</a:t>
            </a:r>
            <a:r>
              <a:rPr lang="en-US" dirty="0"/>
              <a:t> </a:t>
            </a:r>
            <a:r>
              <a:rPr lang="en-US" dirty="0" err="1"/>
              <a:t>halv</a:t>
            </a:r>
            <a:r>
              <a:rPr lang="en-US" dirty="0"/>
              <a:t> time </a:t>
            </a:r>
            <a:r>
              <a:rPr lang="en-US" dirty="0" err="1"/>
              <a:t>svarende</a:t>
            </a:r>
            <a:r>
              <a:rPr lang="en-US" dirty="0"/>
              <a:t> </a:t>
            </a:r>
            <a:r>
              <a:rPr lang="en-US" dirty="0" err="1"/>
              <a:t>til</a:t>
            </a:r>
            <a:r>
              <a:rPr lang="en-US" dirty="0"/>
              <a:t> </a:t>
            </a:r>
            <a:r>
              <a:rPr lang="en-US" dirty="0" err="1"/>
              <a:t>en</a:t>
            </a:r>
            <a:r>
              <a:rPr lang="en-US" dirty="0"/>
              <a:t> </a:t>
            </a:r>
            <a:r>
              <a:rPr lang="en-US" dirty="0" err="1"/>
              <a:t>luntetur</a:t>
            </a:r>
            <a:r>
              <a:rPr lang="en-US" dirty="0"/>
              <a:t>. </a:t>
            </a:r>
          </a:p>
          <a:p>
            <a:r>
              <a:rPr lang="en-US" dirty="0"/>
              <a:t>Den </a:t>
            </a:r>
            <a:r>
              <a:rPr lang="en-US" dirty="0" err="1"/>
              <a:t>anden</a:t>
            </a:r>
            <a:r>
              <a:rPr lang="en-US" dirty="0"/>
              <a:t> </a:t>
            </a:r>
            <a:r>
              <a:rPr lang="en-US" dirty="0" err="1"/>
              <a:t>skulle</a:t>
            </a:r>
            <a:r>
              <a:rPr lang="en-US" dirty="0"/>
              <a:t> lave </a:t>
            </a:r>
            <a:r>
              <a:rPr lang="en-US" dirty="0" err="1"/>
              <a:t>højintens</a:t>
            </a:r>
            <a:r>
              <a:rPr lang="en-US" dirty="0"/>
              <a:t> </a:t>
            </a:r>
            <a:r>
              <a:rPr lang="en-US" dirty="0" err="1"/>
              <a:t>intervaltræning</a:t>
            </a:r>
            <a:r>
              <a:rPr lang="en-US" dirty="0"/>
              <a:t> </a:t>
            </a:r>
            <a:r>
              <a:rPr lang="en-US" dirty="0" err="1"/>
              <a:t>i</a:t>
            </a:r>
            <a:r>
              <a:rPr lang="en-US" dirty="0"/>
              <a:t> </a:t>
            </a:r>
            <a:r>
              <a:rPr lang="en-US" dirty="0" err="1"/>
              <a:t>seks</a:t>
            </a:r>
            <a:r>
              <a:rPr lang="en-US" dirty="0"/>
              <a:t> </a:t>
            </a:r>
            <a:r>
              <a:rPr lang="en-US" dirty="0" err="1"/>
              <a:t>minutter</a:t>
            </a:r>
            <a:r>
              <a:rPr lang="en-US" dirty="0"/>
              <a:t> </a:t>
            </a:r>
            <a:r>
              <a:rPr lang="en-US" dirty="0" err="1"/>
              <a:t>inden</a:t>
            </a:r>
            <a:r>
              <a:rPr lang="en-US" dirty="0"/>
              <a:t> </a:t>
            </a:r>
            <a:r>
              <a:rPr lang="en-US" dirty="0" err="1"/>
              <a:t>hvert</a:t>
            </a:r>
            <a:r>
              <a:rPr lang="en-US" dirty="0"/>
              <a:t> </a:t>
            </a:r>
            <a:r>
              <a:rPr lang="en-US" dirty="0" err="1"/>
              <a:t>måltid</a:t>
            </a:r>
            <a:endParaRPr lang="en-US" dirty="0"/>
          </a:p>
          <a:p>
            <a:r>
              <a:rPr lang="en-US" dirty="0"/>
              <a:t>Og den </a:t>
            </a:r>
            <a:r>
              <a:rPr lang="en-US" dirty="0" err="1"/>
              <a:t>sidste</a:t>
            </a:r>
            <a:r>
              <a:rPr lang="en-US" dirty="0"/>
              <a:t> </a:t>
            </a:r>
            <a:r>
              <a:rPr lang="en-US" dirty="0" err="1"/>
              <a:t>gruppe</a:t>
            </a:r>
            <a:r>
              <a:rPr lang="en-US" dirty="0"/>
              <a:t> </a:t>
            </a:r>
            <a:r>
              <a:rPr lang="en-US" dirty="0" err="1"/>
              <a:t>skulle</a:t>
            </a:r>
            <a:r>
              <a:rPr lang="en-US" dirty="0"/>
              <a:t> lave 6 </a:t>
            </a:r>
            <a:r>
              <a:rPr lang="en-US" dirty="0" err="1"/>
              <a:t>minutters</a:t>
            </a:r>
            <a:r>
              <a:rPr lang="en-US" dirty="0"/>
              <a:t> </a:t>
            </a:r>
            <a:r>
              <a:rPr lang="en-US" dirty="0" err="1"/>
              <a:t>blandet</a:t>
            </a:r>
            <a:r>
              <a:rPr lang="en-US" dirty="0"/>
              <a:t> </a:t>
            </a:r>
            <a:r>
              <a:rPr lang="en-US" dirty="0" err="1"/>
              <a:t>styrke</a:t>
            </a:r>
            <a:r>
              <a:rPr lang="en-US" dirty="0"/>
              <a:t> </a:t>
            </a:r>
            <a:r>
              <a:rPr lang="en-US" dirty="0" err="1"/>
              <a:t>og</a:t>
            </a:r>
            <a:r>
              <a:rPr lang="en-US" dirty="0"/>
              <a:t> </a:t>
            </a:r>
            <a:r>
              <a:rPr lang="en-US" dirty="0" err="1"/>
              <a:t>konditræning</a:t>
            </a:r>
            <a:endParaRPr lang="en-US" dirty="0"/>
          </a:p>
          <a:p>
            <a:endParaRPr lang="en-US" dirty="0"/>
          </a:p>
          <a:p>
            <a:r>
              <a:rPr lang="en-US" dirty="0"/>
              <a:t>Og </a:t>
            </a:r>
            <a:r>
              <a:rPr lang="en-US" dirty="0" err="1"/>
              <a:t>så</a:t>
            </a:r>
            <a:r>
              <a:rPr lang="en-US" dirty="0"/>
              <a:t> </a:t>
            </a:r>
            <a:r>
              <a:rPr lang="en-US" dirty="0" err="1"/>
              <a:t>kiggede</a:t>
            </a:r>
            <a:r>
              <a:rPr lang="en-US" dirty="0"/>
              <a:t> de </a:t>
            </a:r>
            <a:r>
              <a:rPr lang="en-US" dirty="0" err="1"/>
              <a:t>på</a:t>
            </a:r>
            <a:r>
              <a:rPr lang="en-US" dirty="0"/>
              <a:t> </a:t>
            </a:r>
            <a:r>
              <a:rPr lang="en-US" dirty="0" err="1"/>
              <a:t>blodsukkeret</a:t>
            </a:r>
            <a:r>
              <a:rPr lang="en-US" dirty="0"/>
              <a:t> 3 timer </a:t>
            </a:r>
            <a:r>
              <a:rPr lang="en-US" dirty="0" err="1"/>
              <a:t>efter</a:t>
            </a:r>
            <a:r>
              <a:rPr lang="en-US" dirty="0"/>
              <a:t> </a:t>
            </a:r>
            <a:r>
              <a:rPr lang="en-US" dirty="0" err="1"/>
              <a:t>hvert</a:t>
            </a:r>
            <a:r>
              <a:rPr lang="en-US" dirty="0"/>
              <a:t> </a:t>
            </a:r>
            <a:r>
              <a:rPr lang="en-US" dirty="0" err="1"/>
              <a:t>måltid</a:t>
            </a:r>
            <a:r>
              <a:rPr lang="en-US" dirty="0"/>
              <a:t>. </a:t>
            </a:r>
          </a:p>
          <a:p>
            <a:r>
              <a:rPr lang="en-US" dirty="0" err="1"/>
              <a:t>Igen</a:t>
            </a:r>
            <a:r>
              <a:rPr lang="en-US" dirty="0"/>
              <a:t> ser det </a:t>
            </a:r>
            <a:r>
              <a:rPr lang="en-US" dirty="0" err="1"/>
              <a:t>ud</a:t>
            </a:r>
            <a:r>
              <a:rPr lang="en-US" dirty="0"/>
              <a:t> </a:t>
            </a:r>
            <a:r>
              <a:rPr lang="en-US" dirty="0" err="1"/>
              <a:t>til</a:t>
            </a:r>
            <a:r>
              <a:rPr lang="en-US" dirty="0"/>
              <a:t> at det </a:t>
            </a:r>
            <a:r>
              <a:rPr lang="en-US" dirty="0" err="1"/>
              <a:t>kan</a:t>
            </a:r>
            <a:r>
              <a:rPr lang="en-US" dirty="0"/>
              <a:t> </a:t>
            </a:r>
            <a:r>
              <a:rPr lang="en-US" dirty="0" err="1"/>
              <a:t>være</a:t>
            </a:r>
            <a:r>
              <a:rPr lang="en-US" dirty="0"/>
              <a:t> </a:t>
            </a:r>
            <a:r>
              <a:rPr lang="en-US" dirty="0" err="1"/>
              <a:t>fordelagtigt</a:t>
            </a:r>
            <a:r>
              <a:rPr lang="en-US" dirty="0"/>
              <a:t> at </a:t>
            </a:r>
            <a:r>
              <a:rPr lang="en-US" dirty="0" err="1"/>
              <a:t>få</a:t>
            </a:r>
            <a:r>
              <a:rPr lang="en-US" dirty="0"/>
              <a:t> </a:t>
            </a:r>
            <a:r>
              <a:rPr lang="en-US" dirty="0" err="1"/>
              <a:t>pulsen</a:t>
            </a:r>
            <a:r>
              <a:rPr lang="en-US" dirty="0"/>
              <a:t> op </a:t>
            </a:r>
            <a:r>
              <a:rPr lang="en-US" dirty="0" err="1"/>
              <a:t>flere</a:t>
            </a:r>
            <a:r>
              <a:rPr lang="en-US" dirty="0"/>
              <a:t> </a:t>
            </a:r>
            <a:r>
              <a:rPr lang="en-US" dirty="0" err="1"/>
              <a:t>gange</a:t>
            </a:r>
            <a:r>
              <a:rPr lang="en-US" dirty="0"/>
              <a:t> </a:t>
            </a:r>
            <a:r>
              <a:rPr lang="en-US" dirty="0" err="1"/>
              <a:t>i</a:t>
            </a:r>
            <a:r>
              <a:rPr lang="en-US" dirty="0"/>
              <a:t> </a:t>
            </a:r>
            <a:r>
              <a:rPr lang="en-US" dirty="0" err="1"/>
              <a:t>købet</a:t>
            </a:r>
            <a:r>
              <a:rPr lang="en-US" dirty="0"/>
              <a:t> </a:t>
            </a:r>
            <a:r>
              <a:rPr lang="en-US" dirty="0" err="1"/>
              <a:t>af</a:t>
            </a:r>
            <a:r>
              <a:rPr lang="en-US" dirty="0"/>
              <a:t> </a:t>
            </a:r>
            <a:r>
              <a:rPr lang="en-US" dirty="0" err="1"/>
              <a:t>dagen</a:t>
            </a:r>
            <a:r>
              <a:rPr lang="en-US" dirty="0"/>
              <a:t>. De </a:t>
            </a:r>
            <a:r>
              <a:rPr lang="en-US" dirty="0" err="1"/>
              <a:t>fandt</a:t>
            </a:r>
            <a:r>
              <a:rPr lang="en-US" dirty="0"/>
              <a:t> </a:t>
            </a:r>
            <a:r>
              <a:rPr lang="en-US" dirty="0" err="1"/>
              <a:t>i</a:t>
            </a:r>
            <a:r>
              <a:rPr lang="en-US" dirty="0"/>
              <a:t> </a:t>
            </a:r>
            <a:r>
              <a:rPr lang="en-US" dirty="0" err="1"/>
              <a:t>hvertfald</a:t>
            </a:r>
            <a:r>
              <a:rPr lang="en-US" dirty="0"/>
              <a:t> </a:t>
            </a:r>
            <a:r>
              <a:rPr lang="en-US" dirty="0" err="1"/>
              <a:t>signifikante</a:t>
            </a:r>
            <a:r>
              <a:rPr lang="en-US" dirty="0"/>
              <a:t> </a:t>
            </a:r>
            <a:r>
              <a:rPr lang="en-US" dirty="0" err="1"/>
              <a:t>forskelle</a:t>
            </a:r>
            <a:r>
              <a:rPr lang="en-US" dirty="0"/>
              <a:t> </a:t>
            </a:r>
            <a:r>
              <a:rPr lang="en-US" dirty="0" err="1"/>
              <a:t>mellem</a:t>
            </a:r>
            <a:r>
              <a:rPr lang="en-US" dirty="0"/>
              <a:t> de to Exercise Snack </a:t>
            </a:r>
            <a:r>
              <a:rPr lang="en-US" dirty="0" err="1"/>
              <a:t>grupper</a:t>
            </a:r>
            <a:r>
              <a:rPr lang="en-US" dirty="0"/>
              <a:t> </a:t>
            </a:r>
            <a:r>
              <a:rPr lang="en-US" dirty="0" err="1"/>
              <a:t>og</a:t>
            </a:r>
            <a:r>
              <a:rPr lang="en-US" dirty="0"/>
              <a:t> den </a:t>
            </a:r>
            <a:r>
              <a:rPr lang="en-US" dirty="0" err="1"/>
              <a:t>almindelige</a:t>
            </a:r>
            <a:r>
              <a:rPr lang="en-US" dirty="0"/>
              <a:t> </a:t>
            </a:r>
            <a:r>
              <a:rPr lang="en-US" dirty="0" err="1"/>
              <a:t>træningsgruppe</a:t>
            </a:r>
            <a:r>
              <a:rPr lang="en-US" dirty="0"/>
              <a:t>. I </a:t>
            </a:r>
            <a:r>
              <a:rPr lang="en-US" dirty="0" err="1"/>
              <a:t>hverfald</a:t>
            </a:r>
            <a:r>
              <a:rPr lang="en-US" dirty="0"/>
              <a:t> om </a:t>
            </a:r>
            <a:r>
              <a:rPr lang="en-US" dirty="0" err="1"/>
              <a:t>formiddagen</a:t>
            </a:r>
            <a:r>
              <a:rPr lang="en-US" dirty="0"/>
              <a:t> </a:t>
            </a:r>
            <a:r>
              <a:rPr lang="en-US" dirty="0" err="1"/>
              <a:t>og</a:t>
            </a:r>
            <a:r>
              <a:rPr lang="en-US" dirty="0"/>
              <a:t> </a:t>
            </a:r>
            <a:r>
              <a:rPr lang="en-US" dirty="0" err="1"/>
              <a:t>aftenen</a:t>
            </a:r>
            <a:r>
              <a:rPr lang="en-US" dirty="0"/>
              <a:t>.  </a:t>
            </a:r>
          </a:p>
          <a:p>
            <a:endParaRPr lang="en-US" dirty="0"/>
          </a:p>
          <a:p>
            <a:r>
              <a:rPr lang="en-US" dirty="0"/>
              <a:t>Jeg </a:t>
            </a:r>
            <a:r>
              <a:rPr lang="en-US" dirty="0" err="1"/>
              <a:t>vil</a:t>
            </a:r>
            <a:r>
              <a:rPr lang="en-US" dirty="0"/>
              <a:t> dog </a:t>
            </a:r>
            <a:r>
              <a:rPr lang="en-US" dirty="0" err="1"/>
              <a:t>ikke</a:t>
            </a:r>
            <a:r>
              <a:rPr lang="en-US" dirty="0"/>
              <a:t> </a:t>
            </a:r>
            <a:r>
              <a:rPr lang="en-US" dirty="0" err="1"/>
              <a:t>ligge</a:t>
            </a:r>
            <a:r>
              <a:rPr lang="en-US" dirty="0"/>
              <a:t> for </a:t>
            </a:r>
            <a:r>
              <a:rPr lang="en-US" dirty="0" err="1"/>
              <a:t>meget</a:t>
            </a:r>
            <a:r>
              <a:rPr lang="en-US" dirty="0"/>
              <a:t> </a:t>
            </a:r>
            <a:r>
              <a:rPr lang="en-US" dirty="0" err="1"/>
              <a:t>i</a:t>
            </a:r>
            <a:r>
              <a:rPr lang="en-US" dirty="0"/>
              <a:t> det her </a:t>
            </a:r>
            <a:r>
              <a:rPr lang="en-US" dirty="0" err="1"/>
              <a:t>studie</a:t>
            </a:r>
            <a:r>
              <a:rPr lang="en-US" dirty="0"/>
              <a:t>. Der er </a:t>
            </a:r>
            <a:r>
              <a:rPr lang="en-US" dirty="0" err="1"/>
              <a:t>kun</a:t>
            </a:r>
            <a:r>
              <a:rPr lang="en-US" dirty="0"/>
              <a:t> 16 </a:t>
            </a:r>
            <a:r>
              <a:rPr lang="en-US" dirty="0" err="1"/>
              <a:t>personer</a:t>
            </a:r>
            <a:r>
              <a:rPr lang="en-US" dirty="0"/>
              <a:t> med </a:t>
            </a:r>
            <a:r>
              <a:rPr lang="en-US" dirty="0" err="1"/>
              <a:t>i</a:t>
            </a:r>
            <a:r>
              <a:rPr lang="en-US" dirty="0"/>
              <a:t> </a:t>
            </a:r>
            <a:r>
              <a:rPr lang="en-US" dirty="0" err="1"/>
              <a:t>studiet</a:t>
            </a:r>
            <a:r>
              <a:rPr lang="en-US" dirty="0"/>
              <a:t> </a:t>
            </a:r>
            <a:r>
              <a:rPr lang="en-US" dirty="0" err="1"/>
              <a:t>og</a:t>
            </a:r>
            <a:r>
              <a:rPr lang="en-US" dirty="0"/>
              <a:t> </a:t>
            </a:r>
            <a:r>
              <a:rPr lang="en-US" dirty="0" err="1"/>
              <a:t>som</a:t>
            </a:r>
            <a:r>
              <a:rPr lang="en-US" dirty="0"/>
              <a:t> </a:t>
            </a:r>
            <a:r>
              <a:rPr lang="en-US" dirty="0" err="1"/>
              <a:t>sagt</a:t>
            </a:r>
            <a:r>
              <a:rPr lang="en-US" dirty="0"/>
              <a:t>, </a:t>
            </a:r>
            <a:r>
              <a:rPr lang="en-US" dirty="0" err="1"/>
              <a:t>så</a:t>
            </a:r>
            <a:r>
              <a:rPr lang="en-US" dirty="0"/>
              <a:t> er det </a:t>
            </a:r>
            <a:r>
              <a:rPr lang="en-US" dirty="0" err="1"/>
              <a:t>svært</a:t>
            </a:r>
            <a:r>
              <a:rPr lang="en-US" dirty="0"/>
              <a:t> at </a:t>
            </a:r>
            <a:r>
              <a:rPr lang="en-US" dirty="0" err="1"/>
              <a:t>finde</a:t>
            </a:r>
            <a:r>
              <a:rPr lang="en-US" dirty="0"/>
              <a:t> </a:t>
            </a:r>
            <a:r>
              <a:rPr lang="en-US" dirty="0" err="1"/>
              <a:t>kvalitetsstudier</a:t>
            </a:r>
            <a:r>
              <a:rPr lang="en-US" dirty="0"/>
              <a:t> </a:t>
            </a:r>
            <a:r>
              <a:rPr lang="en-US" dirty="0" err="1"/>
              <a:t>på</a:t>
            </a:r>
            <a:r>
              <a:rPr lang="en-US" dirty="0"/>
              <a:t> det her </a:t>
            </a:r>
            <a:r>
              <a:rPr lang="en-US" dirty="0" err="1"/>
              <a:t>område</a:t>
            </a:r>
            <a:r>
              <a:rPr lang="en-US" dirty="0"/>
              <a:t>. </a:t>
            </a:r>
          </a:p>
          <a:p>
            <a:endParaRPr lang="en-US" dirty="0"/>
          </a:p>
        </p:txBody>
      </p:sp>
      <p:sp>
        <p:nvSpPr>
          <p:cNvPr id="4" name="Pladsholder til slidenummer 3">
            <a:extLst>
              <a:ext uri="{FF2B5EF4-FFF2-40B4-BE49-F238E27FC236}">
                <a16:creationId xmlns:a16="http://schemas.microsoft.com/office/drawing/2014/main" id="{61583ABE-A80E-19E9-1CD3-1BC0AED85AB0}"/>
              </a:ext>
            </a:extLst>
          </p:cNvPr>
          <p:cNvSpPr>
            <a:spLocks noGrp="1"/>
          </p:cNvSpPr>
          <p:nvPr>
            <p:ph type="sldNum" sz="quarter" idx="5"/>
          </p:nvPr>
        </p:nvSpPr>
        <p:spPr/>
        <p:txBody>
          <a:bodyPr/>
          <a:lstStyle/>
          <a:p>
            <a:pPr>
              <a:defRPr/>
            </a:pPr>
            <a:fld id="{72C160C3-3AB6-49C1-8001-AFDAD271EB5B}" type="slidenum">
              <a:rPr lang="en-GB" smtClean="0"/>
              <a:pPr>
                <a:defRPr/>
              </a:pPr>
              <a:t>17</a:t>
            </a:fld>
            <a:endParaRPr lang="en-GB" dirty="0"/>
          </a:p>
        </p:txBody>
      </p:sp>
    </p:spTree>
    <p:extLst>
      <p:ext uri="{BB962C8B-B14F-4D97-AF65-F5344CB8AC3E}">
        <p14:creationId xmlns:p14="http://schemas.microsoft.com/office/powerpoint/2010/main" val="2574991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E65BD-47AD-322B-FDD3-0F27C5B79A6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1EA2018-8CBB-7507-A40A-E580023B3154}"/>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77105A23-3742-C860-17C1-6D99CA1EE298}"/>
              </a:ext>
            </a:extLst>
          </p:cNvPr>
          <p:cNvSpPr>
            <a:spLocks noGrp="1"/>
          </p:cNvSpPr>
          <p:nvPr>
            <p:ph type="body" idx="1"/>
          </p:nvPr>
        </p:nvSpPr>
        <p:spPr/>
        <p:txBody>
          <a:bodyPr/>
          <a:lstStyle/>
          <a:p>
            <a:r>
              <a:rPr lang="da-DK" dirty="0"/>
              <a:t>Som vi har været igennem, er der meget stærk evidens for, at træning svarende til omkring 1100 MET-minutter om ugen giver markante sundhedsforbedringer hos borgere med type 2-diabetes. Det er et niveau, hvor vi virkelig ser effekt.</a:t>
            </a:r>
          </a:p>
          <a:p>
            <a:endParaRPr lang="da-DK" dirty="0"/>
          </a:p>
          <a:p>
            <a:r>
              <a:rPr lang="da-DK" dirty="0"/>
              <a:t>Men det er ikke alle, hvor vi kan bruge “elevatormetoden” og gå direkte til hård konditionstræning. For den meget utrænede borger kan det at flytte sig fra stillesiddende til mere stående og let bevægelse i løbet af dagen faktisk være nok til at skabe målbare sundhedseffekter. Og måske endnu vigtigere: det kan være den nødvendige start, som gør bevægeapparatet og den generelle kapacitet klar til mere.</a:t>
            </a:r>
          </a:p>
          <a:p>
            <a:endParaRPr lang="da-DK" dirty="0"/>
          </a:p>
          <a:p>
            <a:r>
              <a:rPr lang="da-DK" dirty="0"/>
              <a:t>Her kan vi tænke i en trappemodel. Først reducerer vi og afbryder siddetiden. Så øger vi mængden af let aktivitet. Og derefter bygger vi gradvist på med mere moderat og siden højere intensitet.</a:t>
            </a:r>
          </a:p>
          <a:p>
            <a:endParaRPr lang="da-DK" dirty="0"/>
          </a:p>
          <a:p>
            <a:r>
              <a:rPr lang="da-DK" dirty="0"/>
              <a:t>Jeg vil samtidig argumentere for, at fordi vi ved, at hårdere fysisk træning har så tydelige og brede effekter ved type 2-diabetes, så bør det være målet for så mange som muligt. Men vi må anerkende, at for nogle starter vi et andet og lavere sted.</a:t>
            </a:r>
          </a:p>
          <a:p>
            <a:endParaRPr lang="da-DK" dirty="0"/>
          </a:p>
          <a:p>
            <a:r>
              <a:rPr lang="da-DK" dirty="0"/>
              <a:t>Det vigtige er, at vi ikke stopper ved blot at reducere stillesiddende adfærd. Det er startskuddet, ikke slutmålet. Der skal følges op og progredieres, så belastningen øges i takt med, at borgeren bliver stærkere og mere metabolisk robust. For jo sundere man bliver, jo mere skal der til for at flytte sundheden yderligere.</a:t>
            </a:r>
          </a:p>
          <a:p>
            <a:endParaRPr lang="da-DK" dirty="0"/>
          </a:p>
          <a:p>
            <a:r>
              <a:rPr lang="da-DK" dirty="0"/>
              <a:t>Så budskabet er todelt: Start der, hvor borgeren er. Men hav altid retningen klar. Mindre siddetid kan være første skridt, men progression mod en højere træningsdosis bør være ambitionen.</a:t>
            </a:r>
          </a:p>
          <a:p>
            <a:endParaRPr lang="da-DK" dirty="0"/>
          </a:p>
        </p:txBody>
      </p:sp>
      <p:sp>
        <p:nvSpPr>
          <p:cNvPr id="4" name="Pladsholder til slidenummer 3">
            <a:extLst>
              <a:ext uri="{FF2B5EF4-FFF2-40B4-BE49-F238E27FC236}">
                <a16:creationId xmlns:a16="http://schemas.microsoft.com/office/drawing/2014/main" id="{BBC8D75E-42A5-F155-F1F5-E3DDA502AA9F}"/>
              </a:ext>
            </a:extLst>
          </p:cNvPr>
          <p:cNvSpPr>
            <a:spLocks noGrp="1"/>
          </p:cNvSpPr>
          <p:nvPr>
            <p:ph type="sldNum" sz="quarter" idx="5"/>
          </p:nvPr>
        </p:nvSpPr>
        <p:spPr/>
        <p:txBody>
          <a:bodyPr/>
          <a:lstStyle/>
          <a:p>
            <a:pPr>
              <a:defRPr/>
            </a:pPr>
            <a:fld id="{72C160C3-3AB6-49C1-8001-AFDAD271EB5B}" type="slidenum">
              <a:rPr lang="en-GB" smtClean="0"/>
              <a:pPr>
                <a:defRPr/>
              </a:pPr>
              <a:t>18</a:t>
            </a:fld>
            <a:endParaRPr lang="en-GB" dirty="0"/>
          </a:p>
        </p:txBody>
      </p:sp>
    </p:spTree>
    <p:extLst>
      <p:ext uri="{BB962C8B-B14F-4D97-AF65-F5344CB8AC3E}">
        <p14:creationId xmlns:p14="http://schemas.microsoft.com/office/powerpoint/2010/main" val="1043117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a:defRPr/>
            </a:pPr>
            <a:fld id="{72C160C3-3AB6-49C1-8001-AFDAD271EB5B}" type="slidenum">
              <a:rPr lang="en-GB" smtClean="0"/>
              <a:pPr>
                <a:defRPr/>
              </a:pPr>
              <a:t>19</a:t>
            </a:fld>
            <a:endParaRPr lang="en-GB" dirty="0"/>
          </a:p>
        </p:txBody>
      </p:sp>
    </p:spTree>
    <p:extLst>
      <p:ext uri="{BB962C8B-B14F-4D97-AF65-F5344CB8AC3E}">
        <p14:creationId xmlns:p14="http://schemas.microsoft.com/office/powerpoint/2010/main" val="37568841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en-GB" dirty="0"/>
          </a:p>
        </p:txBody>
      </p:sp>
      <p:sp>
        <p:nvSpPr>
          <p:cNvPr id="4" name="Pladsholder til slidenummer 3"/>
          <p:cNvSpPr>
            <a:spLocks noGrp="1"/>
          </p:cNvSpPr>
          <p:nvPr>
            <p:ph type="sldNum" sz="quarter" idx="10"/>
          </p:nvPr>
        </p:nvSpPr>
        <p:spPr/>
        <p:txBody>
          <a:bodyPr/>
          <a:lstStyle/>
          <a:p>
            <a:pPr>
              <a:defRPr/>
            </a:pPr>
            <a:fld id="{72C160C3-3AB6-49C1-8001-AFDAD271EB5B}" type="slidenum">
              <a:rPr lang="en-GB"/>
              <a:pPr>
                <a:defRPr/>
              </a:pPr>
              <a:t>21</a:t>
            </a:fld>
            <a:endParaRPr lang="en-GB" dirty="0"/>
          </a:p>
        </p:txBody>
      </p:sp>
    </p:spTree>
    <p:extLst>
      <p:ext uri="{BB962C8B-B14F-4D97-AF65-F5344CB8AC3E}">
        <p14:creationId xmlns:p14="http://schemas.microsoft.com/office/powerpoint/2010/main" val="31312425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bin"/><Relationship Id="rId1" Type="http://schemas.openxmlformats.org/officeDocument/2006/relationships/slideMaster" Target="../slideMasters/slideMaster1.xml"/><Relationship Id="rId5" Type="http://schemas.openxmlformats.org/officeDocument/2006/relationships/image" Target="../media/image7.emf"/><Relationship Id="rId4" Type="http://schemas.openxmlformats.org/officeDocument/2006/relationships/image" Target="../media/image6.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dias">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26/02/2026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5" name="TextBox 14"/>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pic>
        <p:nvPicPr>
          <p:cNvPr id="54" name="Farvet baggrund"/>
          <p:cNvPicPr preferRelativeResize="0">
            <a:picLocks/>
          </p:cNvPicPr>
          <p:nvPr userDrawn="1"/>
        </p:nvPicPr>
        <p:blipFill>
          <a:blip r:embed="rId2">
            <a:extLst>
              <a:ext uri="{28A0092B-C50C-407E-A947-70E740481C1C}">
                <a14:useLocalDpi xmlns:a14="http://schemas.microsoft.com/office/drawing/2010/main" val="0"/>
              </a:ext>
            </a:extLst>
          </a:blip>
          <a:stretch>
            <a:fillRect/>
          </a:stretch>
        </p:blipFill>
        <p:spPr>
          <a:xfrm>
            <a:off x="0" y="0"/>
            <a:ext cx="12188825" cy="6858000"/>
          </a:xfrm>
          <a:prstGeom prst="rect">
            <a:avLst/>
          </a:prstGeom>
          <a:solidFill>
            <a:schemeClr val="tx2"/>
          </a:solidFill>
        </p:spPr>
      </p:pic>
      <p:pic>
        <p:nvPicPr>
          <p:cNvPr id="16" name="Au logo"/>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18" name="Billede stre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33" name="OFF_logo2Computed"/>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endParaRPr lang="en-GB" sz="600" cap="all" spc="40" baseline="0" dirty="0">
              <a:solidFill>
                <a:schemeClr val="bg1"/>
              </a:solidFill>
              <a:latin typeface="AU Passata Light" pitchFamily="34" charset="0"/>
            </a:endParaRPr>
          </a:p>
        </p:txBody>
      </p:sp>
      <p:sp>
        <p:nvSpPr>
          <p:cNvPr id="5" name="Date_DateCustomA" descr="{&quot;templafy&quot;:{&quot;id&quot;:&quot;b137e184-8d30-40be-a88c-192874255165&quot;}}">
            <a:extLst>
              <a:ext uri="{FF2B5EF4-FFF2-40B4-BE49-F238E27FC236}">
                <a16:creationId xmlns:a16="http://schemas.microsoft.com/office/drawing/2014/main" id="{7F20FB0B-AB99-D1DA-4E1C-7C844AE40693}"/>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6" name="FLD_Event" descr="{&quot;templafy&quot;:{&quot;id&quot;:&quot;7aed0a81-b2bd-4dd3-addf-04729e7c4cd6&quot;}}">
            <a:extLst>
              <a:ext uri="{FF2B5EF4-FFF2-40B4-BE49-F238E27FC236}">
                <a16:creationId xmlns:a16="http://schemas.microsoft.com/office/drawing/2014/main" id="{94FCB787-CF58-D24B-3F9C-4CF65869F2F1}"/>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36" name="USR_Title" descr="{&quot;templafy&quot;:{&quot;id&quot;:&quot;c20644d7-e506-4190-82a3-6ac3e5b57694&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bg1"/>
                </a:solidFill>
                <a:latin typeface="+mn-lt"/>
              </a:rPr>
              <a:t>PhD Student</a:t>
            </a:r>
          </a:p>
        </p:txBody>
      </p:sp>
      <p:sp>
        <p:nvSpPr>
          <p:cNvPr id="37" name="USR_Name" descr="{&quot;templafy&quot;:{&quot;id&quot;:&quot;14ef2aa2-7679-41a4-b8a5-5067c8cce7a7&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Jonas Munk Jensen</a:t>
            </a:r>
          </a:p>
        </p:txBody>
      </p:sp>
      <p:pic>
        <p:nvPicPr>
          <p:cNvPr id="1460196690" name="SecondaryLogo" descr="{&quot;templafy&quot;:{&quot;id&quot;:&quot;fa45dc07-c50b-4ecd-b1dd-ee2d22d6f679&quot;}}"/>
          <p:cNvPicPr>
            <a:picLocks noChangeAspect="1"/>
          </p:cNvPicPr>
          <p:nvPr/>
        </p:nvPicPr>
        <p:blipFill>
          <a:blip r:embed="rId5"/>
          <a:stretch>
            <a:fillRect/>
          </a:stretch>
        </p:blipFill>
        <p:spPr>
          <a:xfrm>
            <a:off x="10206113" y="5999002"/>
            <a:ext cx="1659600" cy="558000"/>
          </a:xfrm>
          <a:prstGeom prst="rect">
            <a:avLst/>
          </a:prstGeom>
        </p:spPr>
      </p:pic>
      <p:sp>
        <p:nvSpPr>
          <p:cNvPr id="8" name="OFF_logo2Computed" descr="{&quot;templafy&quot;:{&quot;id&quot;:&quot;1c87e8bf-2ef1-4e7c-90eb-c6e6b5b4add1&quot;}}">
            <a:extLst>
              <a:ext uri="{FF2B5EF4-FFF2-40B4-BE49-F238E27FC236}">
                <a16:creationId xmlns:a16="http://schemas.microsoft.com/office/drawing/2014/main" id="{289B577B-AF3B-2A62-0411-5FD9FF3C4208}"/>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9" name="OFF_logo1Computed" descr="{&quot;templafy&quot;:{&quot;id&quot;:&quot;83d15f0a-03ce-4890-a587-0b41acfa7fd0&quot;}}">
            <a:extLst>
              <a:ext uri="{FF2B5EF4-FFF2-40B4-BE49-F238E27FC236}">
                <a16:creationId xmlns:a16="http://schemas.microsoft.com/office/drawing/2014/main" id="{066A6607-F6B4-2025-DA5F-AC4D1914151A}"/>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text">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2"/>
          </p:nvPr>
        </p:nvSpPr>
        <p:spPr>
          <a:xfrm>
            <a:off x="0" y="6858000"/>
            <a:ext cx="0" cy="0"/>
          </a:xfrm>
        </p:spPr>
        <p:txBody>
          <a:bodyPr/>
          <a:lstStyle/>
          <a:p>
            <a:fld id="{78417F83-4CBA-48F2-BAD0-783AE3701E32}" type="datetimeFigureOut">
              <a:rPr lang="en-GB" smtClean="0"/>
              <a:pPr/>
              <a:t>26/02/2026</a:t>
            </a:fld>
            <a:endParaRPr lang="en-GB" dirty="0"/>
          </a:p>
        </p:txBody>
      </p:sp>
      <p:sp>
        <p:nvSpPr>
          <p:cNvPr id="3" name="Footer Placeholder 2" hidden="1"/>
          <p:cNvSpPr>
            <a:spLocks noGrp="1" noRot="1" noMove="1" noResize="1" noEditPoints="1" noAdjustHandles="1" noChangeArrowheads="1" noChangeShapeType="1"/>
          </p:cNvSpPr>
          <p:nvPr>
            <p:ph type="ftr" sz="quarter" idx="13"/>
          </p:nvPr>
        </p:nvSpPr>
        <p:spPr>
          <a:xfrm>
            <a:off x="0" y="6858000"/>
            <a:ext cx="0" cy="0"/>
          </a:xfrm>
        </p:spPr>
        <p:txBody>
          <a:bodyPr/>
          <a:lstStyle/>
          <a:p>
            <a:endParaRPr lang="en-GB" dirty="0"/>
          </a:p>
        </p:txBody>
      </p:sp>
      <p:sp>
        <p:nvSpPr>
          <p:cNvPr id="22" name="TextBox 21"/>
          <p:cNvSpPr txBox="1"/>
          <p:nvPr userDrawn="1"/>
        </p:nvSpPr>
        <p:spPr>
          <a:xfrm>
            <a:off x="-2160355" y="2132856"/>
            <a:ext cx="2012649" cy="738664"/>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bold</a:t>
            </a:r>
            <a:endParaRPr lang="en-GB" sz="4799" dirty="0"/>
          </a:p>
        </p:txBody>
      </p:sp>
      <p:sp>
        <p:nvSpPr>
          <p:cNvPr id="21"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19" name="White Top Rectangle"/>
          <p:cNvSpPr>
            <a:spLocks noChangeArrowheads="1"/>
          </p:cNvSpPr>
          <p:nvPr userDrawn="1"/>
        </p:nvSpPr>
        <p:spPr bwMode="auto">
          <a:xfrm>
            <a:off x="985838" y="3443622"/>
            <a:ext cx="648000" cy="46800"/>
          </a:xfrm>
          <a:prstGeom prst="rect">
            <a:avLst/>
          </a:prstGeom>
          <a:solidFill>
            <a:schemeClr val="bg1"/>
          </a:solidFill>
          <a:ln w="9525">
            <a:noFill/>
            <a:miter lim="800000"/>
            <a:headEnd/>
            <a:tailEnd/>
          </a:ln>
          <a:effectLst/>
        </p:spPr>
        <p:txBody>
          <a:bodyPr wrap="none" anchor="ctr"/>
          <a:lstStyle/>
          <a:p>
            <a:pPr>
              <a:defRPr/>
            </a:pP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stre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1844" y="1520315"/>
            <a:ext cx="9543307" cy="1779553"/>
          </a:xfrm>
        </p:spPr>
        <p:txBody>
          <a:bodyPr wrap="square" anchor="b" anchorCtr="0">
            <a:no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4" name="Text Placeholder 3"/>
          <p:cNvSpPr>
            <a:spLocks noGrp="1"/>
          </p:cNvSpPr>
          <p:nvPr>
            <p:ph type="body" sz="quarter" idx="11"/>
          </p:nvPr>
        </p:nvSpPr>
        <p:spPr>
          <a:xfrm>
            <a:off x="985838" y="3715431"/>
            <a:ext cx="7161212" cy="1746085"/>
          </a:xfrm>
        </p:spPr>
        <p:txBody>
          <a:bodyPr/>
          <a:lstStyle>
            <a:lvl1pPr marL="0" indent="0">
              <a:lnSpc>
                <a:spcPct val="101000"/>
              </a:lnSpc>
              <a:buFontTx/>
              <a:buNone/>
              <a:defRPr sz="27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endParaRPr lang="en-GB"/>
          </a:p>
        </p:txBody>
      </p:sp>
      <p:sp>
        <p:nvSpPr>
          <p:cNvPr id="8" name="Date_DateCustomA" descr="{&quot;templafy&quot;:{&quot;id&quot;:&quot;a0fb7a91-dff1-409c-83bc-651d438cc402&quot;}}">
            <a:extLst>
              <a:ext uri="{FF2B5EF4-FFF2-40B4-BE49-F238E27FC236}">
                <a16:creationId xmlns:a16="http://schemas.microsoft.com/office/drawing/2014/main" id="{249423E2-54F8-7094-38E5-785211867F3D}"/>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7" name="FLD_Event" descr="{&quot;templafy&quot;:{&quot;id&quot;:&quot;0fff76ca-6e31-478d-819e-d38351fba38f&quot;}}">
            <a:extLst>
              <a:ext uri="{FF2B5EF4-FFF2-40B4-BE49-F238E27FC236}">
                <a16:creationId xmlns:a16="http://schemas.microsoft.com/office/drawing/2014/main" id="{163F40E2-4217-07B0-ECD8-2A4A14C886B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41"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42" name="USR_Name" descr="{&quot;templafy&quot;:{&quot;id&quot;:&quot;cfdb2c23-35a7-450f-a1bb-f16549167f7c&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bg1"/>
                </a:solidFill>
                <a:latin typeface="+mn-lt"/>
              </a:rPr>
              <a:t>Jonas Munk Jensen</a:t>
            </a:r>
          </a:p>
        </p:txBody>
      </p:sp>
      <p:pic>
        <p:nvPicPr>
          <p:cNvPr id="1527015794" name="SecondaryLogo" descr="{&quot;templafy&quot;:{&quot;id&quot;:&quot;9d6774b7-ddbb-4fc5-95d4-5a34cfea48ce&quot;}}"/>
          <p:cNvPicPr>
            <a:picLocks noChangeAspect="1"/>
          </p:cNvPicPr>
          <p:nvPr/>
        </p:nvPicPr>
        <p:blipFill>
          <a:blip r:embed="rId4"/>
          <a:stretch>
            <a:fillRect/>
          </a:stretch>
        </p:blipFill>
        <p:spPr>
          <a:xfrm>
            <a:off x="10206113" y="5999002"/>
            <a:ext cx="1659600" cy="558000"/>
          </a:xfrm>
          <a:prstGeom prst="rect">
            <a:avLst/>
          </a:prstGeom>
        </p:spPr>
      </p:pic>
      <p:sp>
        <p:nvSpPr>
          <p:cNvPr id="9" name="OFF_logo2Computed" descr="{&quot;templafy&quot;:{&quot;id&quot;:&quot;26da1325-7c5d-49e0-b8d1-4e716c2386b9&quot;}}">
            <a:extLst>
              <a:ext uri="{FF2B5EF4-FFF2-40B4-BE49-F238E27FC236}">
                <a16:creationId xmlns:a16="http://schemas.microsoft.com/office/drawing/2014/main" id="{4550AE95-0D19-942D-D04F-B30197C47EBA}"/>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0" name="OFF_logo1Computed" descr="{&quot;templafy&quot;:{&quot;id&quot;:&quot;f9c3587f-99ad-4a21-8dc0-cb30d28d7435&quot;}}">
            <a:extLst>
              <a:ext uri="{FF2B5EF4-FFF2-40B4-BE49-F238E27FC236}">
                <a16:creationId xmlns:a16="http://schemas.microsoft.com/office/drawing/2014/main" id="{7E45388B-77A2-F799-5C73-3DBEF86FEF0E}"/>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5" name="Slide Number Placeholder 4"/>
          <p:cNvSpPr>
            <a:spLocks noGrp="1"/>
          </p:cNvSpPr>
          <p:nvPr>
            <p:ph type="sldNum" sz="quarter" idx="14"/>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1127008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no picture">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10"/>
          </p:nvPr>
        </p:nvSpPr>
        <p:spPr>
          <a:xfrm>
            <a:off x="0" y="6858000"/>
            <a:ext cx="0" cy="0"/>
          </a:xfrm>
        </p:spPr>
        <p:txBody>
          <a:bodyPr/>
          <a:lstStyle/>
          <a:p>
            <a:fld id="{78417F83-4CBA-48F2-BAD0-783AE3701E32}" type="datetimeFigureOut">
              <a:rPr lang="en-GB" smtClean="0"/>
              <a:pPr/>
              <a:t>26/02/2026</a:t>
            </a:fld>
            <a:endParaRPr lang="en-GB" dirty="0"/>
          </a:p>
        </p:txBody>
      </p:sp>
      <p:sp>
        <p:nvSpPr>
          <p:cNvPr id="3" name="Footer Placeholder 2" hidden="1"/>
          <p:cNvSpPr>
            <a:spLocks noGrp="1" noRot="1" noMove="1" noResize="1" noEditPoints="1" noAdjustHandles="1" noChangeArrowheads="1" noChangeShapeType="1"/>
          </p:cNvSpPr>
          <p:nvPr>
            <p:ph type="ftr" sz="quarter" idx="11"/>
          </p:nvPr>
        </p:nvSpPr>
        <p:spPr>
          <a:xfrm>
            <a:off x="0" y="6858000"/>
            <a:ext cx="0" cy="0"/>
          </a:xfrm>
        </p:spPr>
        <p:txBody>
          <a:bodyPr/>
          <a:lstStyle/>
          <a:p>
            <a:endParaRPr lang="en-GB" dirty="0"/>
          </a:p>
        </p:txBody>
      </p:sp>
      <p:sp>
        <p:nvSpPr>
          <p:cNvPr id="14" name="TextBox 13"/>
          <p:cNvSpPr txBox="1"/>
          <p:nvPr userDrawn="1"/>
        </p:nvSpPr>
        <p:spPr>
          <a:xfrm>
            <a:off x="-1973598" y="3082506"/>
            <a:ext cx="1825892" cy="307777"/>
          </a:xfrm>
          <a:prstGeom prst="rect">
            <a:avLst/>
          </a:prstGeom>
          <a:noFill/>
        </p:spPr>
        <p:txBody>
          <a:bodyPr wrap="square" lIns="0" tIns="0" rIns="0" bIns="0" rtlCol="0">
            <a:spAutoFit/>
          </a:bodyPr>
          <a:lstStyle/>
          <a:p>
            <a:pPr algn="r">
              <a:lnSpc>
                <a:spcPct val="100000"/>
              </a:lnSpc>
            </a:pPr>
            <a:r>
              <a:rPr lang="en-GB" sz="1000" baseline="0" noProof="1">
                <a:solidFill>
                  <a:schemeClr val="tx1">
                    <a:lumMod val="75000"/>
                    <a:lumOff val="25000"/>
                  </a:schemeClr>
                </a:solidFill>
              </a:rPr>
              <a:t>Ændr 2. linje eller ord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22"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17" name="Au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2400" y="5997600"/>
            <a:ext cx="557569" cy="558000"/>
          </a:xfrm>
          <a:prstGeom prst="rect">
            <a:avLst/>
          </a:prstGeom>
        </p:spPr>
      </p:pic>
      <p:pic>
        <p:nvPicPr>
          <p:cNvPr id="23" name="Billede 2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073200" y="5997600"/>
            <a:ext cx="71734" cy="557999"/>
          </a:xfrm>
          <a:prstGeom prst="rect">
            <a:avLst/>
          </a:prstGeom>
        </p:spPr>
      </p:pic>
      <p:sp>
        <p:nvSpPr>
          <p:cNvPr id="34819" name="Title 1"/>
          <p:cNvSpPr>
            <a:spLocks noGrp="1" noChangeArrowheads="1"/>
          </p:cNvSpPr>
          <p:nvPr>
            <p:ph type="ctrTitle"/>
          </p:nvPr>
        </p:nvSpPr>
        <p:spPr>
          <a:xfrm>
            <a:off x="985838" y="2482343"/>
            <a:ext cx="10220325" cy="1661993"/>
          </a:xfrm>
        </p:spPr>
        <p:txBody>
          <a:bodyPr wrap="square" anchor="ctr" anchorCtr="0">
            <a:spAutoFit/>
          </a:bodyPr>
          <a:lstStyle>
            <a:lvl1pPr>
              <a:lnSpc>
                <a:spcPct val="90000"/>
              </a:lnSpc>
              <a:defRPr sz="6000" baseline="0">
                <a:solidFill>
                  <a:schemeClr val="bg1"/>
                </a:solidFill>
                <a:latin typeface="AU Passata Light" panose="020B0303030902030804" pitchFamily="34" charset="0"/>
              </a:defRPr>
            </a:lvl1pPr>
          </a:lstStyle>
          <a:p>
            <a:r>
              <a:rPr lang="en-GB" dirty="0"/>
              <a:t>Click to edit Master title style</a:t>
            </a:r>
            <a:endParaRPr lang="en-GB"/>
          </a:p>
        </p:txBody>
      </p:sp>
      <p:sp>
        <p:nvSpPr>
          <p:cNvPr id="7" name="Date_DateCustomA" descr="{&quot;templafy&quot;:{&quot;id&quot;:&quot;0f03b736-f1b3-4058-a1bf-042a350a1a0b&quot;}}">
            <a:extLst>
              <a:ext uri="{FF2B5EF4-FFF2-40B4-BE49-F238E27FC236}">
                <a16:creationId xmlns:a16="http://schemas.microsoft.com/office/drawing/2014/main" id="{79F28AD6-C756-3FA9-8D35-B9ED537E5DDE}"/>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bg1"/>
                </a:solidFill>
                <a:latin typeface="+mn-lt"/>
              </a:rPr>
              <a:t>3. March 2026</a:t>
            </a:r>
          </a:p>
        </p:txBody>
      </p:sp>
      <p:sp>
        <p:nvSpPr>
          <p:cNvPr id="6" name="FLD_Event" descr="{&quot;templafy&quot;:{&quot;id&quot;:&quot;603e1b32-a356-49b7-a5bd-a7f34f7f94a9&quot;}}">
            <a:extLst>
              <a:ext uri="{FF2B5EF4-FFF2-40B4-BE49-F238E27FC236}">
                <a16:creationId xmlns:a16="http://schemas.microsoft.com/office/drawing/2014/main" id="{57887568-1188-7AD6-FE68-DD94BB3E0742}"/>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bg1"/>
                </a:solidFill>
                <a:latin typeface="+mn-lt"/>
              </a:rPr>
              <a:t>Temadag</a:t>
            </a:r>
          </a:p>
        </p:txBody>
      </p:sp>
      <p:sp>
        <p:nvSpPr>
          <p:cNvPr id="28" name="USR_Title"/>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endParaRPr lang="en-GB" sz="700" b="0" cap="all" baseline="0" dirty="0">
              <a:solidFill>
                <a:schemeClr val="bg1"/>
              </a:solidFill>
              <a:latin typeface="+mn-lt"/>
            </a:endParaRPr>
          </a:p>
        </p:txBody>
      </p:sp>
      <p:sp>
        <p:nvSpPr>
          <p:cNvPr id="29" name="USR_Name"/>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endParaRPr lang="en-GB" sz="700" b="0" cap="all" baseline="0" dirty="0">
              <a:solidFill>
                <a:schemeClr val="bg1"/>
              </a:solidFill>
              <a:latin typeface="+mn-lt"/>
            </a:endParaRPr>
          </a:p>
        </p:txBody>
      </p:sp>
      <p:pic>
        <p:nvPicPr>
          <p:cNvPr id="269548729" name="SecondaryLogo" descr="{&quot;templafy&quot;:{&quot;id&quot;:&quot;a676db69-fa65-4503-80f3-a792029604f2&quot;}}"/>
          <p:cNvPicPr>
            <a:picLocks noChangeAspect="1"/>
          </p:cNvPicPr>
          <p:nvPr/>
        </p:nvPicPr>
        <p:blipFill>
          <a:blip r:embed="rId4"/>
          <a:stretch>
            <a:fillRect/>
          </a:stretch>
        </p:blipFill>
        <p:spPr>
          <a:xfrm>
            <a:off x="10206113" y="5999002"/>
            <a:ext cx="1659600" cy="558000"/>
          </a:xfrm>
          <a:prstGeom prst="rect">
            <a:avLst/>
          </a:prstGeom>
        </p:spPr>
      </p:pic>
      <p:sp>
        <p:nvSpPr>
          <p:cNvPr id="11" name="OFF_logo2Computed" descr="{&quot;templafy&quot;:{&quot;id&quot;:&quot;58fca290-e51c-4b20-aea0-2ea4e04493d3&quot;}}">
            <a:extLst>
              <a:ext uri="{FF2B5EF4-FFF2-40B4-BE49-F238E27FC236}">
                <a16:creationId xmlns:a16="http://schemas.microsoft.com/office/drawing/2014/main" id="{A3243EC3-3157-0FCB-B9C5-4D04D60102D7}"/>
              </a:ext>
            </a:extLst>
          </p:cNvPr>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bg1"/>
                </a:solidFill>
                <a:latin typeface="AU Passata Light" pitchFamily="34" charset="0"/>
              </a:rPr>
              <a:t>Aarhus University</a:t>
            </a:r>
          </a:p>
        </p:txBody>
      </p:sp>
      <p:sp>
        <p:nvSpPr>
          <p:cNvPr id="12" name="OFF_logo1Computed" descr="{&quot;templafy&quot;:{&quot;id&quot;:&quot;3a1718c7-f52c-477e-afc0-dd197b117fa3&quot;}}">
            <a:extLst>
              <a:ext uri="{FF2B5EF4-FFF2-40B4-BE49-F238E27FC236}">
                <a16:creationId xmlns:a16="http://schemas.microsoft.com/office/drawing/2014/main" id="{295F1ED3-E7A6-8E03-3171-374E099942CC}"/>
              </a:ext>
            </a:extLst>
          </p:cNvPr>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bg1"/>
                </a:solidFill>
                <a:effectLst/>
                <a:latin typeface="AU Passata" pitchFamily="34" charset="0"/>
              </a:rPr>
              <a:t>Health</a:t>
            </a:r>
          </a:p>
        </p:txBody>
      </p:sp>
      <p:sp>
        <p:nvSpPr>
          <p:cNvPr id="4" name="Slide Number Placeholder 3"/>
          <p:cNvSpPr>
            <a:spLocks noGrp="1"/>
          </p:cNvSpPr>
          <p:nvPr>
            <p:ph type="sldNum" sz="quarter" idx="12"/>
          </p:nvPr>
        </p:nvSpPr>
        <p:spPr>
          <a:xfrm>
            <a:off x="11807992" y="6581497"/>
            <a:ext cx="252000" cy="135422"/>
          </a:xfrm>
        </p:spPr>
        <p:txBody>
          <a:bodyPr/>
          <a:lstStyle>
            <a:lvl1pPr>
              <a:defRPr>
                <a:solidFill>
                  <a:schemeClr val="bg1"/>
                </a:solid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200739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 og indholdsobjekt">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GB" dirty="0"/>
              <a:t>Click to edit Master title style</a:t>
            </a:r>
            <a:endParaRPr lang="en-GB"/>
          </a:p>
        </p:txBody>
      </p:sp>
      <p:sp>
        <p:nvSpPr>
          <p:cNvPr id="3" name="Content Placeholder 2"/>
          <p:cNvSpPr>
            <a:spLocks noGrp="1"/>
          </p:cNvSpPr>
          <p:nvPr>
            <p:ph idx="1"/>
          </p:nvPr>
        </p:nvSpPr>
        <p:spPr>
          <a:xfrm>
            <a:off x="985838" y="1960079"/>
            <a:ext cx="10220325" cy="393748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5" name="TextBox 4"/>
          <p:cNvSpPr txBox="1"/>
          <p:nvPr userDrawn="1"/>
        </p:nvSpPr>
        <p:spPr>
          <a:xfrm>
            <a:off x="-1973598" y="340161"/>
            <a:ext cx="1825892" cy="461665"/>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 </a:t>
            </a:r>
            <a:endParaRPr lang="en-GB"/>
          </a:p>
          <a:p>
            <a:pPr algn="r">
              <a:lnSpc>
                <a:spcPct val="100000"/>
              </a:lnSpc>
            </a:pPr>
            <a:r>
              <a:rPr lang="en-GB" sz="1000" baseline="0" noProof="1">
                <a:solidFill>
                  <a:schemeClr val="tx1">
                    <a:lumMod val="75000"/>
                    <a:lumOff val="25000"/>
                  </a:schemeClr>
                </a:solidFill>
              </a:rPr>
              <a:t>ændr 2. linje til</a:t>
            </a:r>
            <a:endParaRPr lang="en-GB"/>
          </a:p>
          <a:p>
            <a:pPr algn="r">
              <a:lnSpc>
                <a:spcPct val="100000"/>
              </a:lnSpc>
            </a:pPr>
            <a:r>
              <a:rPr lang="en-GB" sz="1000" noProof="1">
                <a:solidFill>
                  <a:schemeClr val="tx1">
                    <a:lumMod val="75000"/>
                    <a:lumOff val="25000"/>
                  </a:schemeClr>
                </a:solidFill>
              </a:rPr>
              <a:t>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line title and bullet text">
    <p:spTree>
      <p:nvGrpSpPr>
        <p:cNvPr id="1" name=""/>
        <p:cNvGrpSpPr/>
        <p:nvPr/>
      </p:nvGrpSpPr>
      <p:grpSpPr>
        <a:xfrm>
          <a:off x="0" y="0"/>
          <a:ext cx="0" cy="0"/>
          <a:chOff x="0" y="0"/>
          <a:chExt cx="0" cy="0"/>
        </a:xfrm>
      </p:grpSpPr>
      <p:sp>
        <p:nvSpPr>
          <p:cNvPr id="5" name="Hvid baggrund"/>
          <p:cNvSpPr/>
          <p:nvPr userDrawn="1"/>
        </p:nvSpPr>
        <p:spPr bwMode="auto">
          <a:xfrm>
            <a:off x="0" y="-1"/>
            <a:ext cx="12193200" cy="5894387"/>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6"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4" name="Title 1"/>
          <p:cNvSpPr>
            <a:spLocks noGrp="1"/>
          </p:cNvSpPr>
          <p:nvPr>
            <p:ph type="title"/>
          </p:nvPr>
        </p:nvSpPr>
        <p:spPr>
          <a:xfrm>
            <a:off x="315913" y="228627"/>
            <a:ext cx="11556000" cy="752101"/>
          </a:xfrm>
        </p:spPr>
        <p:txBody>
          <a:bodyPr anchor="t" anchorCtr="0"/>
          <a:lstStyle/>
          <a:p>
            <a:r>
              <a:rPr lang="en-GB" dirty="0"/>
              <a:t>Click to edit Master title style</a:t>
            </a:r>
            <a:endParaRPr lang="en-GB"/>
          </a:p>
        </p:txBody>
      </p:sp>
      <p:sp>
        <p:nvSpPr>
          <p:cNvPr id="3" name="Content Placeholder 2"/>
          <p:cNvSpPr>
            <a:spLocks noGrp="1"/>
          </p:cNvSpPr>
          <p:nvPr>
            <p:ph idx="1"/>
          </p:nvPr>
        </p:nvSpPr>
        <p:spPr>
          <a:xfrm>
            <a:off x="985838" y="1373021"/>
            <a:ext cx="10220325" cy="4521366"/>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18" name="TextBox 17"/>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extLst>
      <p:ext uri="{BB962C8B-B14F-4D97-AF65-F5344CB8AC3E}">
        <p14:creationId xmlns:p14="http://schemas.microsoft.com/office/powerpoint/2010/main" val="3997128513"/>
      </p:ext>
    </p:extLst>
  </p:cSld>
  <p:clrMapOvr>
    <a:masterClrMapping/>
  </p:clrMapOvr>
  <p:extLst>
    <p:ext uri="{DCECCB84-F9BA-43D5-87BE-67443E8EF086}">
      <p15:sldGuideLst xmlns:p15="http://schemas.microsoft.com/office/powerpoint/2012/main">
        <p15:guide id="1" orient="horz" pos="865" userDrawn="1">
          <p15:clr>
            <a:srgbClr val="00000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and picture">
    <p:spTree>
      <p:nvGrpSpPr>
        <p:cNvPr id="1" name=""/>
        <p:cNvGrpSpPr/>
        <p:nvPr/>
      </p:nvGrpSpPr>
      <p:grpSpPr>
        <a:xfrm>
          <a:off x="0" y="0"/>
          <a:ext cx="0" cy="0"/>
          <a:chOff x="0" y="0"/>
          <a:chExt cx="0" cy="0"/>
        </a:xfrm>
      </p:grpSpPr>
      <p:sp>
        <p:nvSpPr>
          <p:cNvPr id="14" name="Hvid baggrund"/>
          <p:cNvSpPr/>
          <p:nvPr userDrawn="1"/>
        </p:nvSpPr>
        <p:spPr bwMode="auto">
          <a:xfrm>
            <a:off x="0" y="0"/>
            <a:ext cx="12193200" cy="5911200"/>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990000" y="1045684"/>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hasCustomPrompt="1"/>
          </p:nvPr>
        </p:nvSpPr>
        <p:spPr>
          <a:xfrm>
            <a:off x="316800" y="230400"/>
            <a:ext cx="5644263" cy="752400"/>
          </a:xfrm>
        </p:spPr>
        <p:txBody>
          <a:bodyPr anchor="t" anchorCtr="0"/>
          <a:lstStyle>
            <a:lvl1pPr>
              <a:defRPr/>
            </a:lvl1pPr>
          </a:lstStyle>
          <a:p>
            <a:r>
              <a:rPr lang="en-GB" dirty="0"/>
              <a:t>Insert title</a:t>
            </a:r>
            <a:endParaRPr lang="en-GB"/>
          </a:p>
        </p:txBody>
      </p:sp>
      <p:sp>
        <p:nvSpPr>
          <p:cNvPr id="10" name="Text Placeholder 2"/>
          <p:cNvSpPr>
            <a:spLocks noGrp="1"/>
          </p:cNvSpPr>
          <p:nvPr>
            <p:ph type="body" sz="quarter" idx="14"/>
          </p:nvPr>
        </p:nvSpPr>
        <p:spPr>
          <a:xfrm>
            <a:off x="985838" y="1371600"/>
            <a:ext cx="4975225" cy="4525964"/>
          </a:xfrm>
        </p:spPr>
        <p:txBody>
          <a:bodyPr/>
          <a:lstStyle>
            <a:lvl1pPr marL="0" indent="0">
              <a:buFont typeface="Calibri" panose="020F0502020204030204" pitchFamily="34" charset="0"/>
              <a:buChar char="​"/>
              <a:defRPr/>
            </a:lvl1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7" name="Picture Placeholder 3"/>
          <p:cNvSpPr>
            <a:spLocks noGrp="1"/>
          </p:cNvSpPr>
          <p:nvPr>
            <p:ph type="pic" sz="quarter" idx="13" hasCustomPrompt="1"/>
          </p:nvPr>
        </p:nvSpPr>
        <p:spPr>
          <a:xfrm>
            <a:off x="6230198" y="315913"/>
            <a:ext cx="5644110" cy="558165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340161"/>
            <a:ext cx="1825892" cy="307777"/>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én linje</a:t>
            </a:r>
            <a:endParaRPr lang="en-GB"/>
          </a:p>
          <a:p>
            <a:pPr algn="r">
              <a:lnSpc>
                <a:spcPct val="100000"/>
              </a:lnSpc>
            </a:pPr>
            <a:r>
              <a:rPr lang="en-GB" sz="1000" noProof="1">
                <a:solidFill>
                  <a:schemeClr val="tx1">
                    <a:lumMod val="75000"/>
                    <a:lumOff val="25000"/>
                  </a:schemeClr>
                </a:solidFill>
              </a:rPr>
              <a:t>Light eller AU Passata Bold</a:t>
            </a:r>
            <a:endParaRPr lang="en-GB" sz="4799" dirty="0"/>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26/02/2026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3999787102"/>
      </p:ext>
    </p:extLst>
  </p:cSld>
  <p:clrMapOvr>
    <a:masterClrMapping/>
  </p:clrMapOvr>
  <p:extLst>
    <p:ext uri="{DCECCB84-F9BA-43D5-87BE-67443E8EF086}">
      <p15:sldGuideLst xmlns:p15="http://schemas.microsoft.com/office/powerpoint/2012/main">
        <p15:guide id="1" pos="3924" userDrawn="1">
          <p15:clr>
            <a:srgbClr val="A4A3A4"/>
          </p15:clr>
        </p15:guide>
        <p15:guide id="2" pos="3755" userDrawn="1">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ersonal information">
    <p:spTree>
      <p:nvGrpSpPr>
        <p:cNvPr id="1" name=""/>
        <p:cNvGrpSpPr/>
        <p:nvPr/>
      </p:nvGrpSpPr>
      <p:grpSpPr>
        <a:xfrm>
          <a:off x="0" y="0"/>
          <a:ext cx="0" cy="0"/>
          <a:chOff x="0" y="0"/>
          <a:chExt cx="0" cy="0"/>
        </a:xfrm>
      </p:grpSpPr>
      <p:sp>
        <p:nvSpPr>
          <p:cNvPr id="14" name="Hvid baggrund"/>
          <p:cNvSpPr/>
          <p:nvPr userDrawn="1"/>
        </p:nvSpPr>
        <p:spPr bwMode="auto">
          <a:xfrm>
            <a:off x="0" y="0"/>
            <a:ext cx="12193200" cy="5911011"/>
          </a:xfrm>
          <a:prstGeom prst="rect">
            <a:avLst/>
          </a:prstGeom>
          <a:solidFill>
            <a:schemeClr val="bg1"/>
          </a:solidFill>
          <a:ln w="1778"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5" name="Black Rectangle"/>
          <p:cNvSpPr/>
          <p:nvPr userDrawn="1"/>
        </p:nvSpPr>
        <p:spPr>
          <a:xfrm>
            <a:off x="1001075" y="2694542"/>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sp>
        <p:nvSpPr>
          <p:cNvPr id="2" name="Title 1"/>
          <p:cNvSpPr>
            <a:spLocks noGrp="1"/>
          </p:cNvSpPr>
          <p:nvPr>
            <p:ph type="title"/>
          </p:nvPr>
        </p:nvSpPr>
        <p:spPr>
          <a:xfrm>
            <a:off x="985838" y="1484784"/>
            <a:ext cx="4975225" cy="971980"/>
          </a:xfrm>
        </p:spPr>
        <p:txBody>
          <a:bodyPr anchor="b" anchorCtr="0"/>
          <a:lstStyle>
            <a:lvl1pPr>
              <a:lnSpc>
                <a:spcPct val="95000"/>
              </a:lnSpc>
              <a:defRPr sz="3000">
                <a:latin typeface="+mn-lt"/>
              </a:defRPr>
            </a:lvl1pPr>
          </a:lstStyle>
          <a:p>
            <a:r>
              <a:rPr lang="en-GB" dirty="0"/>
              <a:t>Click to edit Master title style</a:t>
            </a:r>
            <a:endParaRPr lang="en-GB"/>
          </a:p>
        </p:txBody>
      </p:sp>
      <p:sp>
        <p:nvSpPr>
          <p:cNvPr id="10" name="Text Placeholder 2"/>
          <p:cNvSpPr>
            <a:spLocks noGrp="1"/>
          </p:cNvSpPr>
          <p:nvPr>
            <p:ph type="body" sz="quarter" idx="14"/>
          </p:nvPr>
        </p:nvSpPr>
        <p:spPr>
          <a:xfrm>
            <a:off x="985838" y="3010711"/>
            <a:ext cx="4975225" cy="1858449"/>
          </a:xfrm>
        </p:spPr>
        <p:txBody>
          <a:bodyPr/>
          <a:lstStyle>
            <a:lvl1pPr marL="0" indent="0">
              <a:buFont typeface="Calibri" panose="020F0502020204030204" pitchFamily="34" charset="0"/>
              <a:buChar char="​"/>
              <a:defRPr/>
            </a:lvl1pPr>
            <a:lvl5pPr>
              <a:defRPr/>
            </a:lvl5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a:p>
            <a:pPr lvl="5"/>
            <a:r>
              <a:rPr lang="en-GB" dirty="0"/>
              <a:t>6</a:t>
            </a:r>
            <a:endParaRPr lang="en-GB"/>
          </a:p>
        </p:txBody>
      </p:sp>
      <p:sp>
        <p:nvSpPr>
          <p:cNvPr id="7" name="Picture Placeholder 3"/>
          <p:cNvSpPr>
            <a:spLocks noGrp="1"/>
          </p:cNvSpPr>
          <p:nvPr>
            <p:ph type="pic" sz="quarter" idx="13" hasCustomPrompt="1"/>
          </p:nvPr>
        </p:nvSpPr>
        <p:spPr>
          <a:xfrm>
            <a:off x="6231600" y="315913"/>
            <a:ext cx="5644800" cy="5583600"/>
          </a:xfrm>
        </p:spPr>
        <p:txBody>
          <a:bodyPr/>
          <a:lstStyle>
            <a:lvl1pPr marL="0" indent="0">
              <a:buNone/>
              <a:defRPr b="0"/>
            </a:lvl1pPr>
          </a:lstStyle>
          <a:p>
            <a:r>
              <a:rPr lang="en-GB" dirty="0"/>
              <a:t>Click here and add image via Templafy Image Library</a:t>
            </a:r>
            <a:endParaRPr lang="en-GB"/>
          </a:p>
        </p:txBody>
      </p:sp>
      <p:sp>
        <p:nvSpPr>
          <p:cNvPr id="9" name="TextBox 8"/>
          <p:cNvSpPr txBox="1"/>
          <p:nvPr userDrawn="1"/>
        </p:nvSpPr>
        <p:spPr>
          <a:xfrm>
            <a:off x="-1973598" y="1780882"/>
            <a:ext cx="1825892" cy="153888"/>
          </a:xfrm>
          <a:prstGeom prst="rect">
            <a:avLst/>
          </a:prstGeom>
          <a:noFill/>
        </p:spPr>
        <p:txBody>
          <a:bodyPr wrap="square" lIns="0" tIns="0" rIns="0" bIns="0" rtlCol="0">
            <a:spAutoFit/>
          </a:bodyPr>
          <a:lstStyle/>
          <a:p>
            <a:pPr algn="r">
              <a:lnSpc>
                <a:spcPct val="100000"/>
              </a:lnSpc>
            </a:pPr>
            <a:r>
              <a:rPr lang="en-GB" sz="1000" noProof="1">
                <a:solidFill>
                  <a:schemeClr val="tx1">
                    <a:lumMod val="75000"/>
                    <a:lumOff val="25000"/>
                  </a:schemeClr>
                </a:solidFill>
              </a:rPr>
              <a:t>Overskrift to</a:t>
            </a:r>
            <a:r>
              <a:rPr lang="en-GB" sz="1000" baseline="0" noProof="1">
                <a:solidFill>
                  <a:schemeClr val="tx1">
                    <a:lumMod val="75000"/>
                    <a:lumOff val="25000"/>
                  </a:schemeClr>
                </a:solidFill>
              </a:rPr>
              <a:t> linjer</a:t>
            </a:r>
            <a:endParaRPr lang="en-GB"/>
          </a:p>
        </p:txBody>
      </p:sp>
      <p:sp>
        <p:nvSpPr>
          <p:cNvPr id="8" name="Slide Number Placeholder 7"/>
          <p:cNvSpPr>
            <a:spLocks noGrp="1"/>
          </p:cNvSpPr>
          <p:nvPr>
            <p:ph type="sldNum" sz="quarter" idx="17"/>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5" name="Date Placeholder 4" hidden="1"/>
          <p:cNvSpPr>
            <a:spLocks noGrp="1"/>
          </p:cNvSpPr>
          <p:nvPr>
            <p:ph type="dt" sz="half" idx="15"/>
          </p:nvPr>
        </p:nvSpPr>
        <p:spPr/>
        <p:txBody>
          <a:bodyPr/>
          <a:lstStyle/>
          <a:p>
            <a:fld id="{78417F83-4CBA-48F2-BAD0-783AE3701E32}" type="datetimeFigureOut">
              <a:rPr lang="en-GB" smtClean="0"/>
              <a:pPr/>
              <a:t>26/02/2026</a:t>
            </a:fld>
            <a:endParaRPr lang="en-GB" dirty="0"/>
          </a:p>
        </p:txBody>
      </p:sp>
      <p:sp>
        <p:nvSpPr>
          <p:cNvPr id="6" name="Footer Placeholder 5" hidden="1"/>
          <p:cNvSpPr>
            <a:spLocks noGrp="1"/>
          </p:cNvSpPr>
          <p:nvPr>
            <p:ph type="ftr" sz="quarter" idx="16"/>
          </p:nvPr>
        </p:nvSpPr>
        <p:spPr/>
        <p:txBody>
          <a:bodyPr/>
          <a:lstStyle/>
          <a:p>
            <a:endParaRPr lang="en-GB" dirty="0"/>
          </a:p>
        </p:txBody>
      </p:sp>
    </p:spTree>
    <p:extLst>
      <p:ext uri="{BB962C8B-B14F-4D97-AF65-F5344CB8AC3E}">
        <p14:creationId xmlns:p14="http://schemas.microsoft.com/office/powerpoint/2010/main" val="4270316488"/>
      </p:ext>
    </p:extLst>
  </p:cSld>
  <p:clrMapOvr>
    <a:masterClrMapping/>
  </p:clrMapOvr>
  <p:extLst>
    <p:ext uri="{DCECCB84-F9BA-43D5-87BE-67443E8EF086}">
      <p15:sldGuideLst xmlns:p15="http://schemas.microsoft.com/office/powerpoint/2012/main">
        <p15:guide id="1" pos="3930" userDrawn="1">
          <p15:clr>
            <a:srgbClr val="A4A3A4"/>
          </p15:clr>
        </p15:guide>
        <p15:guide id="2" pos="3755" userDrawn="1">
          <p15:clr>
            <a:srgbClr val="A4A3A4"/>
          </p15:clr>
        </p15:guide>
        <p15:guide id="3" orient="horz" pos="3069" userDrawn="1">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slide">
    <p:spTree>
      <p:nvGrpSpPr>
        <p:cNvPr id="1" name=""/>
        <p:cNvGrpSpPr/>
        <p:nvPr/>
      </p:nvGrpSpPr>
      <p:grpSpPr>
        <a:xfrm>
          <a:off x="0" y="0"/>
          <a:ext cx="0" cy="0"/>
          <a:chOff x="0" y="0"/>
          <a:chExt cx="0" cy="0"/>
        </a:xfrm>
      </p:grpSpPr>
      <p:sp>
        <p:nvSpPr>
          <p:cNvPr id="5" name="Picture Placeholder 1"/>
          <p:cNvSpPr>
            <a:spLocks noGrp="1"/>
          </p:cNvSpPr>
          <p:nvPr>
            <p:ph type="pic" sz="quarter" idx="11" hasCustomPrompt="1"/>
          </p:nvPr>
        </p:nvSpPr>
        <p:spPr>
          <a:xfrm>
            <a:off x="316800" y="316800"/>
            <a:ext cx="115596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26/02/2026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3077618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5" name="Picture Placeholder 2"/>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9" name="Slide Number Placeholder 8"/>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3"/>
          </p:nvPr>
        </p:nvSpPr>
        <p:spPr/>
        <p:txBody>
          <a:bodyPr/>
          <a:lstStyle/>
          <a:p>
            <a:fld id="{78417F83-4CBA-48F2-BAD0-783AE3701E32}" type="datetimeFigureOut">
              <a:rPr lang="en-GB" smtClean="0"/>
              <a:pPr/>
              <a:t>26/02/2026</a:t>
            </a:fld>
            <a:endParaRPr lang="en-GB" dirty="0"/>
          </a:p>
        </p:txBody>
      </p:sp>
      <p:sp>
        <p:nvSpPr>
          <p:cNvPr id="8" name="Footer Placeholder 7"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2087004173"/>
      </p:ext>
    </p:extLst>
  </p:cSld>
  <p:clrMapOvr>
    <a:masterClrMapping/>
  </p:clrMapOvr>
  <p:extLst>
    <p:ext uri="{DCECCB84-F9BA-43D5-87BE-67443E8EF086}">
      <p15:sldGuideLst xmlns:p15="http://schemas.microsoft.com/office/powerpoint/2012/main">
        <p15:guide id="1" pos="3924" userDrawn="1">
          <p15:clr>
            <a:srgbClr val="A4A3A4"/>
          </p15:clr>
        </p15:guide>
        <p15:guide id="2" pos="3754" userDrawn="1">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pictures">
    <p:spTree>
      <p:nvGrpSpPr>
        <p:cNvPr id="1" name=""/>
        <p:cNvGrpSpPr/>
        <p:nvPr/>
      </p:nvGrpSpPr>
      <p:grpSpPr>
        <a:xfrm>
          <a:off x="0" y="0"/>
          <a:ext cx="0" cy="0"/>
          <a:chOff x="0" y="0"/>
          <a:chExt cx="0" cy="0"/>
        </a:xfrm>
      </p:grpSpPr>
      <p:sp>
        <p:nvSpPr>
          <p:cNvPr id="4" name="Picture Placeholder 1"/>
          <p:cNvSpPr>
            <a:spLocks noGrp="1"/>
          </p:cNvSpPr>
          <p:nvPr>
            <p:ph type="pic" sz="quarter" idx="11" hasCustomPrompt="1"/>
          </p:nvPr>
        </p:nvSpPr>
        <p:spPr>
          <a:xfrm>
            <a:off x="316800" y="316800"/>
            <a:ext cx="5644800" cy="26532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7" name="Picture Placeholder 2"/>
          <p:cNvSpPr>
            <a:spLocks noGrp="1"/>
          </p:cNvSpPr>
          <p:nvPr>
            <p:ph type="pic" sz="quarter" idx="13" hasCustomPrompt="1"/>
          </p:nvPr>
        </p:nvSpPr>
        <p:spPr>
          <a:xfrm>
            <a:off x="3168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5" name="Picture Placeholder 3"/>
          <p:cNvSpPr>
            <a:spLocks noGrp="1"/>
          </p:cNvSpPr>
          <p:nvPr>
            <p:ph type="pic" sz="quarter" idx="12" hasCustomPrompt="1"/>
          </p:nvPr>
        </p:nvSpPr>
        <p:spPr>
          <a:xfrm>
            <a:off x="6231600" y="316800"/>
            <a:ext cx="5644800" cy="55836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26/02/2026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2260751815"/>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pictures II">
    <p:spTree>
      <p:nvGrpSpPr>
        <p:cNvPr id="1" name=""/>
        <p:cNvGrpSpPr/>
        <p:nvPr/>
      </p:nvGrpSpPr>
      <p:grpSpPr>
        <a:xfrm>
          <a:off x="0" y="0"/>
          <a:ext cx="0" cy="0"/>
          <a:chOff x="0" y="0"/>
          <a:chExt cx="0" cy="0"/>
        </a:xfrm>
      </p:grpSpPr>
      <p:sp>
        <p:nvSpPr>
          <p:cNvPr id="5" name="Picture Placeholder 1"/>
          <p:cNvSpPr>
            <a:spLocks noGrp="1"/>
          </p:cNvSpPr>
          <p:nvPr>
            <p:ph type="pic" sz="quarter" idx="12" hasCustomPrompt="1"/>
          </p:nvPr>
        </p:nvSpPr>
        <p:spPr>
          <a:xfrm>
            <a:off x="316800" y="316800"/>
            <a:ext cx="5644800" cy="5583600"/>
          </a:xfrm>
          <a:solidFill>
            <a:schemeClr val="bg1"/>
          </a:solidFill>
        </p:spPr>
        <p:txBody>
          <a:bodyPr/>
          <a:lstStyle>
            <a:lvl1pPr marL="0" indent="0">
              <a:buFontTx/>
              <a:buNone/>
              <a:defRPr b="0"/>
            </a:lvl1pPr>
          </a:lstStyle>
          <a:p>
            <a:r>
              <a:rPr lang="en-GB" dirty="0"/>
              <a:t>Click here and add image via Templafy Image Library</a:t>
            </a:r>
            <a:endParaRPr lang="en-GB"/>
          </a:p>
        </p:txBody>
      </p:sp>
      <p:sp>
        <p:nvSpPr>
          <p:cNvPr id="4" name="Picture Placeholder 2"/>
          <p:cNvSpPr>
            <a:spLocks noGrp="1"/>
          </p:cNvSpPr>
          <p:nvPr>
            <p:ph type="pic" sz="quarter" idx="11" hasCustomPrompt="1"/>
          </p:nvPr>
        </p:nvSpPr>
        <p:spPr>
          <a:xfrm>
            <a:off x="6231600" y="316800"/>
            <a:ext cx="5644800" cy="2653200"/>
          </a:xfrm>
        </p:spPr>
        <p:txBody>
          <a:bodyPr/>
          <a:lstStyle>
            <a:lvl1pPr marL="0" indent="0">
              <a:buFontTx/>
              <a:buNone/>
              <a:defRPr b="0"/>
            </a:lvl1pPr>
          </a:lstStyle>
          <a:p>
            <a:r>
              <a:rPr lang="en-GB" dirty="0"/>
              <a:t>Click here and add image via Templafy Image Library</a:t>
            </a:r>
            <a:endParaRPr lang="en-GB"/>
          </a:p>
        </p:txBody>
      </p:sp>
      <p:sp>
        <p:nvSpPr>
          <p:cNvPr id="7" name="Picture Placeholder 3"/>
          <p:cNvSpPr>
            <a:spLocks noGrp="1"/>
          </p:cNvSpPr>
          <p:nvPr>
            <p:ph type="pic" sz="quarter" idx="13" hasCustomPrompt="1"/>
          </p:nvPr>
        </p:nvSpPr>
        <p:spPr>
          <a:xfrm>
            <a:off x="6231600" y="3237372"/>
            <a:ext cx="5644800" cy="2653200"/>
          </a:xfrm>
        </p:spPr>
        <p:txBody>
          <a:bodyPr/>
          <a:lstStyle>
            <a:lvl1pPr marL="0" indent="0">
              <a:buFontTx/>
              <a:buNone/>
              <a:defRPr b="0"/>
            </a:lvl1pPr>
          </a:lstStyle>
          <a:p>
            <a:r>
              <a:rPr lang="en-GB" dirty="0"/>
              <a:t>Click here and add image via Templafy Image Library</a:t>
            </a:r>
            <a:endParaRPr lang="en-GB"/>
          </a:p>
        </p:txBody>
      </p:sp>
      <p:sp>
        <p:nvSpPr>
          <p:cNvPr id="10" name="Slide Number Placeholder 9"/>
          <p:cNvSpPr>
            <a:spLocks noGrp="1"/>
          </p:cNvSpPr>
          <p:nvPr>
            <p:ph type="sldNum" sz="quarter" idx="16"/>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8" name="Date Placeholder 7" hidden="1"/>
          <p:cNvSpPr>
            <a:spLocks noGrp="1"/>
          </p:cNvSpPr>
          <p:nvPr>
            <p:ph type="dt" sz="half" idx="14"/>
          </p:nvPr>
        </p:nvSpPr>
        <p:spPr/>
        <p:txBody>
          <a:bodyPr/>
          <a:lstStyle/>
          <a:p>
            <a:fld id="{78417F83-4CBA-48F2-BAD0-783AE3701E32}" type="datetimeFigureOut">
              <a:rPr lang="en-GB" smtClean="0"/>
              <a:pPr/>
              <a:t>26/02/2026</a:t>
            </a:fld>
            <a:endParaRPr lang="en-GB" dirty="0"/>
          </a:p>
        </p:txBody>
      </p:sp>
      <p:sp>
        <p:nvSpPr>
          <p:cNvPr id="9" name="Footer Placeholder 8" hidden="1"/>
          <p:cNvSpPr>
            <a:spLocks noGrp="1"/>
          </p:cNvSpPr>
          <p:nvPr>
            <p:ph type="ftr" sz="quarter" idx="15"/>
          </p:nvPr>
        </p:nvSpPr>
        <p:spPr/>
        <p:txBody>
          <a:bodyPr/>
          <a:lstStyle/>
          <a:p>
            <a:endParaRPr lang="en-GB" dirty="0"/>
          </a:p>
        </p:txBody>
      </p:sp>
    </p:spTree>
    <p:extLst>
      <p:ext uri="{BB962C8B-B14F-4D97-AF65-F5344CB8AC3E}">
        <p14:creationId xmlns:p14="http://schemas.microsoft.com/office/powerpoint/2010/main" val="93570263"/>
      </p:ext>
    </p:extLst>
  </p:cSld>
  <p:clrMapOvr>
    <a:masterClrMapping/>
  </p:clrMapOvr>
  <p:extLst>
    <p:ext uri="{DCECCB84-F9BA-43D5-87BE-67443E8EF086}">
      <p15:sldGuideLst xmlns:p15="http://schemas.microsoft.com/office/powerpoint/2012/main">
        <p15:guide id="1" pos="3922" userDrawn="1">
          <p15:clr>
            <a:srgbClr val="A4A3A4"/>
          </p15:clr>
        </p15:guide>
        <p15:guide id="2" pos="3755" userDrawn="1">
          <p15:clr>
            <a:srgbClr val="A4A3A4"/>
          </p15:clr>
        </p15:guide>
        <p15:guide id="3" orient="horz" pos="2039" userDrawn="1">
          <p15:clr>
            <a:srgbClr val="A4A3A4"/>
          </p15:clr>
        </p15:guide>
        <p15:guide id="4" orient="horz" pos="1872" userDrawn="1">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Full slide pictur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315913" y="315913"/>
            <a:ext cx="11557000" cy="6220354"/>
          </a:xfrm>
        </p:spPr>
        <p:txBody>
          <a:bodyPr/>
          <a:lstStyle>
            <a:lvl1pPr marL="0" indent="0">
              <a:buFontTx/>
              <a:buNone/>
              <a:defRPr b="0"/>
            </a:lvl1pPr>
          </a:lstStyle>
          <a:p>
            <a:r>
              <a:rPr lang="en-GB" dirty="0"/>
              <a:t>Click here and add image via Templafy Image Library</a:t>
            </a:r>
            <a:endParaRPr lang="en-GB"/>
          </a:p>
        </p:txBody>
      </p:sp>
      <p:sp>
        <p:nvSpPr>
          <p:cNvPr id="8" name="Slide Number Placeholder 7"/>
          <p:cNvSpPr>
            <a:spLocks noGrp="1"/>
          </p:cNvSpPr>
          <p:nvPr>
            <p:ph type="sldNum" sz="quarter" idx="14"/>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2"/>
          </p:nvPr>
        </p:nvSpPr>
        <p:spPr/>
        <p:txBody>
          <a:bodyPr/>
          <a:lstStyle/>
          <a:p>
            <a:fld id="{78417F83-4CBA-48F2-BAD0-783AE3701E32}" type="datetimeFigureOut">
              <a:rPr lang="en-GB" smtClean="0"/>
              <a:pPr/>
              <a:t>26/02/2026</a:t>
            </a:fld>
            <a:endParaRPr lang="en-GB" dirty="0"/>
          </a:p>
        </p:txBody>
      </p:sp>
      <p:sp>
        <p:nvSpPr>
          <p:cNvPr id="7" name="Footer Placeholder 6" hidden="1"/>
          <p:cNvSpPr>
            <a:spLocks noGrp="1"/>
          </p:cNvSpPr>
          <p:nvPr>
            <p:ph type="ftr" sz="quarter" idx="13"/>
          </p:nvPr>
        </p:nvSpPr>
        <p:spPr/>
        <p:txBody>
          <a:bodyPr/>
          <a:lstStyle/>
          <a:p>
            <a:endParaRPr lang="en-GB" dirty="0"/>
          </a:p>
        </p:txBody>
      </p:sp>
    </p:spTree>
    <p:extLst>
      <p:ext uri="{BB962C8B-B14F-4D97-AF65-F5344CB8AC3E}">
        <p14:creationId xmlns:p14="http://schemas.microsoft.com/office/powerpoint/2010/main" val="1534947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9"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10" name="Slide Number Placeholder 9"/>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26/02/2026</a:t>
            </a:fld>
            <a:endParaRPr lang="en-GB" dirty="0"/>
          </a:p>
        </p:txBody>
      </p:sp>
      <p:sp>
        <p:nvSpPr>
          <p:cNvPr id="8" name="Footer Placeholder 7" hidden="1"/>
          <p:cNvSpPr>
            <a:spLocks noGrp="1"/>
          </p:cNvSpPr>
          <p:nvPr>
            <p:ph type="ftr" sz="quarter" idx="14"/>
          </p:nvPr>
        </p:nvSpPr>
        <p:spPr/>
        <p:txBody>
          <a:bodyPr/>
          <a:lstStyle/>
          <a:p>
            <a:endParaRPr lang="en-GB" dirty="0"/>
          </a:p>
        </p:txBody>
      </p:sp>
      <p:sp>
        <p:nvSpPr>
          <p:cNvPr id="11" name="Text Placeholder 61"/>
          <p:cNvSpPr>
            <a:spLocks noGrp="1"/>
          </p:cNvSpPr>
          <p:nvPr>
            <p:ph type="body" sz="quarter" idx="16" hasCustomPrompt="1"/>
          </p:nvPr>
        </p:nvSpPr>
        <p:spPr>
          <a:xfrm>
            <a:off x="1845940" y="1412776"/>
            <a:ext cx="8496944" cy="3744416"/>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algn="ctr">
              <a:buFontTx/>
              <a:buNone/>
              <a:defRPr/>
            </a:lvl3pPr>
          </a:lstStyle>
          <a:p>
            <a:pPr lvl="0"/>
            <a:r>
              <a:rPr lang="en-GB" dirty="0"/>
              <a:t>Click to add Quote text, for next level ENTER and TAB</a:t>
            </a:r>
            <a:endParaRPr lang="en-GB"/>
          </a:p>
          <a:p>
            <a:pPr lvl="1"/>
            <a:r>
              <a:rPr lang="en-GB" dirty="0"/>
              <a:t>Second level</a:t>
            </a:r>
            <a:endParaRPr lang="en-GB"/>
          </a:p>
          <a:p>
            <a:pPr lvl="2"/>
            <a:endParaRPr lang="en-GB" dirty="0"/>
          </a:p>
        </p:txBody>
      </p:sp>
    </p:spTree>
    <p:extLst>
      <p:ext uri="{BB962C8B-B14F-4D97-AF65-F5344CB8AC3E}">
        <p14:creationId xmlns:p14="http://schemas.microsoft.com/office/powerpoint/2010/main" val="17961400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el and Quote slide">
    <p:spTree>
      <p:nvGrpSpPr>
        <p:cNvPr id="1" name=""/>
        <p:cNvGrpSpPr/>
        <p:nvPr/>
      </p:nvGrpSpPr>
      <p:grpSpPr>
        <a:xfrm>
          <a:off x="0" y="0"/>
          <a:ext cx="0" cy="0"/>
          <a:chOff x="0" y="0"/>
          <a:chExt cx="0" cy="0"/>
        </a:xfrm>
      </p:grpSpPr>
      <p:sp>
        <p:nvSpPr>
          <p:cNvPr id="8" name="Hvid baggrund"/>
          <p:cNvSpPr/>
          <p:nvPr userDrawn="1"/>
        </p:nvSpPr>
        <p:spPr bwMode="auto">
          <a:xfrm>
            <a:off x="0" y="0"/>
            <a:ext cx="12188825" cy="5897563"/>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Title 1"/>
          <p:cNvSpPr>
            <a:spLocks noGrp="1"/>
          </p:cNvSpPr>
          <p:nvPr>
            <p:ph type="title"/>
          </p:nvPr>
        </p:nvSpPr>
        <p:spPr>
          <a:xfrm>
            <a:off x="315913" y="230400"/>
            <a:ext cx="11563200" cy="752400"/>
          </a:xfrm>
        </p:spPr>
        <p:txBody>
          <a:bodyPr anchor="t" anchorCtr="0"/>
          <a:lstStyle/>
          <a:p>
            <a:r>
              <a:rPr lang="en-GB" dirty="0"/>
              <a:t>Click to edit Master title style</a:t>
            </a:r>
            <a:endParaRPr lang="en-GB"/>
          </a:p>
        </p:txBody>
      </p:sp>
      <p:sp>
        <p:nvSpPr>
          <p:cNvPr id="7" name="Text Placeholder 2"/>
          <p:cNvSpPr>
            <a:spLocks noGrp="1"/>
          </p:cNvSpPr>
          <p:nvPr>
            <p:ph type="body" sz="quarter" idx="11" hasCustomPrompt="1"/>
          </p:nvPr>
        </p:nvSpPr>
        <p:spPr>
          <a:xfrm>
            <a:off x="2998068" y="1853461"/>
            <a:ext cx="6264696" cy="2725288"/>
          </a:xfrm>
        </p:spPr>
        <p:txBody>
          <a:bodyPr/>
          <a:lstStyle>
            <a:lvl1pPr marL="432000" indent="-432000" algn="ctr">
              <a:lnSpc>
                <a:spcPct val="107000"/>
              </a:lnSpc>
              <a:buSzPct val="250000"/>
              <a:buFontTx/>
              <a:buBlip>
                <a:blip r:embed="rId2"/>
              </a:buBlip>
              <a:defRPr sz="2800">
                <a:latin typeface="Georgia" panose="02040502050405020303" pitchFamily="18" charset="0"/>
              </a:defRPr>
            </a:lvl1pPr>
            <a:lvl2pPr marL="216000" indent="-216000" algn="ctr">
              <a:lnSpc>
                <a:spcPct val="99000"/>
              </a:lnSpc>
              <a:buFont typeface="Arial" panose="020B0604020202020204" pitchFamily="34" charset="0"/>
              <a:buChar char="-"/>
              <a:defRPr sz="2000" cap="all" baseline="0">
                <a:latin typeface="Georgia" panose="02040502050405020303" pitchFamily="18" charset="0"/>
              </a:defRPr>
            </a:lvl2pPr>
            <a:lvl3pPr marL="576000" indent="0">
              <a:buNone/>
              <a:defRPr/>
            </a:lvl3pPr>
          </a:lstStyle>
          <a:p>
            <a:pPr lvl="0"/>
            <a:r>
              <a:rPr lang="en-GB" dirty="0"/>
              <a:t>Click to add Quote text, for next level ENTER and TAB</a:t>
            </a:r>
            <a:endParaRPr lang="en-GB"/>
          </a:p>
          <a:p>
            <a:pPr lvl="1"/>
            <a:r>
              <a:rPr lang="en-GB" dirty="0"/>
              <a:t>Second level</a:t>
            </a:r>
            <a:endParaRPr lang="en-GB"/>
          </a:p>
        </p:txBody>
      </p:sp>
      <p:sp>
        <p:nvSpPr>
          <p:cNvPr id="11" name="Slide Number Placeholder 10"/>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26/02/2026</a:t>
            </a:fld>
            <a:endParaRPr lang="en-GB" dirty="0"/>
          </a:p>
        </p:txBody>
      </p:sp>
      <p:sp>
        <p:nvSpPr>
          <p:cNvPr id="10" name="Footer Placeholder 9"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14951546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Full slide content">
    <p:spTree>
      <p:nvGrpSpPr>
        <p:cNvPr id="1" name=""/>
        <p:cNvGrpSpPr/>
        <p:nvPr/>
      </p:nvGrpSpPr>
      <p:grpSpPr>
        <a:xfrm>
          <a:off x="0" y="0"/>
          <a:ext cx="0" cy="0"/>
          <a:chOff x="0" y="0"/>
          <a:chExt cx="0" cy="0"/>
        </a:xfrm>
      </p:grpSpPr>
      <p:sp>
        <p:nvSpPr>
          <p:cNvPr id="5" name="Content Placeholder 1"/>
          <p:cNvSpPr>
            <a:spLocks noGrp="1"/>
          </p:cNvSpPr>
          <p:nvPr>
            <p:ph sz="quarter" idx="12"/>
          </p:nvPr>
        </p:nvSpPr>
        <p:spPr>
          <a:xfrm>
            <a:off x="328613" y="328612"/>
            <a:ext cx="11550650" cy="6213475"/>
          </a:xfrm>
        </p:spPr>
        <p:txBody>
          <a:body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8" name="Slide Number Placeholder 7"/>
          <p:cNvSpPr>
            <a:spLocks noGrp="1"/>
          </p:cNvSpPr>
          <p:nvPr>
            <p:ph type="sldNum" sz="quarter" idx="15"/>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6" name="Date Placeholder 5" hidden="1"/>
          <p:cNvSpPr>
            <a:spLocks noGrp="1"/>
          </p:cNvSpPr>
          <p:nvPr>
            <p:ph type="dt" sz="half" idx="13"/>
          </p:nvPr>
        </p:nvSpPr>
        <p:spPr/>
        <p:txBody>
          <a:bodyPr/>
          <a:lstStyle/>
          <a:p>
            <a:fld id="{78417F83-4CBA-48F2-BAD0-783AE3701E32}" type="datetimeFigureOut">
              <a:rPr lang="en-GB" smtClean="0"/>
              <a:pPr/>
              <a:t>26/02/2026</a:t>
            </a:fld>
            <a:endParaRPr lang="en-GB" dirty="0"/>
          </a:p>
        </p:txBody>
      </p:sp>
      <p:sp>
        <p:nvSpPr>
          <p:cNvPr id="7" name="Footer Placeholder 6" hidden="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78156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Click to edit Master title style</a:t>
            </a:r>
            <a:endParaRPr lang="en-GB"/>
          </a:p>
        </p:txBody>
      </p:sp>
      <p:sp>
        <p:nvSpPr>
          <p:cNvPr id="6" name="TextBox 5"/>
          <p:cNvSpPr txBox="1"/>
          <p:nvPr userDrawn="1"/>
        </p:nvSpPr>
        <p:spPr>
          <a:xfrm>
            <a:off x="-2160355" y="1022476"/>
            <a:ext cx="2012649" cy="473425"/>
          </a:xfrm>
          <a:prstGeom prst="rect">
            <a:avLst/>
          </a:prstGeom>
          <a:noFill/>
        </p:spPr>
        <p:txBody>
          <a:bodyPr wrap="square" lIns="0" tIns="0" rIns="0" bIns="0" rtlCol="0">
            <a:noAutofit/>
          </a:bodyPr>
          <a:lstStyle/>
          <a:p>
            <a:pPr algn="r">
              <a:lnSpc>
                <a:spcPct val="100000"/>
              </a:lnSpc>
            </a:pPr>
            <a:r>
              <a:rPr lang="en-GB" sz="1000" noProof="1">
                <a:solidFill>
                  <a:schemeClr val="tx1">
                    <a:lumMod val="75000"/>
                    <a:lumOff val="25000"/>
                  </a:schemeClr>
                </a:solidFill>
              </a:rPr>
              <a:t>Ændr 2. linje i overskriften </a:t>
            </a:r>
            <a:br>
              <a:rPr lang="en-GB" sz="1000" noProof="1">
                <a:solidFill>
                  <a:schemeClr val="tx1">
                    <a:lumMod val="75000"/>
                    <a:lumOff val="25000"/>
                  </a:schemeClr>
                </a:solidFill>
              </a:rPr>
            </a:br>
            <a:r>
              <a:rPr lang="en-GB" sz="1000" noProof="1">
                <a:solidFill>
                  <a:schemeClr val="tx1">
                    <a:lumMod val="75000"/>
                    <a:lumOff val="25000"/>
                  </a:schemeClr>
                </a:solidFill>
              </a:rPr>
              <a:t>til AU Passata Light</a:t>
            </a:r>
            <a:endParaRPr lang="en-GB" sz="4799" dirty="0"/>
          </a:p>
        </p:txBody>
      </p:sp>
      <p:sp>
        <p:nvSpPr>
          <p:cNvPr id="9" name="Slide Number Placeholder 8"/>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7" name="Date Placeholder 6" hidden="1"/>
          <p:cNvSpPr>
            <a:spLocks noGrp="1"/>
          </p:cNvSpPr>
          <p:nvPr>
            <p:ph type="dt" sz="half" idx="10"/>
          </p:nvPr>
        </p:nvSpPr>
        <p:spPr/>
        <p:txBody>
          <a:bodyPr/>
          <a:lstStyle/>
          <a:p>
            <a:fld id="{78417F83-4CBA-48F2-BAD0-783AE3701E32}" type="datetimeFigureOut">
              <a:rPr lang="en-GB" smtClean="0"/>
              <a:pPr/>
              <a:t>26/02/2026</a:t>
            </a:fld>
            <a:endParaRPr lang="en-GB" dirty="0"/>
          </a:p>
        </p:txBody>
      </p:sp>
      <p:sp>
        <p:nvSpPr>
          <p:cNvPr id="8" name="Footer Placeholder 7" hidden="1"/>
          <p:cNvSpPr>
            <a:spLocks noGrp="1"/>
          </p:cNvSpPr>
          <p:nvPr>
            <p:ph type="ftr" sz="quarter" idx="11"/>
          </p:nvPr>
        </p:nvSpPr>
        <p:spPr/>
        <p:txBody>
          <a:bodyPr/>
          <a:lstStyle/>
          <a:p>
            <a:endParaRPr lang="en-GB"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3" name="Rectangle 2"/>
          <p:cNvSpPr/>
          <p:nvPr userDrawn="1"/>
        </p:nvSpPr>
        <p:spPr bwMode="auto">
          <a:xfrm>
            <a:off x="765820" y="1340768"/>
            <a:ext cx="1224136" cy="504056"/>
          </a:xfrm>
          <a:prstGeom prst="rect">
            <a:avLst/>
          </a:prstGeom>
          <a:solidFill>
            <a:schemeClr val="bg1"/>
          </a:solidFill>
          <a:ln w="1778"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en-GB" sz="1600" b="0" i="0" u="none" strike="noStrike" cap="none" normalizeH="0" baseline="0" dirty="0" err="1">
              <a:ln>
                <a:noFill/>
              </a:ln>
              <a:solidFill>
                <a:schemeClr val="bg1"/>
              </a:solidFill>
              <a:effectLst/>
              <a:latin typeface="AU Passata" pitchFamily="34" charset="0"/>
            </a:endParaRPr>
          </a:p>
        </p:txBody>
      </p:sp>
      <p:sp>
        <p:nvSpPr>
          <p:cNvPr id="5" name="Slide Number Placeholder 4"/>
          <p:cNvSpPr>
            <a:spLocks noGrp="1"/>
          </p:cNvSpPr>
          <p:nvPr>
            <p:ph type="sldNum" sz="quarter" idx="12"/>
          </p:nvPr>
        </p:nvSpPr>
        <p:spPr>
          <a:xfrm>
            <a:off x="11807992" y="6581497"/>
            <a:ext cx="252000" cy="135422"/>
          </a:xfrm>
        </p:spPr>
        <p:txBody>
          <a:bodyPr/>
          <a:lstStyle/>
          <a:p>
            <a:pPr>
              <a:defRPr/>
            </a:pPr>
            <a:fld id="{E90C1E0A-682D-40DC-B1EA-26C007FDC330}" type="slidenum">
              <a:rPr lang="en-GB" smtClean="0"/>
              <a:pPr>
                <a:defRPr/>
              </a:pPr>
              <a:t>‹nr.›</a:t>
            </a:fld>
            <a:endParaRPr lang="en-GB" dirty="0"/>
          </a:p>
        </p:txBody>
      </p:sp>
      <p:sp>
        <p:nvSpPr>
          <p:cNvPr id="2" name="Date Placeholder 1" hidden="1"/>
          <p:cNvSpPr>
            <a:spLocks noGrp="1"/>
          </p:cNvSpPr>
          <p:nvPr>
            <p:ph type="dt" sz="half" idx="10"/>
          </p:nvPr>
        </p:nvSpPr>
        <p:spPr/>
        <p:txBody>
          <a:bodyPr/>
          <a:lstStyle/>
          <a:p>
            <a:fld id="{78417F83-4CBA-48F2-BAD0-783AE3701E32}" type="datetimeFigureOut">
              <a:rPr lang="en-GB" smtClean="0"/>
              <a:pPr/>
              <a:t>26/02/2026</a:t>
            </a:fld>
            <a:endParaRPr lang="en-GB" dirty="0"/>
          </a:p>
        </p:txBody>
      </p:sp>
      <p:sp>
        <p:nvSpPr>
          <p:cNvPr id="4" name="Footer Placeholder 3" hidden="1"/>
          <p:cNvSpPr>
            <a:spLocks noGrp="1"/>
          </p:cNvSpPr>
          <p:nvPr>
            <p:ph type="ftr" sz="quarter" idx="11"/>
          </p:nvPr>
        </p:nvSpPr>
        <p:spPr/>
        <p:txBody>
          <a:bodyPr/>
          <a:lstStyle/>
          <a:p>
            <a:endParaRPr lang="en-GB"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End slide Logo">
    <p:bg>
      <p:bgPr>
        <a:solidFill>
          <a:schemeClr val="bg1"/>
        </a:solidFill>
        <a:effectLst/>
      </p:bgPr>
    </p:bg>
    <p:spTree>
      <p:nvGrpSpPr>
        <p:cNvPr id="1" name=""/>
        <p:cNvGrpSpPr/>
        <p:nvPr/>
      </p:nvGrpSpPr>
      <p:grpSpPr>
        <a:xfrm>
          <a:off x="0" y="0"/>
          <a:ext cx="0" cy="0"/>
          <a:chOff x="0" y="0"/>
          <a:chExt cx="0" cy="0"/>
        </a:xfrm>
      </p:grpSpPr>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pic>
        <p:nvPicPr>
          <p:cNvPr id="6"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28776" y="2163364"/>
            <a:ext cx="2531272" cy="2531272"/>
          </a:xfrm>
          <a:prstGeom prst="rect">
            <a:avLst/>
          </a:prstGeom>
        </p:spPr>
      </p:pic>
      <p:sp>
        <p:nvSpPr>
          <p:cNvPr id="5" name="Date Placeholder 4" hidden="1"/>
          <p:cNvSpPr>
            <a:spLocks noGrp="1"/>
          </p:cNvSpPr>
          <p:nvPr>
            <p:ph type="dt" sz="half" idx="10"/>
          </p:nvPr>
        </p:nvSpPr>
        <p:spPr/>
        <p:txBody>
          <a:bodyPr/>
          <a:lstStyle/>
          <a:p>
            <a:fld id="{78417F83-4CBA-48F2-BAD0-783AE3701E32}" type="datetimeFigureOut">
              <a:rPr lang="en-GB" smtClean="0"/>
              <a:pPr/>
              <a:t>26/02/2026</a:t>
            </a:fld>
            <a:endParaRPr lang="en-GB" dirty="0"/>
          </a:p>
        </p:txBody>
      </p:sp>
      <p:sp>
        <p:nvSpPr>
          <p:cNvPr id="7" name="Footer Placeholder 6" hidden="1"/>
          <p:cNvSpPr>
            <a:spLocks noGrp="1"/>
          </p:cNvSpPr>
          <p:nvPr>
            <p:ph type="ftr" sz="quarter" idx="11"/>
          </p:nvPr>
        </p:nvSpPr>
        <p:spPr/>
        <p:txBody>
          <a:bodyPr/>
          <a:lstStyle/>
          <a:p>
            <a:endParaRPr lang="en-GB" dirty="0"/>
          </a:p>
        </p:txBody>
      </p:sp>
      <p:sp>
        <p:nvSpPr>
          <p:cNvPr id="9"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3797440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bg1"/>
        </a:solidFill>
        <a:effectLst/>
      </p:bgPr>
    </p:bg>
    <p:spTree>
      <p:nvGrpSpPr>
        <p:cNvPr id="1" name=""/>
        <p:cNvGrpSpPr/>
        <p:nvPr/>
      </p:nvGrpSpPr>
      <p:grpSpPr>
        <a:xfrm>
          <a:off x="0" y="0"/>
          <a:ext cx="0" cy="0"/>
          <a:chOff x="0" y="0"/>
          <a:chExt cx="0" cy="0"/>
        </a:xfrm>
      </p:grpSpPr>
      <p:sp>
        <p:nvSpPr>
          <p:cNvPr id="16"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34" name="Pladsholder til tekst 2"/>
          <p:cNvSpPr txBox="1">
            <a:spLocks/>
          </p:cNvSpPr>
          <p:nvPr userDrawn="1"/>
        </p:nvSpPr>
        <p:spPr>
          <a:xfrm>
            <a:off x="1090914" y="2098689"/>
            <a:ext cx="12745416"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a:solidFill>
                  <a:schemeClr val="accent6"/>
                </a:solidFill>
                <a:latin typeface="AU Peto" panose="040C0B07020602020301" pitchFamily="82" charset="0"/>
              </a:rPr>
              <a:t>Aarhus</a:t>
            </a:r>
            <a:endParaRPr lang="en-GB"/>
          </a:p>
        </p:txBody>
      </p:sp>
      <p:sp>
        <p:nvSpPr>
          <p:cNvPr id="6" name="Pladsholder til tekst 2"/>
          <p:cNvSpPr txBox="1">
            <a:spLocks/>
          </p:cNvSpPr>
          <p:nvPr userDrawn="1"/>
        </p:nvSpPr>
        <p:spPr>
          <a:xfrm>
            <a:off x="7439540" y="2093600"/>
            <a:ext cx="4356484"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nSpc>
                <a:spcPct val="85000"/>
              </a:lnSpc>
            </a:pPr>
            <a:r>
              <a:rPr lang="en-GB" sz="10000" kern="0" dirty="0" err="1">
                <a:solidFill>
                  <a:schemeClr val="bg1"/>
                </a:solidFill>
                <a:latin typeface="AU Peto" panose="040C0B07020602020301" pitchFamily="82" charset="0"/>
              </a:rPr>
              <a:t>uni</a:t>
            </a:r>
            <a:endParaRPr lang="en-GB" sz="10000" kern="0" dirty="0">
              <a:solidFill>
                <a:schemeClr val="bg1"/>
              </a:solidFill>
              <a:latin typeface="AU Peto" panose="040C0B07020602020301" pitchFamily="82" charset="0"/>
            </a:endParaRPr>
          </a:p>
        </p:txBody>
      </p:sp>
      <p:sp>
        <p:nvSpPr>
          <p:cNvPr id="7" name="Pladsholder til tekst 2"/>
          <p:cNvSpPr txBox="1">
            <a:spLocks/>
          </p:cNvSpPr>
          <p:nvPr userDrawn="1"/>
        </p:nvSpPr>
        <p:spPr>
          <a:xfrm>
            <a:off x="1881492" y="3428550"/>
            <a:ext cx="9289032" cy="1329861"/>
          </a:xfrm>
          <a:prstGeom prst="rect">
            <a:avLst/>
          </a:prstGeom>
        </p:spPr>
        <p:txBody>
          <a:bodyPr wrap="square" lIns="0" tIns="0" rIns="0" bIns="21600">
            <a:spAutoFit/>
          </a:bodyPr>
          <a:lstStyle>
            <a:lvl1pPr marL="0" indent="0" algn="l" rtl="0" eaLnBrk="1" fontAlgn="base" hangingPunct="1">
              <a:lnSpc>
                <a:spcPct val="95000"/>
              </a:lnSpc>
              <a:spcBef>
                <a:spcPts val="600"/>
              </a:spcBef>
              <a:spcAft>
                <a:spcPct val="0"/>
              </a:spcAft>
              <a:buClr>
                <a:schemeClr val="accent3"/>
              </a:buClr>
              <a:buSzPct val="75000"/>
              <a:buFont typeface="Wingdings 3" pitchFamily="18" charset="2"/>
              <a:buNone/>
              <a:defRPr sz="2200">
                <a:solidFill>
                  <a:schemeClr val="bg1"/>
                </a:solidFill>
                <a:latin typeface="AU Peto" panose="040C0B07020602020301" pitchFamily="82" charset="0"/>
                <a:ea typeface="AU Peto" panose="040C0B07020602020301" pitchFamily="82" charset="0"/>
                <a:cs typeface="+mn-cs"/>
              </a:defRPr>
            </a:lvl1pPr>
            <a:lvl2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2pPr>
            <a:lvl3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3pPr>
            <a:lvl4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4pPr>
            <a:lvl5pPr marL="324000" indent="-324000" algn="l" rtl="0" eaLnBrk="1" fontAlgn="base" hangingPunct="1">
              <a:lnSpc>
                <a:spcPct val="95000"/>
              </a:lnSpc>
              <a:spcBef>
                <a:spcPts val="600"/>
              </a:spcBef>
              <a:spcAft>
                <a:spcPct val="0"/>
              </a:spcAft>
              <a:buClr>
                <a:schemeClr val="accent3"/>
              </a:buClr>
              <a:buSzPct val="75000"/>
              <a:buFont typeface="Wingdings 3" pitchFamily="18" charset="2"/>
              <a:buChar char="u"/>
              <a:defRPr sz="1600">
                <a:solidFill>
                  <a:srgbClr val="000000"/>
                </a:solidFill>
                <a:latin typeface="+mn-lt"/>
              </a:defRPr>
            </a:lvl5pPr>
            <a:lvl6pPr marL="13525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6pPr>
            <a:lvl7pPr marL="18097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7pPr>
            <a:lvl8pPr marL="22669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8pPr>
            <a:lvl9pPr marL="2724150" indent="-176213" algn="l" rtl="0" eaLnBrk="1" fontAlgn="base" hangingPunct="1">
              <a:lnSpc>
                <a:spcPct val="99000"/>
              </a:lnSpc>
              <a:spcBef>
                <a:spcPct val="20000"/>
              </a:spcBef>
              <a:spcAft>
                <a:spcPct val="0"/>
              </a:spcAft>
              <a:buFont typeface="AU Passata" pitchFamily="34" charset="0"/>
              <a:buChar char="›"/>
              <a:defRPr sz="1600">
                <a:solidFill>
                  <a:schemeClr val="bg2"/>
                </a:solidFill>
                <a:latin typeface="+mn-lt"/>
              </a:defRPr>
            </a:lvl9pPr>
          </a:lstStyle>
          <a:p>
            <a:pPr algn="ctr">
              <a:lnSpc>
                <a:spcPct val="85000"/>
              </a:lnSpc>
            </a:pPr>
            <a:r>
              <a:rPr lang="en-GB" sz="10000" kern="0" dirty="0" err="1">
                <a:solidFill>
                  <a:schemeClr val="bg1"/>
                </a:solidFill>
                <a:latin typeface="AU Peto" panose="040C0B07020602020301" pitchFamily="82" charset="0"/>
              </a:rPr>
              <a:t>versiet</a:t>
            </a:r>
            <a:endParaRPr lang="en-GB" sz="10000" dirty="0">
              <a:solidFill>
                <a:schemeClr val="bg1"/>
              </a:solidFill>
              <a:latin typeface="AU Peto" panose="040C0B07020602020301" pitchFamily="82" charset="0"/>
            </a:endParaRPr>
          </a:p>
        </p:txBody>
      </p:sp>
      <p:sp>
        <p:nvSpPr>
          <p:cNvPr id="8"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26/02/2026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Tree>
    <p:extLst>
      <p:ext uri="{BB962C8B-B14F-4D97-AF65-F5344CB8AC3E}">
        <p14:creationId xmlns:p14="http://schemas.microsoft.com/office/powerpoint/2010/main" val="9262406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End slide Aarhus Universitet">
    <p:bg>
      <p:bgPr>
        <a:solidFill>
          <a:schemeClr val="bg1"/>
        </a:solidFill>
        <a:effectLst/>
      </p:bgPr>
    </p:bg>
    <p:spTree>
      <p:nvGrpSpPr>
        <p:cNvPr id="1" name=""/>
        <p:cNvGrpSpPr/>
        <p:nvPr/>
      </p:nvGrpSpPr>
      <p:grpSpPr>
        <a:xfrm>
          <a:off x="0" y="0"/>
          <a:ext cx="0" cy="0"/>
          <a:chOff x="0" y="0"/>
          <a:chExt cx="0" cy="0"/>
        </a:xfrm>
      </p:grpSpPr>
      <p:sp>
        <p:nvSpPr>
          <p:cNvPr id="7" name="Date Placeholder 4" hidden="1"/>
          <p:cNvSpPr>
            <a:spLocks noGrp="1"/>
          </p:cNvSpPr>
          <p:nvPr>
            <p:ph type="dt" sz="half" idx="10"/>
          </p:nvPr>
        </p:nvSpPr>
        <p:spPr>
          <a:xfrm>
            <a:off x="0" y="7020000"/>
            <a:ext cx="0" cy="0"/>
          </a:xfrm>
        </p:spPr>
        <p:txBody>
          <a:bodyPr/>
          <a:lstStyle/>
          <a:p>
            <a:fld id="{78417F83-4CBA-48F2-BAD0-783AE3701E32}" type="datetimeFigureOut">
              <a:rPr lang="en-GB" smtClean="0"/>
              <a:pPr/>
              <a:t>26/02/2026</a:t>
            </a:fld>
            <a:endParaRPr lang="en-GB" dirty="0"/>
          </a:p>
        </p:txBody>
      </p:sp>
      <p:sp>
        <p:nvSpPr>
          <p:cNvPr id="9" name="Footer Placeholder 6" hidden="1"/>
          <p:cNvSpPr>
            <a:spLocks noGrp="1"/>
          </p:cNvSpPr>
          <p:nvPr>
            <p:ph type="ftr" sz="quarter" idx="11"/>
          </p:nvPr>
        </p:nvSpPr>
        <p:spPr>
          <a:xfrm>
            <a:off x="0" y="7020000"/>
            <a:ext cx="0" cy="0"/>
          </a:xfrm>
        </p:spPr>
        <p:txBody>
          <a:bodyPr/>
          <a:lstStyle/>
          <a:p>
            <a:endParaRPr lang="en-GB" dirty="0"/>
          </a:p>
        </p:txBody>
      </p:sp>
      <p:sp>
        <p:nvSpPr>
          <p:cNvPr id="10" name="Slide Number Placeholder 8" hidden="1"/>
          <p:cNvSpPr>
            <a:spLocks noGrp="1"/>
          </p:cNvSpPr>
          <p:nvPr>
            <p:ph type="sldNum" sz="quarter" idx="12"/>
          </p:nvPr>
        </p:nvSpPr>
        <p:spPr>
          <a:xfrm>
            <a:off x="0" y="7020000"/>
            <a:ext cx="0" cy="426079"/>
          </a:xfrm>
        </p:spPr>
        <p:txBody>
          <a:bodyPr/>
          <a:lstStyle>
            <a:lvl1pPr>
              <a:defRPr sz="100">
                <a:noFill/>
              </a:defRPr>
            </a:lvl1pPr>
          </a:lstStyle>
          <a:p>
            <a:pPr>
              <a:defRPr/>
            </a:pPr>
            <a:fld id="{E90C1E0A-682D-40DC-B1EA-26C007FDC330}" type="slidenum">
              <a:rPr lang="en-GB" smtClean="0"/>
              <a:pPr>
                <a:defRPr/>
              </a:pPr>
              <a:t>‹nr.›</a:t>
            </a:fld>
            <a:endParaRPr lang="en-GB" dirty="0"/>
          </a:p>
        </p:txBody>
      </p:sp>
      <p:sp>
        <p:nvSpPr>
          <p:cNvPr id="8" name="Farvet baggrund"/>
          <p:cNvSpPr/>
          <p:nvPr userDrawn="1"/>
        </p:nvSpPr>
        <p:spPr>
          <a:xfrm>
            <a:off x="0" y="0"/>
            <a:ext cx="12188825"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p:txBody>
      </p:sp>
      <p:sp>
        <p:nvSpPr>
          <p:cNvPr id="5" name="LAN_AUWBreak" descr="{&quot;templafy&quot;:{&quot;id&quot;:&quot;d47f78d6-d5d1-4108-b952-ab474b94f4fa&quot;}}"/>
          <p:cNvSpPr/>
          <p:nvPr userDrawn="1"/>
        </p:nvSpPr>
        <p:spPr bwMode="auto">
          <a:xfrm>
            <a:off x="6022613" y="2804400"/>
            <a:ext cx="65" cy="739391"/>
          </a:xfrm>
          <a:prstGeom prst="rect">
            <a:avLst/>
          </a:prstGeom>
          <a:noFill/>
          <a:ln w="1778" cap="flat" cmpd="sng" algn="ctr">
            <a:noFill/>
            <a:prstDash val="solid"/>
            <a:round/>
            <a:headEnd type="none" w="med" len="med"/>
            <a:tailEnd type="none" w="med" len="med"/>
          </a:ln>
          <a:effectLst/>
        </p:spPr>
        <p:txBody>
          <a:bodyPr vert="horz" wrap="none" lIns="0" tIns="183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4000" b="0" i="0" u="none" strike="noStrike" cap="all" normalizeH="0" baseline="0" noProof="1">
                <a:ln>
                  <a:noFill/>
                </a:ln>
                <a:solidFill>
                  <a:schemeClr val="bg1"/>
                </a:solidFill>
                <a:effectLst/>
                <a:latin typeface="AU Passata" pitchFamily="34" charset="0"/>
              </a:rPr>
              <a:t>Health</a:t>
            </a:r>
          </a:p>
        </p:txBody>
      </p:sp>
      <p:pic>
        <p:nvPicPr>
          <p:cNvPr id="6" name="Logo whit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18268" y="2864711"/>
            <a:ext cx="2228400" cy="1116990"/>
          </a:xfrm>
          <a:prstGeom prst="rect">
            <a:avLst/>
          </a:prstGeom>
        </p:spPr>
      </p:pic>
    </p:spTree>
    <p:extLst>
      <p:ext uri="{BB962C8B-B14F-4D97-AF65-F5344CB8AC3E}">
        <p14:creationId xmlns:p14="http://schemas.microsoft.com/office/powerpoint/2010/main" val="41288966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Date Placeholder 1" hidden="1"/>
          <p:cNvSpPr>
            <a:spLocks noGrp="1" noRot="1" noMove="1" noResize="1" noEditPoints="1" noAdjustHandles="1" noChangeArrowheads="1" noChangeShapeType="1"/>
          </p:cNvSpPr>
          <p:nvPr>
            <p:ph type="dt" sz="half" idx="2"/>
          </p:nvPr>
        </p:nvSpPr>
        <p:spPr>
          <a:xfrm>
            <a:off x="0" y="6858000"/>
            <a:ext cx="0" cy="0"/>
          </a:xfrm>
          <a:prstGeom prst="rect">
            <a:avLst/>
          </a:prstGeom>
        </p:spPr>
        <p:txBody>
          <a:bodyPr vert="horz" lIns="91440" tIns="45720" rIns="91440" bIns="45720" rtlCol="0" anchor="ctr"/>
          <a:lstStyle>
            <a:lvl1pPr algn="l">
              <a:defRPr sz="100">
                <a:noFill/>
              </a:defRPr>
            </a:lvl1pPr>
          </a:lstStyle>
          <a:p>
            <a:fld id="{78417F83-4CBA-48F2-BAD0-783AE3701E32}" type="datetimeFigureOut">
              <a:rPr lang="en-GB" smtClean="0"/>
              <a:pPr/>
              <a:t>26/02/2026</a:t>
            </a:fld>
            <a:endParaRPr lang="en-GB" dirty="0"/>
          </a:p>
        </p:txBody>
      </p:sp>
      <p:sp>
        <p:nvSpPr>
          <p:cNvPr id="3" name="Footer Placeholder 2" hidden="1"/>
          <p:cNvSpPr>
            <a:spLocks noGrp="1" noRot="1" noMove="1" noResize="1" noEditPoints="1" noAdjustHandles="1" noChangeArrowheads="1" noChangeShapeType="1"/>
          </p:cNvSpPr>
          <p:nvPr>
            <p:ph type="ftr" sz="quarter" idx="3"/>
          </p:nvPr>
        </p:nvSpPr>
        <p:spPr>
          <a:xfrm>
            <a:off x="0" y="6858000"/>
            <a:ext cx="0" cy="0"/>
          </a:xfrm>
          <a:prstGeom prst="rect">
            <a:avLst/>
          </a:prstGeom>
        </p:spPr>
        <p:txBody>
          <a:bodyPr vert="horz" lIns="91440" tIns="45720" rIns="91440" bIns="45720" rtlCol="0" anchor="ctr"/>
          <a:lstStyle>
            <a:lvl1pPr algn="ctr">
              <a:defRPr sz="100">
                <a:noFill/>
              </a:defRPr>
            </a:lvl1pPr>
          </a:lstStyle>
          <a:p>
            <a:endParaRPr lang="en-GB" dirty="0"/>
          </a:p>
        </p:txBody>
      </p:sp>
      <p:sp>
        <p:nvSpPr>
          <p:cNvPr id="23" name="Black Rectangle"/>
          <p:cNvSpPr/>
          <p:nvPr userDrawn="1"/>
        </p:nvSpPr>
        <p:spPr>
          <a:xfrm>
            <a:off x="989440" y="1663088"/>
            <a:ext cx="647831" cy="4800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4799" dirty="0"/>
          </a:p>
          <a:p>
            <a:pPr algn="ctr"/>
            <a:endParaRPr lang="en-GB" sz="4799" dirty="0"/>
          </a:p>
        </p:txBody>
      </p:sp>
      <p:pic>
        <p:nvPicPr>
          <p:cNvPr id="7" name="Au logo"/>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02400" y="5999002"/>
            <a:ext cx="557570" cy="558000"/>
          </a:xfrm>
          <a:prstGeom prst="rect">
            <a:avLst/>
          </a:prstGeom>
        </p:spPr>
      </p:pic>
      <p:pic>
        <p:nvPicPr>
          <p:cNvPr id="10" name="Billede streg"/>
          <p:cNvPicPr>
            <a:picLocks noChangeAspect="1"/>
          </p:cNvPicPr>
          <p:nvPr userDrawn="1"/>
        </p:nvPicPr>
        <p:blipFill>
          <a:blip r:embed="rId23" cstate="print">
            <a:extLst>
              <a:ext uri="{28A0092B-C50C-407E-A947-70E740481C1C}">
                <a14:useLocalDpi xmlns:a14="http://schemas.microsoft.com/office/drawing/2010/main" val="0"/>
              </a:ext>
            </a:extLst>
          </a:blip>
          <a:stretch>
            <a:fillRect/>
          </a:stretch>
        </p:blipFill>
        <p:spPr>
          <a:xfrm>
            <a:off x="6073200" y="5997600"/>
            <a:ext cx="71734" cy="558000"/>
          </a:xfrm>
          <a:prstGeom prst="rect">
            <a:avLst/>
          </a:prstGeom>
        </p:spPr>
      </p:pic>
      <p:sp>
        <p:nvSpPr>
          <p:cNvPr id="1027" name="Placeholder title 1"/>
          <p:cNvSpPr>
            <a:spLocks noGrp="1" noChangeArrowheads="1"/>
          </p:cNvSpPr>
          <p:nvPr>
            <p:ph type="title"/>
          </p:nvPr>
        </p:nvSpPr>
        <p:spPr bwMode="auto">
          <a:xfrm>
            <a:off x="315913" y="149115"/>
            <a:ext cx="11557000" cy="130932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p>
            <a:pPr lvl="0"/>
            <a:r>
              <a:rPr lang="en-GB" noProof="0" dirty="0"/>
              <a:t>Click to edit Master title style</a:t>
            </a:r>
            <a:endParaRPr lang="en-GB"/>
          </a:p>
        </p:txBody>
      </p:sp>
      <p:sp>
        <p:nvSpPr>
          <p:cNvPr id="1028" name="Rectangle 2"/>
          <p:cNvSpPr>
            <a:spLocks noGrp="1" noChangeArrowheads="1"/>
          </p:cNvSpPr>
          <p:nvPr>
            <p:ph type="body" idx="1"/>
          </p:nvPr>
        </p:nvSpPr>
        <p:spPr bwMode="auto">
          <a:xfrm>
            <a:off x="985838" y="1960079"/>
            <a:ext cx="10220325" cy="393748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a:p>
            <a:pPr lvl="5"/>
            <a:r>
              <a:rPr lang="en-GB" noProof="0" dirty="0"/>
              <a:t>6 level</a:t>
            </a:r>
            <a:endParaRPr lang="en-GB"/>
          </a:p>
          <a:p>
            <a:pPr lvl="6"/>
            <a:r>
              <a:rPr lang="en-GB" noProof="0" dirty="0"/>
              <a:t>7 level</a:t>
            </a:r>
            <a:endParaRPr lang="en-GB"/>
          </a:p>
          <a:p>
            <a:pPr lvl="7"/>
            <a:r>
              <a:rPr lang="en-GB" noProof="0" dirty="0"/>
              <a:t>8 level</a:t>
            </a:r>
            <a:endParaRPr lang="en-GB"/>
          </a:p>
          <a:p>
            <a:pPr lvl="8"/>
            <a:r>
              <a:rPr lang="en-GB" noProof="0" dirty="0"/>
              <a:t>9 level</a:t>
            </a:r>
            <a:endParaRPr lang="en-GB"/>
          </a:p>
        </p:txBody>
      </p:sp>
      <p:sp>
        <p:nvSpPr>
          <p:cNvPr id="5" name="Date_DateCustomA" descr="{&quot;templafy&quot;:{&quot;id&quot;:&quot;a3278115-2375-4975-82e4-a8347935b5c6&quot;}}">
            <a:extLst>
              <a:ext uri="{FF2B5EF4-FFF2-40B4-BE49-F238E27FC236}">
                <a16:creationId xmlns:a16="http://schemas.microsoft.com/office/drawing/2014/main" id="{2DB864AE-EC00-948C-4AD8-CC3FC72BC82F}"/>
              </a:ext>
            </a:extLst>
          </p:cNvPr>
          <p:cNvSpPr txBox="1">
            <a:spLocks noChangeArrowheads="1"/>
          </p:cNvSpPr>
          <p:nvPr userDrawn="1"/>
        </p:nvSpPr>
        <p:spPr bwMode="auto">
          <a:xfrm>
            <a:off x="3691333" y="5997600"/>
            <a:ext cx="2271840" cy="582176"/>
          </a:xfrm>
          <a:prstGeom prst="rect">
            <a:avLst/>
          </a:prstGeom>
          <a:noFill/>
          <a:ln w="1778" algn="ctr">
            <a:noFill/>
            <a:miter lim="800000"/>
            <a:headEnd/>
            <a:tailEnd/>
          </a:ln>
          <a:effectLst/>
        </p:spPr>
        <p:txBody>
          <a:bodyPr wrap="square" lIns="0" tIns="475200" rIns="0" bIns="0" anchor="t" anchorCtr="0">
            <a:spAutoFit/>
          </a:bodyPr>
          <a:lstStyle/>
          <a:p>
            <a:pPr algn="r">
              <a:lnSpc>
                <a:spcPct val="95000"/>
              </a:lnSpc>
              <a:defRPr/>
            </a:pPr>
            <a:r>
              <a:rPr lang="en-GB" sz="700" b="0" cap="all" baseline="0" dirty="0">
                <a:solidFill>
                  <a:schemeClr val="tx1"/>
                </a:solidFill>
                <a:latin typeface="+mn-lt"/>
              </a:rPr>
              <a:t>3. March 2026</a:t>
            </a:r>
          </a:p>
        </p:txBody>
      </p:sp>
      <p:sp>
        <p:nvSpPr>
          <p:cNvPr id="4" name="FLD_Event" descr="{&quot;templafy&quot;:{&quot;id&quot;:&quot;98dcdc62-2ecb-47df-b873-39f3578fdb11&quot;}}">
            <a:extLst>
              <a:ext uri="{FF2B5EF4-FFF2-40B4-BE49-F238E27FC236}">
                <a16:creationId xmlns:a16="http://schemas.microsoft.com/office/drawing/2014/main" id="{D0C255F4-97F5-2F16-C830-C233FA325C15}"/>
              </a:ext>
            </a:extLst>
          </p:cNvPr>
          <p:cNvSpPr txBox="1">
            <a:spLocks noChangeArrowheads="1"/>
          </p:cNvSpPr>
          <p:nvPr userDrawn="1"/>
        </p:nvSpPr>
        <p:spPr bwMode="auto">
          <a:xfrm>
            <a:off x="3691333" y="5997600"/>
            <a:ext cx="2271840" cy="447676"/>
          </a:xfrm>
          <a:prstGeom prst="rect">
            <a:avLst/>
          </a:prstGeom>
          <a:noFill/>
          <a:ln w="1778" algn="ctr">
            <a:noFill/>
            <a:miter lim="800000"/>
            <a:headEnd/>
            <a:tailEnd/>
          </a:ln>
          <a:effectLst/>
        </p:spPr>
        <p:txBody>
          <a:bodyPr wrap="square" lIns="0" tIns="342000" rIns="0" bIns="0" anchor="t" anchorCtr="0">
            <a:spAutoFit/>
          </a:bodyPr>
          <a:lstStyle/>
          <a:p>
            <a:pPr algn="r">
              <a:lnSpc>
                <a:spcPct val="95000"/>
              </a:lnSpc>
              <a:defRPr/>
            </a:pPr>
            <a:r>
              <a:rPr lang="en-GB" sz="700" b="0" cap="all" baseline="0" dirty="0">
                <a:solidFill>
                  <a:schemeClr val="tx1"/>
                </a:solidFill>
                <a:latin typeface="+mn-lt"/>
              </a:rPr>
              <a:t>Temadag</a:t>
            </a:r>
          </a:p>
        </p:txBody>
      </p:sp>
      <p:sp>
        <p:nvSpPr>
          <p:cNvPr id="28" name="USR_Title" descr="{&quot;templafy&quot;:{&quot;id&quot;:&quot;94f6f0ed-5084-43ba-ba0d-56d2959e1905&quot;}}"/>
          <p:cNvSpPr txBox="1">
            <a:spLocks noChangeArrowheads="1"/>
          </p:cNvSpPr>
          <p:nvPr userDrawn="1"/>
        </p:nvSpPr>
        <p:spPr bwMode="auto">
          <a:xfrm>
            <a:off x="6240044" y="5997600"/>
            <a:ext cx="2982416" cy="582176"/>
          </a:xfrm>
          <a:prstGeom prst="rect">
            <a:avLst/>
          </a:prstGeom>
          <a:noFill/>
          <a:ln w="1778" algn="ctr">
            <a:noFill/>
            <a:miter lim="800000"/>
            <a:headEnd/>
            <a:tailEnd/>
          </a:ln>
          <a:effectLst/>
        </p:spPr>
        <p:txBody>
          <a:bodyPr lIns="0" tIns="475200" rIns="0" bIns="0" anchor="t" anchorCtr="0">
            <a:spAutoFit/>
          </a:bodyPr>
          <a:lstStyle/>
          <a:p>
            <a:pPr algn="l">
              <a:lnSpc>
                <a:spcPct val="95000"/>
              </a:lnSpc>
              <a:defRPr/>
            </a:pPr>
            <a:r>
              <a:rPr lang="en-GB" sz="700" b="0" cap="all" baseline="0" dirty="0">
                <a:solidFill>
                  <a:schemeClr val="tx1"/>
                </a:solidFill>
                <a:latin typeface="+mn-lt"/>
              </a:rPr>
              <a:t>PhD Student</a:t>
            </a:r>
          </a:p>
        </p:txBody>
      </p:sp>
      <p:sp>
        <p:nvSpPr>
          <p:cNvPr id="21" name="USR_Name" descr="{&quot;templafy&quot;:{&quot;id&quot;:&quot;49960260-9531-4345-bc10-075cff656bf9&quot;}}"/>
          <p:cNvSpPr txBox="1">
            <a:spLocks noChangeArrowheads="1"/>
          </p:cNvSpPr>
          <p:nvPr userDrawn="1"/>
        </p:nvSpPr>
        <p:spPr bwMode="auto">
          <a:xfrm>
            <a:off x="6240044" y="5997600"/>
            <a:ext cx="2982416" cy="444040"/>
          </a:xfrm>
          <a:prstGeom prst="rect">
            <a:avLst/>
          </a:prstGeom>
          <a:noFill/>
          <a:ln w="1778" algn="ctr">
            <a:noFill/>
            <a:miter lim="800000"/>
            <a:headEnd/>
            <a:tailEnd/>
          </a:ln>
          <a:effectLst/>
        </p:spPr>
        <p:txBody>
          <a:bodyPr lIns="0" tIns="342000" rIns="0" bIns="0" anchor="t" anchorCtr="0">
            <a:spAutoFit/>
          </a:bodyPr>
          <a:lstStyle/>
          <a:p>
            <a:pPr algn="l">
              <a:lnSpc>
                <a:spcPct val="95000"/>
              </a:lnSpc>
              <a:defRPr/>
            </a:pPr>
            <a:r>
              <a:rPr lang="en-GB" sz="700" b="0" cap="all" baseline="0" dirty="0">
                <a:solidFill>
                  <a:schemeClr val="tx1"/>
                </a:solidFill>
                <a:latin typeface="+mn-lt"/>
              </a:rPr>
              <a:t>Jonas Munk Jensen</a:t>
            </a:r>
          </a:p>
        </p:txBody>
      </p:sp>
      <p:pic>
        <p:nvPicPr>
          <p:cNvPr id="1738105168" name="SecondaryLogo_sort" descr="{&quot;templafy&quot;:{&quot;id&quot;:&quot;32663bcc-00c0-423b-b276-42e576a74d4c&quot;}}"/>
          <p:cNvPicPr>
            <a:picLocks noChangeAspect="1"/>
          </p:cNvPicPr>
          <p:nvPr/>
        </p:nvPicPr>
        <p:blipFill>
          <a:blip r:embed="rId24"/>
          <a:stretch>
            <a:fillRect/>
          </a:stretch>
        </p:blipFill>
        <p:spPr>
          <a:xfrm>
            <a:off x="10206000" y="5999002"/>
            <a:ext cx="1659600" cy="558000"/>
          </a:xfrm>
          <a:prstGeom prst="rect">
            <a:avLst/>
          </a:prstGeom>
        </p:spPr>
      </p:pic>
      <p:sp>
        <p:nvSpPr>
          <p:cNvPr id="25" name="OFF_logo2Computed" descr="{&quot;templafy&quot;:{&quot;id&quot;:&quot;bf3c0137-1c6f-441e-8838-b0942961b72c&quot;}}"/>
          <p:cNvSpPr txBox="1">
            <a:spLocks noChangeArrowheads="1"/>
          </p:cNvSpPr>
          <p:nvPr userDrawn="1"/>
        </p:nvSpPr>
        <p:spPr bwMode="auto">
          <a:xfrm>
            <a:off x="972000" y="5997600"/>
            <a:ext cx="2350045" cy="676612"/>
          </a:xfrm>
          <a:prstGeom prst="rect">
            <a:avLst/>
          </a:prstGeom>
          <a:noFill/>
          <a:ln w="1778" algn="ctr">
            <a:noFill/>
            <a:miter lim="800000"/>
            <a:headEnd/>
            <a:tailEnd/>
          </a:ln>
          <a:effectLst/>
        </p:spPr>
        <p:txBody>
          <a:bodyPr wrap="square" lIns="0" tIns="583200" rIns="0" bIns="0">
            <a:spAutoFit/>
          </a:bodyPr>
          <a:lstStyle/>
          <a:p>
            <a:pPr>
              <a:lnSpc>
                <a:spcPct val="95000"/>
              </a:lnSpc>
              <a:defRPr/>
            </a:pPr>
            <a:r>
              <a:rPr lang="en-GB" sz="600" cap="all" spc="40" baseline="0" dirty="0">
                <a:solidFill>
                  <a:schemeClr val="tx1"/>
                </a:solidFill>
                <a:latin typeface="AU Passata Light" pitchFamily="34" charset="0"/>
              </a:rPr>
              <a:t>Aarhus University</a:t>
            </a:r>
          </a:p>
        </p:txBody>
      </p:sp>
      <p:sp>
        <p:nvSpPr>
          <p:cNvPr id="26" name="OFF_logo1Computed" descr="{&quot;templafy&quot;:{&quot;id&quot;:&quot;e1e6bb3c-e4da-4592-8efc-676737dd7be3&quot;}}"/>
          <p:cNvSpPr/>
          <p:nvPr userDrawn="1"/>
        </p:nvSpPr>
        <p:spPr bwMode="auto">
          <a:xfrm>
            <a:off x="971999" y="5997600"/>
            <a:ext cx="65" cy="451123"/>
          </a:xfrm>
          <a:prstGeom prst="rect">
            <a:avLst/>
          </a:prstGeom>
          <a:noFill/>
          <a:ln w="1778" cap="flat" cmpd="sng" algn="ctr">
            <a:noFill/>
            <a:prstDash val="solid"/>
            <a:round/>
            <a:headEnd type="none" w="med" len="med"/>
            <a:tailEnd type="none" w="med" len="med"/>
          </a:ln>
          <a:effectLst/>
        </p:spPr>
        <p:txBody>
          <a:bodyPr vert="horz" wrap="none" lIns="0" tIns="309600" rIns="0" bIns="0" numCol="1" rtlCol="0" anchor="t"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 typeface="AU Passata" pitchFamily="34" charset="0"/>
              <a:buNone/>
              <a:tabLst/>
            </a:pPr>
            <a:r>
              <a:rPr kumimoji="0" lang="en-GB" sz="1000" b="0" i="0" u="none" strike="noStrike" cap="all" normalizeH="0" baseline="0" noProof="1">
                <a:ln>
                  <a:noFill/>
                </a:ln>
                <a:solidFill>
                  <a:schemeClr val="tx1"/>
                </a:solidFill>
                <a:effectLst/>
                <a:latin typeface="AU Passata" pitchFamily="34" charset="0"/>
              </a:rPr>
              <a:t>Health</a:t>
            </a:r>
          </a:p>
        </p:txBody>
      </p:sp>
      <p:sp>
        <p:nvSpPr>
          <p:cNvPr id="1030" name="Sidetal"/>
          <p:cNvSpPr>
            <a:spLocks noGrp="1" noChangeArrowheads="1"/>
          </p:cNvSpPr>
          <p:nvPr>
            <p:ph type="sldNum" sz="quarter" idx="4"/>
          </p:nvPr>
        </p:nvSpPr>
        <p:spPr bwMode="auto">
          <a:xfrm>
            <a:off x="11807992" y="6581497"/>
            <a:ext cx="252000" cy="135422"/>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r">
              <a:lnSpc>
                <a:spcPts val="1200"/>
              </a:lnSpc>
              <a:buFontTx/>
              <a:buNone/>
              <a:defRPr sz="700" spc="40" baseline="0">
                <a:solidFill>
                  <a:schemeClr val="tx1"/>
                </a:solidFill>
                <a:latin typeface="+mn-lt"/>
              </a:defRPr>
            </a:lvl1pPr>
          </a:lstStyle>
          <a:p>
            <a:pPr>
              <a:defRPr/>
            </a:pPr>
            <a:fld id="{E90C1E0A-682D-40DC-B1EA-26C007FDC330}" type="slidenum">
              <a:rPr lang="en-GB" smtClean="0"/>
              <a:pPr>
                <a:defRPr/>
              </a:pPr>
              <a:t>‹nr.›</a:t>
            </a:fld>
            <a:endParaRPr lang="en-GB" dirty="0"/>
          </a:p>
        </p:txBody>
      </p:sp>
    </p:spTree>
  </p:cSld>
  <p:clrMap bg1="lt1" tx1="dk1" bg2="lt2" tx2="dk2" accent1="accent1" accent2="accent2" accent3="accent3" accent4="accent4" accent5="accent5" accent6="accent6" hlink="hlink" folHlink="folHlink"/>
  <p:sldLayoutIdLst>
    <p:sldLayoutId id="2147483659" r:id="rId1"/>
    <p:sldLayoutId id="2147483656" r:id="rId2"/>
    <p:sldLayoutId id="2147483673" r:id="rId3"/>
    <p:sldLayoutId id="2147483666" r:id="rId4"/>
    <p:sldLayoutId id="2147483662" r:id="rId5"/>
    <p:sldLayoutId id="2147483649" r:id="rId6"/>
    <p:sldLayoutId id="2147483669" r:id="rId7"/>
    <p:sldLayoutId id="2147483661" r:id="rId8"/>
    <p:sldLayoutId id="2147483668" r:id="rId9"/>
    <p:sldLayoutId id="2147483663" r:id="rId10"/>
    <p:sldLayoutId id="2147483670" r:id="rId11"/>
    <p:sldLayoutId id="2147483654" r:id="rId12"/>
    <p:sldLayoutId id="2147483664" r:id="rId13"/>
    <p:sldLayoutId id="2147483671" r:id="rId14"/>
    <p:sldLayoutId id="2147483650" r:id="rId15"/>
    <p:sldLayoutId id="2147483655" r:id="rId16"/>
    <p:sldLayoutId id="2147483651" r:id="rId17"/>
    <p:sldLayoutId id="2147483672" r:id="rId18"/>
    <p:sldLayoutId id="2147483678" r:id="rId19"/>
    <p:sldLayoutId id="2147483658" r:id="rId20"/>
  </p:sldLayoutIdLst>
  <p:hf sldNum="0" hdr="0" ftr="0"/>
  <p:txStyles>
    <p:titleStyle>
      <a:lvl1pPr algn="l" rtl="0" eaLnBrk="1" fontAlgn="base" hangingPunct="1">
        <a:lnSpc>
          <a:spcPct val="89000"/>
        </a:lnSpc>
        <a:spcBef>
          <a:spcPct val="0"/>
        </a:spcBef>
        <a:spcAft>
          <a:spcPct val="0"/>
        </a:spcAft>
        <a:defRPr sz="4500" b="1" cap="all" baseline="0">
          <a:solidFill>
            <a:schemeClr val="tx1"/>
          </a:solidFill>
          <a:latin typeface="+mj-lt"/>
          <a:ea typeface="+mj-ea"/>
          <a:cs typeface="+mj-cs"/>
        </a:defRPr>
      </a:lvl1pPr>
      <a:lvl2pPr algn="l" rtl="0" eaLnBrk="1" fontAlgn="base" hangingPunct="1">
        <a:lnSpc>
          <a:spcPct val="83000"/>
        </a:lnSpc>
        <a:spcBef>
          <a:spcPct val="0"/>
        </a:spcBef>
        <a:spcAft>
          <a:spcPct val="0"/>
        </a:spcAft>
        <a:defRPr sz="4000">
          <a:solidFill>
            <a:schemeClr val="bg2"/>
          </a:solidFill>
          <a:latin typeface="AU Passata" pitchFamily="34" charset="0"/>
        </a:defRPr>
      </a:lvl2pPr>
      <a:lvl3pPr algn="l" rtl="0" eaLnBrk="1" fontAlgn="base" hangingPunct="1">
        <a:lnSpc>
          <a:spcPct val="83000"/>
        </a:lnSpc>
        <a:spcBef>
          <a:spcPct val="0"/>
        </a:spcBef>
        <a:spcAft>
          <a:spcPct val="0"/>
        </a:spcAft>
        <a:defRPr sz="4000">
          <a:solidFill>
            <a:schemeClr val="bg2"/>
          </a:solidFill>
          <a:latin typeface="AU Passata" pitchFamily="34" charset="0"/>
        </a:defRPr>
      </a:lvl3pPr>
      <a:lvl4pPr algn="l" rtl="0" eaLnBrk="1" fontAlgn="base" hangingPunct="1">
        <a:lnSpc>
          <a:spcPct val="83000"/>
        </a:lnSpc>
        <a:spcBef>
          <a:spcPct val="0"/>
        </a:spcBef>
        <a:spcAft>
          <a:spcPct val="0"/>
        </a:spcAft>
        <a:defRPr sz="4000">
          <a:solidFill>
            <a:schemeClr val="bg2"/>
          </a:solidFill>
          <a:latin typeface="AU Passata" pitchFamily="34" charset="0"/>
        </a:defRPr>
      </a:lvl4pPr>
      <a:lvl5pPr algn="l" rtl="0" eaLnBrk="1" fontAlgn="base" hangingPunct="1">
        <a:lnSpc>
          <a:spcPct val="83000"/>
        </a:lnSpc>
        <a:spcBef>
          <a:spcPct val="0"/>
        </a:spcBef>
        <a:spcAft>
          <a:spcPct val="0"/>
        </a:spcAft>
        <a:defRPr sz="4000">
          <a:solidFill>
            <a:schemeClr val="bg2"/>
          </a:solidFill>
          <a:latin typeface="AU Passata" pitchFamily="34" charset="0"/>
        </a:defRPr>
      </a:lvl5pPr>
      <a:lvl6pPr marL="457200" algn="l" rtl="0" eaLnBrk="1" fontAlgn="base" hangingPunct="1">
        <a:lnSpc>
          <a:spcPct val="83000"/>
        </a:lnSpc>
        <a:spcBef>
          <a:spcPct val="0"/>
        </a:spcBef>
        <a:spcAft>
          <a:spcPct val="0"/>
        </a:spcAft>
        <a:defRPr sz="4000">
          <a:solidFill>
            <a:schemeClr val="bg2"/>
          </a:solidFill>
          <a:latin typeface="AU Passata" pitchFamily="34" charset="0"/>
        </a:defRPr>
      </a:lvl6pPr>
      <a:lvl7pPr marL="914400" algn="l" rtl="0" eaLnBrk="1" fontAlgn="base" hangingPunct="1">
        <a:lnSpc>
          <a:spcPct val="83000"/>
        </a:lnSpc>
        <a:spcBef>
          <a:spcPct val="0"/>
        </a:spcBef>
        <a:spcAft>
          <a:spcPct val="0"/>
        </a:spcAft>
        <a:defRPr sz="4000">
          <a:solidFill>
            <a:schemeClr val="bg2"/>
          </a:solidFill>
          <a:latin typeface="AU Passata" pitchFamily="34" charset="0"/>
        </a:defRPr>
      </a:lvl7pPr>
      <a:lvl8pPr marL="1371600" algn="l" rtl="0" eaLnBrk="1" fontAlgn="base" hangingPunct="1">
        <a:lnSpc>
          <a:spcPct val="83000"/>
        </a:lnSpc>
        <a:spcBef>
          <a:spcPct val="0"/>
        </a:spcBef>
        <a:spcAft>
          <a:spcPct val="0"/>
        </a:spcAft>
        <a:defRPr sz="4000">
          <a:solidFill>
            <a:schemeClr val="bg2"/>
          </a:solidFill>
          <a:latin typeface="AU Passata" pitchFamily="34" charset="0"/>
        </a:defRPr>
      </a:lvl8pPr>
      <a:lvl9pPr marL="1828800" algn="l" rtl="0" eaLnBrk="1" fontAlgn="base" hangingPunct="1">
        <a:lnSpc>
          <a:spcPct val="83000"/>
        </a:lnSpc>
        <a:spcBef>
          <a:spcPct val="0"/>
        </a:spcBef>
        <a:spcAft>
          <a:spcPct val="0"/>
        </a:spcAft>
        <a:defRPr sz="4000">
          <a:solidFill>
            <a:schemeClr val="bg2"/>
          </a:solidFill>
          <a:latin typeface="AU Passata" pitchFamily="34" charset="0"/>
        </a:defRPr>
      </a:lvl9pPr>
    </p:titleStyle>
    <p:bodyStyle>
      <a:lvl1pPr marL="0" indent="0" algn="l" rtl="0" eaLnBrk="1" fontAlgn="base" hangingPunct="1">
        <a:lnSpc>
          <a:spcPct val="99000"/>
        </a:lnSpc>
        <a:spcBef>
          <a:spcPts val="600"/>
        </a:spcBef>
        <a:spcAft>
          <a:spcPct val="0"/>
        </a:spcAft>
        <a:buClr>
          <a:schemeClr val="tx1"/>
        </a:buClr>
        <a:buSzPct val="100000"/>
        <a:buFont typeface="Calibri" panose="020F0502020204030204" pitchFamily="34" charset="0"/>
        <a:buChar char="​"/>
        <a:defRPr sz="2000" b="0">
          <a:solidFill>
            <a:schemeClr val="tx1"/>
          </a:solidFill>
          <a:latin typeface="+mn-lt"/>
          <a:ea typeface="+mn-ea"/>
          <a:cs typeface="+mn-cs"/>
        </a:defRPr>
      </a:lvl1pPr>
      <a:lvl2pPr marL="43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2pPr>
      <a:lvl3pPr marL="756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3pPr>
      <a:lvl4pPr marL="115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4pPr>
      <a:lvl5pPr marL="1512000" indent="-180000" algn="l" rtl="0" eaLnBrk="1" fontAlgn="base" hangingPunct="1">
        <a:lnSpc>
          <a:spcPct val="99000"/>
        </a:lnSpc>
        <a:spcBef>
          <a:spcPts val="600"/>
        </a:spcBef>
        <a:spcAft>
          <a:spcPct val="0"/>
        </a:spcAft>
        <a:buClr>
          <a:schemeClr val="tx1"/>
        </a:buClr>
        <a:buSzPct val="100000"/>
        <a:buFont typeface="Arial" panose="020B0604020202020204" pitchFamily="34" charset="0"/>
        <a:buChar char="•"/>
        <a:defRPr sz="2000">
          <a:solidFill>
            <a:schemeClr val="tx1"/>
          </a:solidFill>
          <a:latin typeface="+mn-lt"/>
        </a:defRPr>
      </a:lvl5pPr>
      <a:lvl6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6pPr>
      <a:lvl7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7pPr>
      <a:lvl8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8pPr>
      <a:lvl9pPr marL="1836000" indent="-180000" algn="l" rtl="0" eaLnBrk="1" fontAlgn="base" hangingPunct="1">
        <a:lnSpc>
          <a:spcPct val="99000"/>
        </a:lnSpc>
        <a:spcBef>
          <a:spcPts val="600"/>
        </a:spcBef>
        <a:spcAft>
          <a:spcPct val="0"/>
        </a:spcAft>
        <a:buClr>
          <a:schemeClr val="tx1"/>
        </a:buClr>
        <a:buFont typeface="Arial" panose="020B0604020202020204" pitchFamily="34" charset="0"/>
        <a:buChar char="•"/>
        <a:defRPr sz="2000">
          <a:solidFill>
            <a:schemeClr val="tx1"/>
          </a:solidFill>
          <a:latin typeface="+mn-lt"/>
        </a:defRPr>
      </a:lvl9pPr>
    </p:bodyStyle>
    <p:otherStyle>
      <a:defPPr>
        <a:defRPr lang="da-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4" orient="horz" pos="3715" userDrawn="1">
          <p15:clr>
            <a:srgbClr val="000000"/>
          </p15:clr>
        </p15:guide>
        <p15:guide id="5" orient="horz" pos="4131" userDrawn="1">
          <p15:clr>
            <a:srgbClr val="A4A3A4"/>
          </p15:clr>
        </p15:guide>
        <p15:guide id="6" pos="7479" userDrawn="1">
          <p15:clr>
            <a:srgbClr val="A4A3A4"/>
          </p15:clr>
        </p15:guide>
        <p15:guide id="7" orient="horz" pos="1234" userDrawn="1">
          <p15:clr>
            <a:srgbClr val="000000"/>
          </p15:clr>
        </p15:guide>
        <p15:guide id="8" pos="7059" userDrawn="1">
          <p15:clr>
            <a:srgbClr val="000000"/>
          </p15:clr>
        </p15:guide>
        <p15:guide id="9" pos="199" userDrawn="1">
          <p15:clr>
            <a:srgbClr val="A4A3A4"/>
          </p15:clr>
        </p15:guide>
        <p15:guide id="10" pos="621" userDrawn="1">
          <p15:clr>
            <a:srgbClr val="000000"/>
          </p15:clr>
        </p15:guide>
        <p15:guide id="11" orient="horz" pos="199"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19.xml"/><Relationship Id="rId1" Type="http://schemas.openxmlformats.org/officeDocument/2006/relationships/customXml" Target="../../customXml/item7.xml"/><Relationship Id="rId6" Type="http://schemas.openxmlformats.org/officeDocument/2006/relationships/image" Target="../media/image11.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tags" Target="../tags/tag2.xml"/><Relationship Id="rId7" Type="http://schemas.openxmlformats.org/officeDocument/2006/relationships/image" Target="../media/image13.emf"/><Relationship Id="rId2" Type="http://schemas.openxmlformats.org/officeDocument/2006/relationships/customXml" Target="../../customXml/item13.xml"/><Relationship Id="rId1" Type="http://schemas.openxmlformats.org/officeDocument/2006/relationships/customXml" Target="../../customXml/item20.xml"/><Relationship Id="rId6" Type="http://schemas.openxmlformats.org/officeDocument/2006/relationships/image" Target="../media/image12.emf"/><Relationship Id="rId5" Type="http://schemas.openxmlformats.org/officeDocument/2006/relationships/notesSlide" Target="../notesSlides/notesSlide3.xml"/><Relationship Id="rId4" Type="http://schemas.openxmlformats.org/officeDocument/2006/relationships/slideLayout" Target="../slideLayouts/slideLayout4.xml"/><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7.png"/><Relationship Id="rId2" Type="http://schemas.openxmlformats.org/officeDocument/2006/relationships/customXml" Target="../../customXml/item17.xml"/><Relationship Id="rId1" Type="http://schemas.openxmlformats.org/officeDocument/2006/relationships/customXml" Target="../../customXml/item14.xml"/><Relationship Id="rId6" Type="http://schemas.openxmlformats.org/officeDocument/2006/relationships/image" Target="../media/image16.png"/><Relationship Id="rId5" Type="http://schemas.openxmlformats.org/officeDocument/2006/relationships/notesSlide" Target="../notesSlides/notesSlide4.xml"/><Relationship Id="rId4"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8.xml"/><Relationship Id="rId1" Type="http://schemas.openxmlformats.org/officeDocument/2006/relationships/customXml" Target="../../customXml/item16.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9.xml"/><Relationship Id="rId1" Type="http://schemas.openxmlformats.org/officeDocument/2006/relationships/customXml" Target="../../customXml/item1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3.xml"/><Relationship Id="rId1" Type="http://schemas.openxmlformats.org/officeDocument/2006/relationships/customXml" Target="../../customXml/item15.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image" Target="../media/image19.png"/><Relationship Id="rId2" Type="http://schemas.openxmlformats.org/officeDocument/2006/relationships/customXml" Target="../../customXml/item6.xml"/><Relationship Id="rId1" Type="http://schemas.openxmlformats.org/officeDocument/2006/relationships/customXml" Target="../../customXml/item2.xml"/><Relationship Id="rId6" Type="http://schemas.openxmlformats.org/officeDocument/2006/relationships/image" Target="../media/image18.png"/><Relationship Id="rId5" Type="http://schemas.openxmlformats.org/officeDocument/2006/relationships/notesSlide" Target="../notesSlides/notesSlide9.xml"/><Relationship Id="rId4"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1.xml"/><Relationship Id="rId1" Type="http://schemas.openxmlformats.org/officeDocument/2006/relationships/customXml" Target="../../customXml/item8.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0.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customXml" Target="../../customXml/item10.xml"/><Relationship Id="rId1" Type="http://schemas.openxmlformats.org/officeDocument/2006/relationships/customXml" Target="../../customXml/item4.xml"/><Relationship Id="rId5" Type="http://schemas.openxmlformats.org/officeDocument/2006/relationships/notesSlide" Target="../notesSlides/notesSlide20.xml"/><Relationship Id="rId4"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985838" y="2897841"/>
            <a:ext cx="10220325" cy="830997"/>
          </a:xfrm>
        </p:spPr>
        <p:txBody>
          <a:bodyPr/>
          <a:lstStyle/>
          <a:p>
            <a:r>
              <a:rPr lang="da-DK" dirty="0"/>
              <a:t>Hvor lidt er nok?</a:t>
            </a:r>
            <a:endParaRPr lang="en-GB" noProof="0" dirty="0"/>
          </a:p>
        </p:txBody>
      </p:sp>
      <p:pic>
        <p:nvPicPr>
          <p:cNvPr id="3" name="Billede 2" descr="Et billede, der indeholder tekst, Font/skrifttype, Grafik, skærmbillede&#10;&#10;AI-genereret indhold kan være ukorrekt.">
            <a:extLst>
              <a:ext uri="{FF2B5EF4-FFF2-40B4-BE49-F238E27FC236}">
                <a16:creationId xmlns:a16="http://schemas.microsoft.com/office/drawing/2014/main" id="{FB131BF4-B38E-C440-F118-ACEDB1D965A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061964" y="6130654"/>
            <a:ext cx="2880320" cy="615668"/>
          </a:xfrm>
          <a:prstGeom prst="rect">
            <a:avLst/>
          </a:prstGeom>
        </p:spPr>
      </p:pic>
    </p:spTree>
    <p:custDataLst>
      <p:custData r:id="rId1"/>
      <p:custData r:id="rId2"/>
      <p:tags r:id="rId3"/>
    </p:custDataLst>
    <p:extLst>
      <p:ext uri="{BB962C8B-B14F-4D97-AF65-F5344CB8AC3E}">
        <p14:creationId xmlns:p14="http://schemas.microsoft.com/office/powerpoint/2010/main" val="948320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16F56E-F76D-8717-4F48-641282B65FFF}"/>
              </a:ext>
            </a:extLst>
          </p:cNvPr>
          <p:cNvSpPr>
            <a:spLocks noGrp="1"/>
          </p:cNvSpPr>
          <p:nvPr>
            <p:ph type="title"/>
          </p:nvPr>
        </p:nvSpPr>
        <p:spPr/>
        <p:txBody>
          <a:bodyPr/>
          <a:lstStyle/>
          <a:p>
            <a:r>
              <a:rPr lang="en-GB" dirty="0" err="1"/>
              <a:t>dagsorden</a:t>
            </a:r>
            <a:endParaRPr lang="da-DK" dirty="0"/>
          </a:p>
        </p:txBody>
      </p:sp>
      <p:sp>
        <p:nvSpPr>
          <p:cNvPr id="4" name="Pladsholder til dato 3">
            <a:extLst>
              <a:ext uri="{FF2B5EF4-FFF2-40B4-BE49-F238E27FC236}">
                <a16:creationId xmlns:a16="http://schemas.microsoft.com/office/drawing/2014/main" id="{1668BAF9-650A-CCBA-901C-5FE716BDC4EA}"/>
              </a:ext>
            </a:extLst>
          </p:cNvPr>
          <p:cNvSpPr>
            <a:spLocks noGrp="1"/>
          </p:cNvSpPr>
          <p:nvPr>
            <p:ph type="dt" sz="half" idx="10"/>
          </p:nvPr>
        </p:nvSpPr>
        <p:spPr/>
        <p:txBody>
          <a:bodyPr/>
          <a:lstStyle/>
          <a:p>
            <a:fld id="{480A8423-BD73-4A92-8E3C-5C475E169EB0}" type="datetime1">
              <a:rPr lang="en-GB" smtClean="0"/>
              <a:t>26/02/2026</a:t>
            </a:fld>
            <a:endParaRPr lang="en-GB" dirty="0"/>
          </a:p>
        </p:txBody>
      </p:sp>
      <p:sp>
        <p:nvSpPr>
          <p:cNvPr id="7" name="Rectangle 1">
            <a:extLst>
              <a:ext uri="{FF2B5EF4-FFF2-40B4-BE49-F238E27FC236}">
                <a16:creationId xmlns:a16="http://schemas.microsoft.com/office/drawing/2014/main" id="{CEEEB371-7977-9D11-5424-E209DBCB53E4}"/>
              </a:ext>
            </a:extLst>
          </p:cNvPr>
          <p:cNvSpPr>
            <a:spLocks noGrp="1" noChangeArrowheads="1"/>
          </p:cNvSpPr>
          <p:nvPr>
            <p:ph idx="1"/>
          </p:nvPr>
        </p:nvSpPr>
        <p:spPr bwMode="auto">
          <a:xfrm>
            <a:off x="985838" y="2697511"/>
            <a:ext cx="10005118"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Hvor meget ”traditionel træning” skal der til for at påvirke blodsukker og sygdomsstatus?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Hvad kan vi opnå, hvis vi i stedet fokuserer på at bryde stillesiddende adfærd?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da-DK" altLang="da-DK"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da-DK" altLang="da-DK" sz="1800" b="0" i="0" u="none" strike="noStrike" cap="none" normalizeH="0" baseline="0" dirty="0">
                <a:ln>
                  <a:noFill/>
                </a:ln>
                <a:solidFill>
                  <a:schemeClr val="tx1"/>
                </a:solidFill>
                <a:effectLst/>
              </a:rPr>
              <a:t> Hvordan kan vi bruge en trappemodel i praksis?</a:t>
            </a:r>
          </a:p>
        </p:txBody>
      </p:sp>
    </p:spTree>
    <p:extLst>
      <p:ext uri="{BB962C8B-B14F-4D97-AF65-F5344CB8AC3E}">
        <p14:creationId xmlns:p14="http://schemas.microsoft.com/office/powerpoint/2010/main" val="391157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9469E-CA8E-9C27-5677-3465FEB4078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10994E7-1399-3A89-A9F2-B8CACF446DFB}"/>
              </a:ext>
            </a:extLst>
          </p:cNvPr>
          <p:cNvSpPr>
            <a:spLocks noGrp="1"/>
          </p:cNvSpPr>
          <p:nvPr>
            <p:ph type="title"/>
          </p:nvPr>
        </p:nvSpPr>
        <p:spPr/>
        <p:txBody>
          <a:bodyPr/>
          <a:lstStyle/>
          <a:p>
            <a:r>
              <a:rPr lang="en-GB" noProof="0" dirty="0" err="1"/>
              <a:t>Tilbageblik</a:t>
            </a:r>
            <a:endParaRPr lang="en-GB" noProof="0" dirty="0"/>
          </a:p>
        </p:txBody>
      </p:sp>
      <p:pic>
        <p:nvPicPr>
          <p:cNvPr id="13" name="Billede 12">
            <a:extLst>
              <a:ext uri="{FF2B5EF4-FFF2-40B4-BE49-F238E27FC236}">
                <a16:creationId xmlns:a16="http://schemas.microsoft.com/office/drawing/2014/main" id="{F0E4FCA3-0D98-20C6-110D-9CD9C23B322F}"/>
              </a:ext>
            </a:extLst>
          </p:cNvPr>
          <p:cNvPicPr>
            <a:picLocks noChangeAspect="1"/>
          </p:cNvPicPr>
          <p:nvPr/>
        </p:nvPicPr>
        <p:blipFill>
          <a:blip r:embed="rId6"/>
          <a:stretch>
            <a:fillRect/>
          </a:stretch>
        </p:blipFill>
        <p:spPr>
          <a:xfrm>
            <a:off x="2061964" y="2719954"/>
            <a:ext cx="3755129" cy="3327732"/>
          </a:xfrm>
          <a:prstGeom prst="rect">
            <a:avLst/>
          </a:prstGeom>
        </p:spPr>
      </p:pic>
      <p:pic>
        <p:nvPicPr>
          <p:cNvPr id="15" name="Billede 14">
            <a:extLst>
              <a:ext uri="{FF2B5EF4-FFF2-40B4-BE49-F238E27FC236}">
                <a16:creationId xmlns:a16="http://schemas.microsoft.com/office/drawing/2014/main" id="{4460C117-CDC6-D437-BF5E-F68CD716B061}"/>
              </a:ext>
            </a:extLst>
          </p:cNvPr>
          <p:cNvPicPr>
            <a:picLocks noChangeAspect="1"/>
          </p:cNvPicPr>
          <p:nvPr/>
        </p:nvPicPr>
        <p:blipFill>
          <a:blip r:embed="rId7"/>
          <a:stretch>
            <a:fillRect/>
          </a:stretch>
        </p:blipFill>
        <p:spPr>
          <a:xfrm>
            <a:off x="5794131" y="2760846"/>
            <a:ext cx="3755129" cy="3228425"/>
          </a:xfrm>
          <a:prstGeom prst="rect">
            <a:avLst/>
          </a:prstGeom>
        </p:spPr>
      </p:pic>
      <p:pic>
        <p:nvPicPr>
          <p:cNvPr id="17" name="Billede 16">
            <a:extLst>
              <a:ext uri="{FF2B5EF4-FFF2-40B4-BE49-F238E27FC236}">
                <a16:creationId xmlns:a16="http://schemas.microsoft.com/office/drawing/2014/main" id="{9F880BFC-4F18-8E83-B2F3-0A1FEF8B9F50}"/>
              </a:ext>
            </a:extLst>
          </p:cNvPr>
          <p:cNvPicPr>
            <a:picLocks noChangeAspect="1"/>
          </p:cNvPicPr>
          <p:nvPr/>
        </p:nvPicPr>
        <p:blipFill>
          <a:blip r:embed="rId8"/>
          <a:stretch>
            <a:fillRect/>
          </a:stretch>
        </p:blipFill>
        <p:spPr>
          <a:xfrm>
            <a:off x="6742484" y="3880783"/>
            <a:ext cx="2120809" cy="988549"/>
          </a:xfrm>
          <a:prstGeom prst="rect">
            <a:avLst/>
          </a:prstGeom>
        </p:spPr>
      </p:pic>
      <p:pic>
        <p:nvPicPr>
          <p:cNvPr id="19" name="Billede 18">
            <a:extLst>
              <a:ext uri="{FF2B5EF4-FFF2-40B4-BE49-F238E27FC236}">
                <a16:creationId xmlns:a16="http://schemas.microsoft.com/office/drawing/2014/main" id="{A9BA84DA-6BD6-C184-E843-40D26122BB75}"/>
              </a:ext>
            </a:extLst>
          </p:cNvPr>
          <p:cNvPicPr>
            <a:picLocks noChangeAspect="1"/>
          </p:cNvPicPr>
          <p:nvPr/>
        </p:nvPicPr>
        <p:blipFill>
          <a:blip r:embed="rId9"/>
          <a:stretch>
            <a:fillRect/>
          </a:stretch>
        </p:blipFill>
        <p:spPr>
          <a:xfrm>
            <a:off x="5086300" y="569181"/>
            <a:ext cx="5206279" cy="1905000"/>
          </a:xfrm>
          <a:prstGeom prst="rect">
            <a:avLst/>
          </a:prstGeom>
        </p:spPr>
      </p:pic>
    </p:spTree>
    <p:custDataLst>
      <p:custData r:id="rId1"/>
      <p:custData r:id="rId2"/>
      <p:tags r:id="rId3"/>
    </p:custDataLst>
    <p:extLst>
      <p:ext uri="{BB962C8B-B14F-4D97-AF65-F5344CB8AC3E}">
        <p14:creationId xmlns:p14="http://schemas.microsoft.com/office/powerpoint/2010/main" val="24817928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2394B-3EDB-4E63-AC5F-AA89F1501E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318208-1743-B349-3745-C31B556616C1}"/>
              </a:ext>
            </a:extLst>
          </p:cNvPr>
          <p:cNvSpPr>
            <a:spLocks noGrp="1"/>
          </p:cNvSpPr>
          <p:nvPr>
            <p:ph type="title"/>
          </p:nvPr>
        </p:nvSpPr>
        <p:spPr/>
        <p:txBody>
          <a:bodyPr/>
          <a:lstStyle/>
          <a:p>
            <a:r>
              <a:rPr lang="en-GB" sz="4000" noProof="0" dirty="0"/>
              <a:t>LIVING - </a:t>
            </a:r>
            <a:r>
              <a:rPr lang="en-GB" sz="4000" noProof="0" dirty="0" err="1"/>
              <a:t>Resultater</a:t>
            </a:r>
            <a:r>
              <a:rPr lang="en-GB" sz="4000" noProof="0" dirty="0"/>
              <a:t> </a:t>
            </a:r>
            <a:r>
              <a:rPr lang="en-GB" sz="4000" noProof="0" dirty="0" err="1"/>
              <a:t>fra</a:t>
            </a:r>
            <a:r>
              <a:rPr lang="en-GB" sz="4000" noProof="0" dirty="0"/>
              <a:t> </a:t>
            </a:r>
            <a:r>
              <a:rPr lang="en-GB" sz="4000" noProof="0" dirty="0" err="1"/>
              <a:t>Folkesundhed</a:t>
            </a:r>
            <a:r>
              <a:rPr lang="en-GB" sz="4000" noProof="0" dirty="0"/>
              <a:t> </a:t>
            </a:r>
            <a:r>
              <a:rPr lang="en-GB" sz="4000" noProof="0" dirty="0" err="1"/>
              <a:t>midt</a:t>
            </a:r>
            <a:r>
              <a:rPr lang="en-GB" sz="4000" noProof="0" dirty="0"/>
              <a:t> </a:t>
            </a:r>
          </a:p>
        </p:txBody>
      </p:sp>
      <p:pic>
        <p:nvPicPr>
          <p:cNvPr id="21" name="Billede 20" descr="Et billede, der indeholder tekst, skærmbillede, nummer/tal, Font/skrifttype">
            <a:extLst>
              <a:ext uri="{FF2B5EF4-FFF2-40B4-BE49-F238E27FC236}">
                <a16:creationId xmlns:a16="http://schemas.microsoft.com/office/drawing/2014/main" id="{75B48F36-91C8-757E-BEBB-9392E179FAC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3964" y="2564904"/>
            <a:ext cx="5104351" cy="2592288"/>
          </a:xfrm>
          <a:prstGeom prst="rect">
            <a:avLst/>
          </a:prstGeom>
        </p:spPr>
      </p:pic>
      <p:pic>
        <p:nvPicPr>
          <p:cNvPr id="23" name="Billede 22" descr="Et billede, der indeholder tekst, nummer/tal, skærmbillede, Font/skrifttype&#10;&#10;AI-genereret indhold kan være ukorrekt.">
            <a:extLst>
              <a:ext uri="{FF2B5EF4-FFF2-40B4-BE49-F238E27FC236}">
                <a16:creationId xmlns:a16="http://schemas.microsoft.com/office/drawing/2014/main" id="{0A7FD6FC-608B-708C-164B-4223865AE8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10436" y="2564904"/>
            <a:ext cx="5104351" cy="2597125"/>
          </a:xfrm>
          <a:prstGeom prst="rect">
            <a:avLst/>
          </a:prstGeom>
        </p:spPr>
      </p:pic>
      <p:sp>
        <p:nvSpPr>
          <p:cNvPr id="24" name="Rektangel 23">
            <a:extLst>
              <a:ext uri="{FF2B5EF4-FFF2-40B4-BE49-F238E27FC236}">
                <a16:creationId xmlns:a16="http://schemas.microsoft.com/office/drawing/2014/main" id="{42AE6055-E65A-47DF-6621-D4297292D1ED}"/>
              </a:ext>
            </a:extLst>
          </p:cNvPr>
          <p:cNvSpPr/>
          <p:nvPr/>
        </p:nvSpPr>
        <p:spPr bwMode="auto">
          <a:xfrm>
            <a:off x="1941943" y="2132856"/>
            <a:ext cx="3528392" cy="432048"/>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95000"/>
              </a:lnSpc>
              <a:spcBef>
                <a:spcPct val="0"/>
              </a:spcBef>
              <a:spcAft>
                <a:spcPct val="0"/>
              </a:spcAft>
              <a:buClrTx/>
              <a:buSzTx/>
              <a:buFont typeface="AU Passata" pitchFamily="34" charset="0"/>
              <a:buNone/>
              <a:tabLst/>
            </a:pPr>
            <a:r>
              <a:rPr lang="da-DK" sz="2000" dirty="0">
                <a:ln w="0"/>
                <a:solidFill>
                  <a:schemeClr val="tx1"/>
                </a:solidFill>
                <a:effectLst>
                  <a:outerShdw blurRad="38100" dist="19050" dir="2700000" algn="tl" rotWithShape="0">
                    <a:schemeClr val="dk1">
                      <a:alpha val="40000"/>
                    </a:schemeClr>
                  </a:outerShdw>
                </a:effectLst>
                <a:latin typeface="AU Passata" pitchFamily="34" charset="0"/>
              </a:rPr>
              <a:t>Kontrolgruppe</a:t>
            </a:r>
            <a:endParaRPr kumimoji="0" lang="da-DK" sz="2000" i="0" u="none" strike="noStrike" normalizeH="0" baseline="0" dirty="0">
              <a:ln w="0"/>
              <a:solidFill>
                <a:schemeClr val="tx1"/>
              </a:solidFill>
              <a:effectLst>
                <a:outerShdw blurRad="38100" dist="19050" dir="2700000" algn="tl" rotWithShape="0">
                  <a:schemeClr val="dk1">
                    <a:alpha val="40000"/>
                  </a:schemeClr>
                </a:outerShdw>
              </a:effectLst>
              <a:latin typeface="AU Passata" pitchFamily="34" charset="0"/>
            </a:endParaRPr>
          </a:p>
        </p:txBody>
      </p:sp>
      <p:sp>
        <p:nvSpPr>
          <p:cNvPr id="25" name="Rektangel 24">
            <a:extLst>
              <a:ext uri="{FF2B5EF4-FFF2-40B4-BE49-F238E27FC236}">
                <a16:creationId xmlns:a16="http://schemas.microsoft.com/office/drawing/2014/main" id="{E3D85AEA-471D-7295-FFDE-20F6D3E86D66}"/>
              </a:ext>
            </a:extLst>
          </p:cNvPr>
          <p:cNvSpPr/>
          <p:nvPr/>
        </p:nvSpPr>
        <p:spPr bwMode="auto">
          <a:xfrm>
            <a:off x="7030554" y="2134400"/>
            <a:ext cx="3528392" cy="432048"/>
          </a:xfrm>
          <a:prstGeom prst="rect">
            <a:avLst/>
          </a:prstGeom>
          <a:ln>
            <a:noFill/>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ctr" defTabSz="914400" rtl="0" eaLnBrk="1" fontAlgn="base" latinLnBrk="0" hangingPunct="1">
              <a:lnSpc>
                <a:spcPct val="95000"/>
              </a:lnSpc>
              <a:spcBef>
                <a:spcPct val="0"/>
              </a:spcBef>
              <a:spcAft>
                <a:spcPct val="0"/>
              </a:spcAft>
              <a:buClrTx/>
              <a:buSzTx/>
              <a:buFont typeface="AU Passata" pitchFamily="34" charset="0"/>
              <a:buNone/>
              <a:tabLst/>
            </a:pPr>
            <a:r>
              <a:rPr lang="da-DK" sz="2000" dirty="0">
                <a:ln w="0"/>
                <a:solidFill>
                  <a:schemeClr val="tx1"/>
                </a:solidFill>
                <a:effectLst>
                  <a:outerShdw blurRad="38100" dist="19050" dir="2700000" algn="tl" rotWithShape="0">
                    <a:schemeClr val="dk1">
                      <a:alpha val="40000"/>
                    </a:schemeClr>
                  </a:outerShdw>
                </a:effectLst>
                <a:latin typeface="AU Passata" pitchFamily="34" charset="0"/>
              </a:rPr>
              <a:t>Interventionsgruppe</a:t>
            </a:r>
            <a:endParaRPr kumimoji="0" lang="da-DK" sz="2000" i="0" u="none" strike="noStrike" normalizeH="0" baseline="0" dirty="0">
              <a:ln w="0"/>
              <a:solidFill>
                <a:schemeClr val="tx1"/>
              </a:solidFill>
              <a:effectLst>
                <a:outerShdw blurRad="38100" dist="19050" dir="2700000" algn="tl" rotWithShape="0">
                  <a:schemeClr val="dk1">
                    <a:alpha val="40000"/>
                  </a:schemeClr>
                </a:outerShdw>
              </a:effectLst>
              <a:latin typeface="AU Passata" pitchFamily="34" charset="0"/>
            </a:endParaRPr>
          </a:p>
        </p:txBody>
      </p:sp>
      <p:sp>
        <p:nvSpPr>
          <p:cNvPr id="2" name="Rektangel 1">
            <a:extLst>
              <a:ext uri="{FF2B5EF4-FFF2-40B4-BE49-F238E27FC236}">
                <a16:creationId xmlns:a16="http://schemas.microsoft.com/office/drawing/2014/main" id="{B576D898-79CD-C64D-A85D-6C8A3A5CB845}"/>
              </a:ext>
            </a:extLst>
          </p:cNvPr>
          <p:cNvSpPr/>
          <p:nvPr/>
        </p:nvSpPr>
        <p:spPr bwMode="auto">
          <a:xfrm>
            <a:off x="4654252" y="3284984"/>
            <a:ext cx="1512168" cy="360040"/>
          </a:xfrm>
          <a:prstGeom prst="rect">
            <a:avLst/>
          </a:prstGeom>
          <a:noFill/>
          <a:ln w="190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4" name="Rektangel 3">
            <a:extLst>
              <a:ext uri="{FF2B5EF4-FFF2-40B4-BE49-F238E27FC236}">
                <a16:creationId xmlns:a16="http://schemas.microsoft.com/office/drawing/2014/main" id="{5182D89E-D8DA-CC8F-18F7-192EAA4892D5}"/>
              </a:ext>
            </a:extLst>
          </p:cNvPr>
          <p:cNvSpPr/>
          <p:nvPr/>
        </p:nvSpPr>
        <p:spPr bwMode="auto">
          <a:xfrm>
            <a:off x="9802862" y="3270508"/>
            <a:ext cx="1512168" cy="360040"/>
          </a:xfrm>
          <a:prstGeom prst="rect">
            <a:avLst/>
          </a:prstGeom>
          <a:noFill/>
          <a:ln w="19050" cap="flat" cmpd="sng" algn="ctr">
            <a:solidFill>
              <a:srgbClr val="0070C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Tree>
    <p:custDataLst>
      <p:custData r:id="rId1"/>
      <p:custData r:id="rId2"/>
      <p:tags r:id="rId3"/>
    </p:custDataLst>
    <p:extLst>
      <p:ext uri="{BB962C8B-B14F-4D97-AF65-F5344CB8AC3E}">
        <p14:creationId xmlns:p14="http://schemas.microsoft.com/office/powerpoint/2010/main" val="1076025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8EF5AB-4B62-A866-FBCE-C3EDAA69685D}"/>
              </a:ext>
            </a:extLst>
          </p:cNvPr>
          <p:cNvSpPr>
            <a:spLocks noGrp="1"/>
          </p:cNvSpPr>
          <p:nvPr>
            <p:ph type="title"/>
          </p:nvPr>
        </p:nvSpPr>
        <p:spPr/>
        <p:txBody>
          <a:bodyPr/>
          <a:lstStyle/>
          <a:p>
            <a:r>
              <a:rPr lang="da-DK" dirty="0"/>
              <a:t>Hvad siger litteraturen</a:t>
            </a:r>
          </a:p>
        </p:txBody>
      </p:sp>
      <p:sp>
        <p:nvSpPr>
          <p:cNvPr id="3" name="Pladsholder til indhold 2">
            <a:extLst>
              <a:ext uri="{FF2B5EF4-FFF2-40B4-BE49-F238E27FC236}">
                <a16:creationId xmlns:a16="http://schemas.microsoft.com/office/drawing/2014/main" id="{425139AF-98C0-05A3-42F1-3C404C329CE4}"/>
              </a:ext>
            </a:extLst>
          </p:cNvPr>
          <p:cNvSpPr>
            <a:spLocks noGrp="1"/>
          </p:cNvSpPr>
          <p:nvPr>
            <p:ph idx="1"/>
          </p:nvPr>
        </p:nvSpPr>
        <p:spPr>
          <a:xfrm>
            <a:off x="985838" y="2786974"/>
            <a:ext cx="10220325" cy="964865"/>
          </a:xfrm>
        </p:spPr>
        <p:txBody>
          <a:bodyPr/>
          <a:lstStyle/>
          <a:p>
            <a:r>
              <a:rPr lang="da-DK" sz="2800" dirty="0"/>
              <a:t>Hvordan opgør man træningsdosis i forskningen?</a:t>
            </a:r>
          </a:p>
        </p:txBody>
      </p:sp>
      <p:sp>
        <p:nvSpPr>
          <p:cNvPr id="4" name="Pladsholder til dato 3">
            <a:extLst>
              <a:ext uri="{FF2B5EF4-FFF2-40B4-BE49-F238E27FC236}">
                <a16:creationId xmlns:a16="http://schemas.microsoft.com/office/drawing/2014/main" id="{F68C6B68-15AD-A45D-A19B-D3A6632983E1}"/>
              </a:ext>
            </a:extLst>
          </p:cNvPr>
          <p:cNvSpPr>
            <a:spLocks noGrp="1"/>
          </p:cNvSpPr>
          <p:nvPr>
            <p:ph type="dt" sz="half" idx="10"/>
          </p:nvPr>
        </p:nvSpPr>
        <p:spPr/>
        <p:txBody>
          <a:bodyPr/>
          <a:lstStyle/>
          <a:p>
            <a:fld id="{F7BF2D60-5FB5-4E97-8CFC-1B9CD5474338}" type="datetime1">
              <a:rPr lang="en-GB" smtClean="0"/>
              <a:t>26/02/2026</a:t>
            </a:fld>
            <a:endParaRPr lang="en-GB" dirty="0"/>
          </a:p>
        </p:txBody>
      </p:sp>
    </p:spTree>
    <p:extLst>
      <p:ext uri="{BB962C8B-B14F-4D97-AF65-F5344CB8AC3E}">
        <p14:creationId xmlns:p14="http://schemas.microsoft.com/office/powerpoint/2010/main" val="1382780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D5C4A-66AA-B1D1-5145-E39E6181E7A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40EA923-EB15-A385-EAE9-9A29698F9823}"/>
              </a:ext>
            </a:extLst>
          </p:cNvPr>
          <p:cNvSpPr>
            <a:spLocks noGrp="1"/>
          </p:cNvSpPr>
          <p:nvPr>
            <p:ph type="title"/>
          </p:nvPr>
        </p:nvSpPr>
        <p:spPr>
          <a:xfrm>
            <a:off x="315913" y="228627"/>
            <a:ext cx="11556000" cy="1184149"/>
          </a:xfrm>
        </p:spPr>
        <p:txBody>
          <a:bodyPr wrap="square" anchor="t">
            <a:normAutofit/>
          </a:bodyPr>
          <a:lstStyle/>
          <a:p>
            <a:pPr lvl="0" algn="ctr"/>
            <a:r>
              <a:rPr lang="en-GB" b="1" dirty="0" err="1"/>
              <a:t>Hvad</a:t>
            </a:r>
            <a:r>
              <a:rPr lang="en-GB" b="1" dirty="0"/>
              <a:t> er MET? </a:t>
            </a:r>
            <a:r>
              <a:rPr lang="da-DK" sz="2700" dirty="0" err="1"/>
              <a:t>M</a:t>
            </a:r>
            <a:r>
              <a:rPr lang="da-DK" sz="2700" b="0" dirty="0" err="1"/>
              <a:t>etabolic</a:t>
            </a:r>
            <a:r>
              <a:rPr lang="da-DK" sz="2700" b="0" dirty="0"/>
              <a:t> </a:t>
            </a:r>
            <a:r>
              <a:rPr lang="da-DK" sz="2700" dirty="0" err="1"/>
              <a:t>E</a:t>
            </a:r>
            <a:r>
              <a:rPr lang="da-DK" sz="2700" b="0" dirty="0" err="1"/>
              <a:t>quivalent</a:t>
            </a:r>
            <a:r>
              <a:rPr lang="da-DK" sz="2700" b="0" dirty="0"/>
              <a:t> of </a:t>
            </a:r>
            <a:r>
              <a:rPr lang="da-DK" sz="2700" dirty="0"/>
              <a:t>T</a:t>
            </a:r>
            <a:r>
              <a:rPr lang="da-DK" sz="2700" b="0" dirty="0"/>
              <a:t>ask</a:t>
            </a:r>
            <a:endParaRPr lang="en-GB" sz="2700" b="0" dirty="0"/>
          </a:p>
        </p:txBody>
      </p:sp>
      <p:sp>
        <p:nvSpPr>
          <p:cNvPr id="2" name="Date Placeholder 1">
            <a:extLst>
              <a:ext uri="{FF2B5EF4-FFF2-40B4-BE49-F238E27FC236}">
                <a16:creationId xmlns:a16="http://schemas.microsoft.com/office/drawing/2014/main" id="{68116AC5-66E4-1822-7347-378163458B8D}"/>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26/02/2026</a:t>
            </a:fld>
            <a:endParaRPr lang="en-GB" noProof="0"/>
          </a:p>
        </p:txBody>
      </p:sp>
      <p:graphicFrame>
        <p:nvGraphicFramePr>
          <p:cNvPr id="4" name="Tabel 3">
            <a:extLst>
              <a:ext uri="{FF2B5EF4-FFF2-40B4-BE49-F238E27FC236}">
                <a16:creationId xmlns:a16="http://schemas.microsoft.com/office/drawing/2014/main" id="{2B98CD84-6773-2B68-D47B-67B523625AC5}"/>
              </a:ext>
            </a:extLst>
          </p:cNvPr>
          <p:cNvGraphicFramePr>
            <a:graphicFrameLocks noGrp="1"/>
          </p:cNvGraphicFramePr>
          <p:nvPr>
            <p:extLst>
              <p:ext uri="{D42A27DB-BD31-4B8C-83A1-F6EECF244321}">
                <p14:modId xmlns:p14="http://schemas.microsoft.com/office/powerpoint/2010/main" val="3494612661"/>
              </p:ext>
            </p:extLst>
          </p:nvPr>
        </p:nvGraphicFramePr>
        <p:xfrm>
          <a:off x="1872916" y="1376899"/>
          <a:ext cx="7860792" cy="4693920"/>
        </p:xfrm>
        <a:graphic>
          <a:graphicData uri="http://schemas.openxmlformats.org/drawingml/2006/table">
            <a:tbl>
              <a:tblPr firstRow="1" bandRow="1">
                <a:tableStyleId>{69012ECD-51FC-41F1-AA8D-1B2483CD663E}</a:tableStyleId>
              </a:tblPr>
              <a:tblGrid>
                <a:gridCol w="5092067">
                  <a:extLst>
                    <a:ext uri="{9D8B030D-6E8A-4147-A177-3AD203B41FA5}">
                      <a16:colId xmlns:a16="http://schemas.microsoft.com/office/drawing/2014/main" val="4227981790"/>
                    </a:ext>
                  </a:extLst>
                </a:gridCol>
                <a:gridCol w="2768725">
                  <a:extLst>
                    <a:ext uri="{9D8B030D-6E8A-4147-A177-3AD203B41FA5}">
                      <a16:colId xmlns:a16="http://schemas.microsoft.com/office/drawing/2014/main" val="1088891099"/>
                    </a:ext>
                  </a:extLst>
                </a:gridCol>
              </a:tblGrid>
              <a:tr h="634556">
                <a:tc>
                  <a:txBody>
                    <a:bodyPr/>
                    <a:lstStyle/>
                    <a:p>
                      <a:pPr>
                        <a:buNone/>
                      </a:pPr>
                      <a:r>
                        <a:rPr lang="da-DK" sz="3300" dirty="0"/>
                        <a:t>Aktivitet</a:t>
                      </a:r>
                    </a:p>
                  </a:txBody>
                  <a:tcPr marL="167640" marR="167640" marT="83820" marB="83820" anchor="ctr"/>
                </a:tc>
                <a:tc>
                  <a:txBody>
                    <a:bodyPr/>
                    <a:lstStyle/>
                    <a:p>
                      <a:pPr>
                        <a:buNone/>
                      </a:pPr>
                      <a:r>
                        <a:rPr lang="da-DK" sz="3300" dirty="0"/>
                        <a:t>MET</a:t>
                      </a:r>
                    </a:p>
                  </a:txBody>
                  <a:tcPr marL="167640" marR="167640" marT="83820" marB="83820" anchor="ctr"/>
                </a:tc>
                <a:extLst>
                  <a:ext uri="{0D108BD9-81ED-4DB2-BD59-A6C34878D82A}">
                    <a16:rowId xmlns:a16="http://schemas.microsoft.com/office/drawing/2014/main" val="2866234971"/>
                  </a:ext>
                </a:extLst>
              </a:tr>
              <a:tr h="634556">
                <a:tc>
                  <a:txBody>
                    <a:bodyPr/>
                    <a:lstStyle/>
                    <a:p>
                      <a:pPr>
                        <a:buNone/>
                      </a:pPr>
                      <a:r>
                        <a:rPr lang="da-DK" sz="3300" dirty="0"/>
                        <a:t>Hvile</a:t>
                      </a:r>
                    </a:p>
                  </a:txBody>
                  <a:tcPr marL="167640" marR="167640" marT="83820" marB="83820" anchor="ctr"/>
                </a:tc>
                <a:tc>
                  <a:txBody>
                    <a:bodyPr/>
                    <a:lstStyle/>
                    <a:p>
                      <a:pPr>
                        <a:buNone/>
                      </a:pPr>
                      <a:r>
                        <a:rPr lang="da-DK" sz="3300"/>
                        <a:t>1</a:t>
                      </a:r>
                    </a:p>
                  </a:txBody>
                  <a:tcPr marL="167640" marR="167640" marT="83820" marB="83820" anchor="ctr"/>
                </a:tc>
                <a:extLst>
                  <a:ext uri="{0D108BD9-81ED-4DB2-BD59-A6C34878D82A}">
                    <a16:rowId xmlns:a16="http://schemas.microsoft.com/office/drawing/2014/main" val="4010057682"/>
                  </a:ext>
                </a:extLst>
              </a:tr>
              <a:tr h="6345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3300" dirty="0"/>
                        <a:t>Rask gang</a:t>
                      </a:r>
                    </a:p>
                  </a:txBody>
                  <a:tcPr marL="167640" marR="167640" marT="83820" marB="83820" anchor="ctr"/>
                </a:tc>
                <a:tc>
                  <a:txBody>
                    <a:bodyPr/>
                    <a:lstStyle/>
                    <a:p>
                      <a:pPr>
                        <a:buNone/>
                      </a:pPr>
                      <a:r>
                        <a:rPr lang="da-DK" sz="3300" dirty="0"/>
                        <a:t>4</a:t>
                      </a:r>
                    </a:p>
                  </a:txBody>
                  <a:tcPr marL="167640" marR="167640" marT="83820" marB="83820" anchor="ctr"/>
                </a:tc>
                <a:extLst>
                  <a:ext uri="{0D108BD9-81ED-4DB2-BD59-A6C34878D82A}">
                    <a16:rowId xmlns:a16="http://schemas.microsoft.com/office/drawing/2014/main" val="1574841536"/>
                  </a:ext>
                </a:extLst>
              </a:tr>
              <a:tr h="6345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sz="3300" dirty="0"/>
                        <a:t>Cykling (transport)</a:t>
                      </a:r>
                    </a:p>
                  </a:txBody>
                  <a:tcPr marL="167640" marR="167640" marT="83820" marB="83820" anchor="ctr"/>
                </a:tc>
                <a:tc>
                  <a:txBody>
                    <a:bodyPr/>
                    <a:lstStyle/>
                    <a:p>
                      <a:pPr>
                        <a:buNone/>
                      </a:pPr>
                      <a:r>
                        <a:rPr lang="da-DK" sz="3300" dirty="0"/>
                        <a:t>6</a:t>
                      </a:r>
                    </a:p>
                  </a:txBody>
                  <a:tcPr marL="167640" marR="167640" marT="83820" marB="83820" anchor="ctr"/>
                </a:tc>
                <a:extLst>
                  <a:ext uri="{0D108BD9-81ED-4DB2-BD59-A6C34878D82A}">
                    <a16:rowId xmlns:a16="http://schemas.microsoft.com/office/drawing/2014/main" val="1112840126"/>
                  </a:ext>
                </a:extLst>
              </a:tr>
              <a:tr h="634556">
                <a:tc>
                  <a:txBody>
                    <a:bodyPr/>
                    <a:lstStyle/>
                    <a:p>
                      <a:pPr>
                        <a:buNone/>
                      </a:pPr>
                      <a:r>
                        <a:rPr lang="da-DK" sz="3300" dirty="0"/>
                        <a:t>Løb (moderat)</a:t>
                      </a:r>
                    </a:p>
                  </a:txBody>
                  <a:tcPr marL="167640" marR="167640" marT="83820" marB="83820" anchor="ctr"/>
                </a:tc>
                <a:tc>
                  <a:txBody>
                    <a:bodyPr/>
                    <a:lstStyle/>
                    <a:p>
                      <a:pPr>
                        <a:buNone/>
                      </a:pPr>
                      <a:r>
                        <a:rPr lang="da-DK" sz="3300" dirty="0"/>
                        <a:t>8</a:t>
                      </a:r>
                    </a:p>
                  </a:txBody>
                  <a:tcPr marL="167640" marR="167640" marT="83820" marB="83820" anchor="ctr"/>
                </a:tc>
                <a:extLst>
                  <a:ext uri="{0D108BD9-81ED-4DB2-BD59-A6C34878D82A}">
                    <a16:rowId xmlns:a16="http://schemas.microsoft.com/office/drawing/2014/main" val="1985299418"/>
                  </a:ext>
                </a:extLst>
              </a:tr>
              <a:tr h="634556">
                <a:tc>
                  <a:txBody>
                    <a:bodyPr/>
                    <a:lstStyle/>
                    <a:p>
                      <a:pPr>
                        <a:buNone/>
                      </a:pPr>
                      <a:r>
                        <a:rPr lang="da-DK" sz="3300" dirty="0"/>
                        <a:t>Intervaltræning</a:t>
                      </a:r>
                    </a:p>
                  </a:txBody>
                  <a:tcPr marL="167640" marR="167640" marT="83820" marB="83820" anchor="ctr"/>
                </a:tc>
                <a:tc>
                  <a:txBody>
                    <a:bodyPr/>
                    <a:lstStyle/>
                    <a:p>
                      <a:pPr>
                        <a:buNone/>
                      </a:pPr>
                      <a:r>
                        <a:rPr lang="da-DK" sz="3300" dirty="0"/>
                        <a:t>12-15</a:t>
                      </a:r>
                    </a:p>
                  </a:txBody>
                  <a:tcPr marL="167640" marR="167640" marT="83820" marB="83820" anchor="ctr"/>
                </a:tc>
                <a:extLst>
                  <a:ext uri="{0D108BD9-81ED-4DB2-BD59-A6C34878D82A}">
                    <a16:rowId xmlns:a16="http://schemas.microsoft.com/office/drawing/2014/main" val="3168656901"/>
                  </a:ext>
                </a:extLst>
              </a:tr>
              <a:tr h="634556">
                <a:tc>
                  <a:txBody>
                    <a:bodyPr/>
                    <a:lstStyle/>
                    <a:p>
                      <a:pPr>
                        <a:buNone/>
                      </a:pPr>
                      <a:r>
                        <a:rPr lang="da-DK" sz="3300" dirty="0"/>
                        <a:t>Langrend (konkurrence)</a:t>
                      </a:r>
                    </a:p>
                  </a:txBody>
                  <a:tcPr marL="167640" marR="167640" marT="83820" marB="83820" anchor="ctr"/>
                </a:tc>
                <a:tc>
                  <a:txBody>
                    <a:bodyPr/>
                    <a:lstStyle/>
                    <a:p>
                      <a:pPr>
                        <a:buNone/>
                      </a:pPr>
                      <a:r>
                        <a:rPr lang="da-DK" sz="3300" dirty="0"/>
                        <a:t>15-18</a:t>
                      </a:r>
                    </a:p>
                  </a:txBody>
                  <a:tcPr marL="167640" marR="167640" marT="83820" marB="83820" anchor="ctr"/>
                </a:tc>
                <a:extLst>
                  <a:ext uri="{0D108BD9-81ED-4DB2-BD59-A6C34878D82A}">
                    <a16:rowId xmlns:a16="http://schemas.microsoft.com/office/drawing/2014/main" val="2593972206"/>
                  </a:ext>
                </a:extLst>
              </a:tr>
            </a:tbl>
          </a:graphicData>
        </a:graphic>
      </p:graphicFrame>
    </p:spTree>
    <p:custDataLst>
      <p:custData r:id="rId1"/>
      <p:custData r:id="rId2"/>
    </p:custDataLst>
    <p:extLst>
      <p:ext uri="{BB962C8B-B14F-4D97-AF65-F5344CB8AC3E}">
        <p14:creationId xmlns:p14="http://schemas.microsoft.com/office/powerpoint/2010/main" val="4130821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CFA5-DA42-D2F2-3C4F-49B8A73B404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5DDCE77-3872-1202-C450-FDFF3263CB6C}"/>
              </a:ext>
            </a:extLst>
          </p:cNvPr>
          <p:cNvSpPr>
            <a:spLocks noGrp="1"/>
          </p:cNvSpPr>
          <p:nvPr>
            <p:ph type="title"/>
          </p:nvPr>
        </p:nvSpPr>
        <p:spPr>
          <a:xfrm>
            <a:off x="315913" y="228627"/>
            <a:ext cx="11556000" cy="1184149"/>
          </a:xfrm>
        </p:spPr>
        <p:txBody>
          <a:bodyPr wrap="square" anchor="t">
            <a:normAutofit/>
          </a:bodyPr>
          <a:lstStyle/>
          <a:p>
            <a:pPr lvl="0"/>
            <a:r>
              <a:rPr lang="en-GB" b="1" dirty="0" err="1"/>
              <a:t>Hvad</a:t>
            </a:r>
            <a:r>
              <a:rPr lang="en-GB" b="1" dirty="0"/>
              <a:t> er MET-</a:t>
            </a:r>
            <a:r>
              <a:rPr lang="en-GB" b="1" dirty="0" err="1"/>
              <a:t>minutter</a:t>
            </a:r>
            <a:r>
              <a:rPr lang="en-GB" b="1" dirty="0"/>
              <a:t>?</a:t>
            </a:r>
            <a:endParaRPr lang="en-GB" sz="2700" b="0" dirty="0"/>
          </a:p>
        </p:txBody>
      </p:sp>
      <p:sp>
        <p:nvSpPr>
          <p:cNvPr id="2" name="Date Placeholder 1">
            <a:extLst>
              <a:ext uri="{FF2B5EF4-FFF2-40B4-BE49-F238E27FC236}">
                <a16:creationId xmlns:a16="http://schemas.microsoft.com/office/drawing/2014/main" id="{84A63B02-94FE-4D57-BB5A-6EA572536799}"/>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26/02/2026</a:t>
            </a:fld>
            <a:endParaRPr lang="en-GB" noProof="0"/>
          </a:p>
        </p:txBody>
      </p:sp>
      <p:sp>
        <p:nvSpPr>
          <p:cNvPr id="6" name="Tekstfelt 5">
            <a:extLst>
              <a:ext uri="{FF2B5EF4-FFF2-40B4-BE49-F238E27FC236}">
                <a16:creationId xmlns:a16="http://schemas.microsoft.com/office/drawing/2014/main" id="{C679B9F3-8AA7-9CD5-4062-BF5AB73260E3}"/>
              </a:ext>
            </a:extLst>
          </p:cNvPr>
          <p:cNvSpPr txBox="1"/>
          <p:nvPr/>
        </p:nvSpPr>
        <p:spPr>
          <a:xfrm>
            <a:off x="765820" y="1306019"/>
            <a:ext cx="7848872" cy="645561"/>
          </a:xfrm>
          <a:prstGeom prst="rect">
            <a:avLst/>
          </a:prstGeom>
          <a:noFill/>
        </p:spPr>
        <p:txBody>
          <a:bodyPr wrap="square">
            <a:spAutoFit/>
          </a:bodyPr>
          <a:lstStyle/>
          <a:p>
            <a:r>
              <a:rPr lang="da-DK" sz="3200" dirty="0"/>
              <a:t>MET-minutter = intensitet × varighed</a:t>
            </a:r>
          </a:p>
        </p:txBody>
      </p:sp>
      <p:sp>
        <p:nvSpPr>
          <p:cNvPr id="8" name="Tekstfelt 7">
            <a:extLst>
              <a:ext uri="{FF2B5EF4-FFF2-40B4-BE49-F238E27FC236}">
                <a16:creationId xmlns:a16="http://schemas.microsoft.com/office/drawing/2014/main" id="{389F05D8-63B4-98AD-7259-B0F3872A745B}"/>
              </a:ext>
            </a:extLst>
          </p:cNvPr>
          <p:cNvSpPr txBox="1"/>
          <p:nvPr/>
        </p:nvSpPr>
        <p:spPr>
          <a:xfrm>
            <a:off x="909836" y="2490168"/>
            <a:ext cx="4019464" cy="1848648"/>
          </a:xfrm>
          <a:prstGeom prst="rect">
            <a:avLst/>
          </a:prstGeom>
          <a:noFill/>
        </p:spPr>
        <p:txBody>
          <a:bodyPr wrap="square">
            <a:spAutoFit/>
          </a:bodyPr>
          <a:lstStyle/>
          <a:p>
            <a:pPr>
              <a:buNone/>
            </a:pPr>
            <a:r>
              <a:rPr lang="da-DK" sz="2000" dirty="0"/>
              <a:t>30 minutters </a:t>
            </a:r>
            <a:r>
              <a:rPr lang="da-DK" sz="2000" b="1" dirty="0"/>
              <a:t>rask gang</a:t>
            </a:r>
            <a:r>
              <a:rPr lang="da-DK" sz="2000" dirty="0"/>
              <a:t> (4 MET)</a:t>
            </a:r>
            <a:br>
              <a:rPr lang="da-DK" sz="2000" dirty="0"/>
            </a:br>
            <a:r>
              <a:rPr lang="da-DK" sz="2000" dirty="0"/>
              <a:t>= 4 × 30</a:t>
            </a:r>
            <a:br>
              <a:rPr lang="da-DK" sz="2000" dirty="0"/>
            </a:br>
            <a:r>
              <a:rPr lang="da-DK" sz="2000" dirty="0"/>
              <a:t>= </a:t>
            </a:r>
            <a:r>
              <a:rPr lang="da-DK" sz="2000" b="1" dirty="0"/>
              <a:t>120 MET-minutter</a:t>
            </a:r>
            <a:endParaRPr lang="da-DK" sz="2000" dirty="0"/>
          </a:p>
        </p:txBody>
      </p:sp>
      <p:sp>
        <p:nvSpPr>
          <p:cNvPr id="4" name="Tekstfelt 3">
            <a:extLst>
              <a:ext uri="{FF2B5EF4-FFF2-40B4-BE49-F238E27FC236}">
                <a16:creationId xmlns:a16="http://schemas.microsoft.com/office/drawing/2014/main" id="{D482BA3D-A84E-0C56-3008-01D1100BAFDD}"/>
              </a:ext>
            </a:extLst>
          </p:cNvPr>
          <p:cNvSpPr txBox="1"/>
          <p:nvPr/>
        </p:nvSpPr>
        <p:spPr>
          <a:xfrm>
            <a:off x="6093913" y="2484343"/>
            <a:ext cx="4019464" cy="1848648"/>
          </a:xfrm>
          <a:prstGeom prst="rect">
            <a:avLst/>
          </a:prstGeom>
          <a:noFill/>
        </p:spPr>
        <p:txBody>
          <a:bodyPr wrap="square">
            <a:spAutoFit/>
          </a:bodyPr>
          <a:lstStyle/>
          <a:p>
            <a:pPr>
              <a:buNone/>
            </a:pPr>
            <a:r>
              <a:rPr lang="da-DK" sz="2000" dirty="0"/>
              <a:t>10 minutters </a:t>
            </a:r>
            <a:r>
              <a:rPr lang="da-DK" sz="2000" b="1" dirty="0"/>
              <a:t>crossfit</a:t>
            </a:r>
            <a:r>
              <a:rPr lang="da-DK" sz="2000" dirty="0"/>
              <a:t> (12 MET)</a:t>
            </a:r>
            <a:br>
              <a:rPr lang="da-DK" sz="2000" dirty="0"/>
            </a:br>
            <a:r>
              <a:rPr lang="da-DK" sz="2000" dirty="0"/>
              <a:t>= 12 × 10</a:t>
            </a:r>
            <a:br>
              <a:rPr lang="da-DK" sz="2000" dirty="0"/>
            </a:br>
            <a:r>
              <a:rPr lang="da-DK" sz="2000" dirty="0"/>
              <a:t>= </a:t>
            </a:r>
            <a:r>
              <a:rPr lang="da-DK" sz="2000" b="1" dirty="0"/>
              <a:t>120 MET-minutter</a:t>
            </a:r>
            <a:endParaRPr lang="da-DK" sz="2000" dirty="0"/>
          </a:p>
        </p:txBody>
      </p:sp>
    </p:spTree>
    <p:custDataLst>
      <p:custData r:id="rId1"/>
      <p:custData r:id="rId2"/>
    </p:custDataLst>
    <p:extLst>
      <p:ext uri="{BB962C8B-B14F-4D97-AF65-F5344CB8AC3E}">
        <p14:creationId xmlns:p14="http://schemas.microsoft.com/office/powerpoint/2010/main" val="2985798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FE1A2-3A2C-28A9-46AB-AB1ADBF7397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CA24CB3-3238-C3FF-B865-1A35E958FC4C}"/>
              </a:ext>
            </a:extLst>
          </p:cNvPr>
          <p:cNvSpPr>
            <a:spLocks noGrp="1"/>
          </p:cNvSpPr>
          <p:nvPr>
            <p:ph type="title"/>
          </p:nvPr>
        </p:nvSpPr>
        <p:spPr>
          <a:xfrm>
            <a:off x="315913" y="228627"/>
            <a:ext cx="11556000" cy="752101"/>
          </a:xfrm>
        </p:spPr>
        <p:txBody>
          <a:bodyPr wrap="square" anchor="t">
            <a:normAutofit/>
          </a:bodyPr>
          <a:lstStyle/>
          <a:p>
            <a:pPr lvl="0"/>
            <a:r>
              <a:rPr lang="en-GB" b="1" dirty="0" err="1"/>
              <a:t>Hvorfor</a:t>
            </a:r>
            <a:r>
              <a:rPr lang="en-GB" b="1" dirty="0"/>
              <a:t> </a:t>
            </a:r>
            <a:r>
              <a:rPr lang="en-GB" b="1" dirty="0" err="1"/>
              <a:t>bruger</a:t>
            </a:r>
            <a:r>
              <a:rPr lang="en-GB" b="1" dirty="0"/>
              <a:t> vi MET-</a:t>
            </a:r>
            <a:r>
              <a:rPr lang="en-GB" b="1" dirty="0" err="1"/>
              <a:t>minutter</a:t>
            </a:r>
            <a:r>
              <a:rPr lang="en-GB" b="1" dirty="0"/>
              <a:t>?</a:t>
            </a:r>
            <a:endParaRPr lang="en-GB" b="0" dirty="0"/>
          </a:p>
        </p:txBody>
      </p:sp>
      <p:sp>
        <p:nvSpPr>
          <p:cNvPr id="2" name="Date Placeholder 1">
            <a:extLst>
              <a:ext uri="{FF2B5EF4-FFF2-40B4-BE49-F238E27FC236}">
                <a16:creationId xmlns:a16="http://schemas.microsoft.com/office/drawing/2014/main" id="{286B6EF6-8332-D00E-05BB-305E4EC0C81D}"/>
              </a:ext>
            </a:extLst>
          </p:cNvPr>
          <p:cNvSpPr>
            <a:spLocks noGrp="1"/>
          </p:cNvSpPr>
          <p:nvPr>
            <p:ph type="dt" sz="half" idx="4294967295"/>
          </p:nvPr>
        </p:nvSpPr>
        <p:spPr>
          <a:xfrm>
            <a:off x="0" y="6858000"/>
            <a:ext cx="0" cy="0"/>
          </a:xfrm>
        </p:spPr>
        <p:txBody>
          <a:bodyPr/>
          <a:lstStyle/>
          <a:p>
            <a:pPr>
              <a:spcAft>
                <a:spcPts val="600"/>
              </a:spcAft>
            </a:pPr>
            <a:fld id="{EBD85B7D-E9A5-49E0-8ACF-AF93CE3E556F}" type="datetime1">
              <a:rPr lang="en-GB" noProof="0" smtClean="0"/>
              <a:pPr>
                <a:spcAft>
                  <a:spcPts val="600"/>
                </a:spcAft>
              </a:pPr>
              <a:t>26/02/2026</a:t>
            </a:fld>
            <a:endParaRPr lang="en-GB" noProof="0"/>
          </a:p>
        </p:txBody>
      </p:sp>
      <p:graphicFrame>
        <p:nvGraphicFramePr>
          <p:cNvPr id="4" name="Tabel 3">
            <a:extLst>
              <a:ext uri="{FF2B5EF4-FFF2-40B4-BE49-F238E27FC236}">
                <a16:creationId xmlns:a16="http://schemas.microsoft.com/office/drawing/2014/main" id="{7E76EE97-9C1A-9938-89E5-9F0F1F381B4B}"/>
              </a:ext>
            </a:extLst>
          </p:cNvPr>
          <p:cNvGraphicFramePr>
            <a:graphicFrameLocks noGrp="1"/>
          </p:cNvGraphicFramePr>
          <p:nvPr>
            <p:extLst>
              <p:ext uri="{D42A27DB-BD31-4B8C-83A1-F6EECF244321}">
                <p14:modId xmlns:p14="http://schemas.microsoft.com/office/powerpoint/2010/main" val="4112534057"/>
              </p:ext>
            </p:extLst>
          </p:nvPr>
        </p:nvGraphicFramePr>
        <p:xfrm>
          <a:off x="985838" y="1854653"/>
          <a:ext cx="10220327" cy="3558102"/>
        </p:xfrm>
        <a:graphic>
          <a:graphicData uri="http://schemas.openxmlformats.org/drawingml/2006/table">
            <a:tbl>
              <a:tblPr firstRow="1" bandRow="1">
                <a:tableStyleId>{72833802-FEF1-4C79-8D5D-14CF1EAF98D9}</a:tableStyleId>
              </a:tblPr>
              <a:tblGrid>
                <a:gridCol w="2586562">
                  <a:extLst>
                    <a:ext uri="{9D8B030D-6E8A-4147-A177-3AD203B41FA5}">
                      <a16:colId xmlns:a16="http://schemas.microsoft.com/office/drawing/2014/main" val="1091688422"/>
                    </a:ext>
                  </a:extLst>
                </a:gridCol>
                <a:gridCol w="1804901">
                  <a:extLst>
                    <a:ext uri="{9D8B030D-6E8A-4147-A177-3AD203B41FA5}">
                      <a16:colId xmlns:a16="http://schemas.microsoft.com/office/drawing/2014/main" val="3459822242"/>
                    </a:ext>
                  </a:extLst>
                </a:gridCol>
                <a:gridCol w="2729114">
                  <a:extLst>
                    <a:ext uri="{9D8B030D-6E8A-4147-A177-3AD203B41FA5}">
                      <a16:colId xmlns:a16="http://schemas.microsoft.com/office/drawing/2014/main" val="966677869"/>
                    </a:ext>
                  </a:extLst>
                </a:gridCol>
                <a:gridCol w="3099750">
                  <a:extLst>
                    <a:ext uri="{9D8B030D-6E8A-4147-A177-3AD203B41FA5}">
                      <a16:colId xmlns:a16="http://schemas.microsoft.com/office/drawing/2014/main" val="2959726506"/>
                    </a:ext>
                  </a:extLst>
                </a:gridCol>
              </a:tblGrid>
              <a:tr h="967074">
                <a:tc>
                  <a:txBody>
                    <a:bodyPr/>
                    <a:lstStyle/>
                    <a:p>
                      <a:pPr>
                        <a:buNone/>
                      </a:pPr>
                      <a:r>
                        <a:rPr lang="da-DK" sz="2100" b="0" cap="none" spc="0" dirty="0">
                          <a:solidFill>
                            <a:schemeClr val="bg1"/>
                          </a:solidFill>
                        </a:rPr>
                        <a:t>Aktivitet</a:t>
                      </a:r>
                    </a:p>
                  </a:txBody>
                  <a:tcPr marL="177905" marR="136850" marT="136850" marB="136850" anchor="ctr">
                    <a:solidFill>
                      <a:schemeClr val="accent1"/>
                    </a:solidFill>
                  </a:tcPr>
                </a:tc>
                <a:tc>
                  <a:txBody>
                    <a:bodyPr/>
                    <a:lstStyle/>
                    <a:p>
                      <a:pPr>
                        <a:buNone/>
                      </a:pPr>
                      <a:r>
                        <a:rPr lang="da-DK" sz="2100" b="0" cap="none" spc="0" dirty="0">
                          <a:solidFill>
                            <a:schemeClr val="bg1"/>
                          </a:solidFill>
                        </a:rPr>
                        <a:t>MET-værdi</a:t>
                      </a:r>
                    </a:p>
                  </a:txBody>
                  <a:tcPr marL="177905" marR="136850" marT="136850" marB="136850" anchor="ctr">
                    <a:solidFill>
                      <a:schemeClr val="accent1"/>
                    </a:solidFill>
                  </a:tcPr>
                </a:tc>
                <a:tc>
                  <a:txBody>
                    <a:bodyPr/>
                    <a:lstStyle/>
                    <a:p>
                      <a:pPr>
                        <a:buNone/>
                      </a:pPr>
                      <a:r>
                        <a:rPr lang="da-DK" sz="2100" b="0" cap="none" spc="0" dirty="0">
                          <a:solidFill>
                            <a:schemeClr val="bg1"/>
                          </a:solidFill>
                        </a:rPr>
                        <a:t>Min./uge for at nå 1100 MET-min</a:t>
                      </a:r>
                    </a:p>
                  </a:txBody>
                  <a:tcPr marL="177905" marR="136850" marT="136850" marB="136850" anchor="ctr">
                    <a:solidFill>
                      <a:schemeClr val="accent1"/>
                    </a:solidFill>
                  </a:tcPr>
                </a:tc>
                <a:tc>
                  <a:txBody>
                    <a:bodyPr/>
                    <a:lstStyle/>
                    <a:p>
                      <a:pPr>
                        <a:buNone/>
                      </a:pPr>
                      <a:r>
                        <a:rPr lang="da-DK" sz="2100" b="0" cap="none" spc="0" dirty="0">
                          <a:solidFill>
                            <a:schemeClr val="bg1"/>
                          </a:solidFill>
                        </a:rPr>
                        <a:t>Min./dag (5 dage/uge)</a:t>
                      </a:r>
                    </a:p>
                  </a:txBody>
                  <a:tcPr marL="177905" marR="136850" marT="136850" marB="136850" anchor="ctr">
                    <a:solidFill>
                      <a:schemeClr val="accent1"/>
                    </a:solidFill>
                  </a:tcPr>
                </a:tc>
                <a:extLst>
                  <a:ext uri="{0D108BD9-81ED-4DB2-BD59-A6C34878D82A}">
                    <a16:rowId xmlns:a16="http://schemas.microsoft.com/office/drawing/2014/main" val="2204182193"/>
                  </a:ext>
                </a:extLst>
              </a:tr>
              <a:tr h="647757">
                <a:tc>
                  <a:txBody>
                    <a:bodyPr/>
                    <a:lstStyle/>
                    <a:p>
                      <a:pPr>
                        <a:buNone/>
                      </a:pPr>
                      <a:r>
                        <a:rPr lang="da-DK" sz="2100" cap="none" spc="0">
                          <a:solidFill>
                            <a:schemeClr val="tx1"/>
                          </a:solidFill>
                        </a:rPr>
                        <a:t>Rask gang</a:t>
                      </a:r>
                    </a:p>
                  </a:txBody>
                  <a:tcPr marL="177905" marR="136850" marT="136850" marB="136850" anchor="ctr"/>
                </a:tc>
                <a:tc>
                  <a:txBody>
                    <a:bodyPr/>
                    <a:lstStyle/>
                    <a:p>
                      <a:pPr>
                        <a:buNone/>
                      </a:pPr>
                      <a:r>
                        <a:rPr lang="da-DK" sz="2100" cap="none" spc="0">
                          <a:solidFill>
                            <a:schemeClr val="tx1"/>
                          </a:solidFill>
                        </a:rPr>
                        <a:t>4</a:t>
                      </a:r>
                    </a:p>
                  </a:txBody>
                  <a:tcPr marL="177905" marR="136850" marT="136850" marB="136850" anchor="ctr"/>
                </a:tc>
                <a:tc>
                  <a:txBody>
                    <a:bodyPr/>
                    <a:lstStyle/>
                    <a:p>
                      <a:pPr>
                        <a:buNone/>
                      </a:pPr>
                      <a:r>
                        <a:rPr lang="da-DK" sz="2100" cap="none" spc="0" dirty="0">
                          <a:solidFill>
                            <a:schemeClr val="tx1"/>
                          </a:solidFill>
                        </a:rPr>
                        <a:t>275 min</a:t>
                      </a:r>
                    </a:p>
                  </a:txBody>
                  <a:tcPr marL="177905" marR="136850" marT="136850" marB="136850" anchor="ctr"/>
                </a:tc>
                <a:tc>
                  <a:txBody>
                    <a:bodyPr/>
                    <a:lstStyle/>
                    <a:p>
                      <a:pPr>
                        <a:buNone/>
                      </a:pPr>
                      <a:r>
                        <a:rPr lang="da-DK" sz="2100" cap="none" spc="0" dirty="0">
                          <a:solidFill>
                            <a:schemeClr val="tx1"/>
                          </a:solidFill>
                        </a:rPr>
                        <a:t>55 min</a:t>
                      </a:r>
                    </a:p>
                  </a:txBody>
                  <a:tcPr marL="177905" marR="136850" marT="136850" marB="136850" anchor="ctr"/>
                </a:tc>
                <a:extLst>
                  <a:ext uri="{0D108BD9-81ED-4DB2-BD59-A6C34878D82A}">
                    <a16:rowId xmlns:a16="http://schemas.microsoft.com/office/drawing/2014/main" val="2330293376"/>
                  </a:ext>
                </a:extLst>
              </a:tr>
              <a:tr h="647757">
                <a:tc>
                  <a:txBody>
                    <a:bodyPr/>
                    <a:lstStyle/>
                    <a:p>
                      <a:pPr>
                        <a:buNone/>
                      </a:pPr>
                      <a:r>
                        <a:rPr lang="da-DK" sz="2100" cap="none" spc="0" dirty="0">
                          <a:solidFill>
                            <a:schemeClr val="tx1"/>
                          </a:solidFill>
                        </a:rPr>
                        <a:t>Moderat cykling</a:t>
                      </a:r>
                    </a:p>
                  </a:txBody>
                  <a:tcPr marL="177905" marR="136850" marT="136850" marB="136850" anchor="ctr"/>
                </a:tc>
                <a:tc>
                  <a:txBody>
                    <a:bodyPr/>
                    <a:lstStyle/>
                    <a:p>
                      <a:pPr>
                        <a:buNone/>
                      </a:pPr>
                      <a:r>
                        <a:rPr lang="da-DK" sz="2100" cap="none" spc="0" dirty="0">
                          <a:solidFill>
                            <a:schemeClr val="tx1"/>
                          </a:solidFill>
                        </a:rPr>
                        <a:t>6</a:t>
                      </a:r>
                    </a:p>
                  </a:txBody>
                  <a:tcPr marL="177905" marR="136850" marT="136850" marB="136850" anchor="ctr"/>
                </a:tc>
                <a:tc>
                  <a:txBody>
                    <a:bodyPr/>
                    <a:lstStyle/>
                    <a:p>
                      <a:pPr>
                        <a:buNone/>
                      </a:pPr>
                      <a:r>
                        <a:rPr lang="da-DK" sz="2100" cap="none" spc="0" dirty="0">
                          <a:solidFill>
                            <a:schemeClr val="tx1"/>
                          </a:solidFill>
                        </a:rPr>
                        <a:t>183 min</a:t>
                      </a:r>
                    </a:p>
                  </a:txBody>
                  <a:tcPr marL="177905" marR="136850" marT="136850" marB="136850" anchor="ctr"/>
                </a:tc>
                <a:tc>
                  <a:txBody>
                    <a:bodyPr/>
                    <a:lstStyle/>
                    <a:p>
                      <a:pPr>
                        <a:buNone/>
                      </a:pPr>
                      <a:r>
                        <a:rPr lang="da-DK" sz="2100" cap="none" spc="0" dirty="0">
                          <a:solidFill>
                            <a:schemeClr val="tx1"/>
                          </a:solidFill>
                        </a:rPr>
                        <a:t>36 min</a:t>
                      </a:r>
                    </a:p>
                  </a:txBody>
                  <a:tcPr marL="177905" marR="136850" marT="136850" marB="136850" anchor="ctr"/>
                </a:tc>
                <a:extLst>
                  <a:ext uri="{0D108BD9-81ED-4DB2-BD59-A6C34878D82A}">
                    <a16:rowId xmlns:a16="http://schemas.microsoft.com/office/drawing/2014/main" val="2288630926"/>
                  </a:ext>
                </a:extLst>
              </a:tr>
              <a:tr h="647757">
                <a:tc>
                  <a:txBody>
                    <a:bodyPr/>
                    <a:lstStyle/>
                    <a:p>
                      <a:pPr>
                        <a:buNone/>
                      </a:pPr>
                      <a:r>
                        <a:rPr lang="da-DK" sz="2100" cap="none" spc="0">
                          <a:solidFill>
                            <a:schemeClr val="tx1"/>
                          </a:solidFill>
                        </a:rPr>
                        <a:t>Løb</a:t>
                      </a:r>
                    </a:p>
                  </a:txBody>
                  <a:tcPr marL="177905" marR="136850" marT="136850" marB="136850" anchor="ctr"/>
                </a:tc>
                <a:tc>
                  <a:txBody>
                    <a:bodyPr/>
                    <a:lstStyle/>
                    <a:p>
                      <a:pPr>
                        <a:buNone/>
                      </a:pPr>
                      <a:r>
                        <a:rPr lang="da-DK" sz="2100" cap="none" spc="0">
                          <a:solidFill>
                            <a:schemeClr val="tx1"/>
                          </a:solidFill>
                        </a:rPr>
                        <a:t>8</a:t>
                      </a:r>
                    </a:p>
                  </a:txBody>
                  <a:tcPr marL="177905" marR="136850" marT="136850" marB="136850" anchor="ctr"/>
                </a:tc>
                <a:tc>
                  <a:txBody>
                    <a:bodyPr/>
                    <a:lstStyle/>
                    <a:p>
                      <a:pPr>
                        <a:buNone/>
                      </a:pPr>
                      <a:r>
                        <a:rPr lang="da-DK" sz="2100" cap="none" spc="0" dirty="0">
                          <a:solidFill>
                            <a:schemeClr val="tx1"/>
                          </a:solidFill>
                        </a:rPr>
                        <a:t>138 min</a:t>
                      </a:r>
                    </a:p>
                  </a:txBody>
                  <a:tcPr marL="177905" marR="136850" marT="136850" marB="136850" anchor="ctr"/>
                </a:tc>
                <a:tc>
                  <a:txBody>
                    <a:bodyPr/>
                    <a:lstStyle/>
                    <a:p>
                      <a:pPr>
                        <a:buNone/>
                      </a:pPr>
                      <a:r>
                        <a:rPr lang="da-DK" sz="2100" cap="none" spc="0" dirty="0">
                          <a:solidFill>
                            <a:schemeClr val="tx1"/>
                          </a:solidFill>
                        </a:rPr>
                        <a:t>27 min</a:t>
                      </a:r>
                    </a:p>
                  </a:txBody>
                  <a:tcPr marL="177905" marR="136850" marT="136850" marB="136850" anchor="ctr"/>
                </a:tc>
                <a:extLst>
                  <a:ext uri="{0D108BD9-81ED-4DB2-BD59-A6C34878D82A}">
                    <a16:rowId xmlns:a16="http://schemas.microsoft.com/office/drawing/2014/main" val="2210782261"/>
                  </a:ext>
                </a:extLst>
              </a:tr>
              <a:tr h="647757">
                <a:tc>
                  <a:txBody>
                    <a:bodyPr/>
                    <a:lstStyle/>
                    <a:p>
                      <a:pPr>
                        <a:buNone/>
                      </a:pPr>
                      <a:r>
                        <a:rPr lang="da-DK" sz="2100" cap="none" spc="0">
                          <a:solidFill>
                            <a:schemeClr val="tx1"/>
                          </a:solidFill>
                        </a:rPr>
                        <a:t>Højintens træning</a:t>
                      </a:r>
                    </a:p>
                  </a:txBody>
                  <a:tcPr marL="177905" marR="136850" marT="136850" marB="136850" anchor="ctr"/>
                </a:tc>
                <a:tc>
                  <a:txBody>
                    <a:bodyPr/>
                    <a:lstStyle/>
                    <a:p>
                      <a:pPr>
                        <a:buNone/>
                      </a:pPr>
                      <a:r>
                        <a:rPr lang="da-DK" sz="2100" cap="none" spc="0" dirty="0">
                          <a:solidFill>
                            <a:schemeClr val="tx1"/>
                          </a:solidFill>
                        </a:rPr>
                        <a:t>12</a:t>
                      </a:r>
                    </a:p>
                  </a:txBody>
                  <a:tcPr marL="177905" marR="136850" marT="136850" marB="136850" anchor="ctr"/>
                </a:tc>
                <a:tc>
                  <a:txBody>
                    <a:bodyPr/>
                    <a:lstStyle/>
                    <a:p>
                      <a:pPr>
                        <a:buNone/>
                      </a:pPr>
                      <a:r>
                        <a:rPr lang="da-DK" sz="2100" cap="none" spc="0" dirty="0">
                          <a:solidFill>
                            <a:schemeClr val="tx1"/>
                          </a:solidFill>
                        </a:rPr>
                        <a:t>92 min</a:t>
                      </a:r>
                    </a:p>
                  </a:txBody>
                  <a:tcPr marL="177905" marR="136850" marT="136850" marB="136850" anchor="ctr"/>
                </a:tc>
                <a:tc>
                  <a:txBody>
                    <a:bodyPr/>
                    <a:lstStyle/>
                    <a:p>
                      <a:pPr>
                        <a:buNone/>
                      </a:pPr>
                      <a:r>
                        <a:rPr lang="da-DK" sz="2100" cap="none" spc="0" dirty="0">
                          <a:solidFill>
                            <a:schemeClr val="tx1"/>
                          </a:solidFill>
                        </a:rPr>
                        <a:t>18 min</a:t>
                      </a:r>
                    </a:p>
                  </a:txBody>
                  <a:tcPr marL="177905" marR="136850" marT="136850" marB="136850" anchor="ctr"/>
                </a:tc>
                <a:extLst>
                  <a:ext uri="{0D108BD9-81ED-4DB2-BD59-A6C34878D82A}">
                    <a16:rowId xmlns:a16="http://schemas.microsoft.com/office/drawing/2014/main" val="2661286029"/>
                  </a:ext>
                </a:extLst>
              </a:tr>
            </a:tbl>
          </a:graphicData>
        </a:graphic>
      </p:graphicFrame>
    </p:spTree>
    <p:custDataLst>
      <p:custData r:id="rId1"/>
      <p:custData r:id="rId2"/>
    </p:custDataLst>
    <p:extLst>
      <p:ext uri="{BB962C8B-B14F-4D97-AF65-F5344CB8AC3E}">
        <p14:creationId xmlns:p14="http://schemas.microsoft.com/office/powerpoint/2010/main" val="2747268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ladsholder til indhold 2" descr="Et billede, der indeholder linje/række, design&#10;&#10;AI-genereret indhold kan være ukorrekt.">
            <a:extLst>
              <a:ext uri="{FF2B5EF4-FFF2-40B4-BE49-F238E27FC236}">
                <a16:creationId xmlns:a16="http://schemas.microsoft.com/office/drawing/2014/main" id="{0EE9451A-DCCF-F984-4E99-4F4D9E49619E}"/>
              </a:ext>
            </a:extLst>
          </p:cNvPr>
          <p:cNvPicPr>
            <a:picLocks noGrp="1" noChangeAspect="1"/>
          </p:cNvPicPr>
          <p:nvPr>
            <p:ph idx="1"/>
          </p:nvPr>
        </p:nvPicPr>
        <p:blipFill>
          <a:blip r:embed="rId6" cstate="print">
            <a:extLst>
              <a:ext uri="{28A0092B-C50C-407E-A947-70E740481C1C}">
                <a14:useLocalDpi xmlns:a14="http://schemas.microsoft.com/office/drawing/2010/main" val="0"/>
              </a:ext>
            </a:extLst>
          </a:blip>
          <a:stretch>
            <a:fillRect/>
          </a:stretch>
        </p:blipFill>
        <p:spPr>
          <a:xfrm>
            <a:off x="405780" y="1124744"/>
            <a:ext cx="7306505" cy="4811334"/>
          </a:xfrm>
        </p:spPr>
      </p:pic>
      <p:pic>
        <p:nvPicPr>
          <p:cNvPr id="7" name="Billede 6">
            <a:extLst>
              <a:ext uri="{FF2B5EF4-FFF2-40B4-BE49-F238E27FC236}">
                <a16:creationId xmlns:a16="http://schemas.microsoft.com/office/drawing/2014/main" id="{7CF0FBA4-B8FC-7E4B-BEDA-0E803113D79E}"/>
              </a:ext>
            </a:extLst>
          </p:cNvPr>
          <p:cNvPicPr>
            <a:picLocks noChangeAspect="1"/>
          </p:cNvPicPr>
          <p:nvPr/>
        </p:nvPicPr>
        <p:blipFill>
          <a:blip r:embed="rId7"/>
          <a:stretch>
            <a:fillRect/>
          </a:stretch>
        </p:blipFill>
        <p:spPr>
          <a:xfrm>
            <a:off x="6798616" y="263825"/>
            <a:ext cx="5178639" cy="994911"/>
          </a:xfrm>
          <a:prstGeom prst="rect">
            <a:avLst/>
          </a:prstGeom>
        </p:spPr>
      </p:pic>
      <p:sp>
        <p:nvSpPr>
          <p:cNvPr id="8" name="Pil: højre 7">
            <a:extLst>
              <a:ext uri="{FF2B5EF4-FFF2-40B4-BE49-F238E27FC236}">
                <a16:creationId xmlns:a16="http://schemas.microsoft.com/office/drawing/2014/main" id="{CE389BC3-4F94-A8CD-EA0E-EDCC1CB0B431}"/>
              </a:ext>
            </a:extLst>
          </p:cNvPr>
          <p:cNvSpPr/>
          <p:nvPr/>
        </p:nvSpPr>
        <p:spPr bwMode="auto">
          <a:xfrm flipH="1">
            <a:off x="3220834" y="5010502"/>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kumimoji="0" lang="da-DK" sz="1200" b="0" i="0" u="none" strike="noStrike" cap="none" normalizeH="0" baseline="0" dirty="0">
                <a:ln>
                  <a:noFill/>
                </a:ln>
                <a:solidFill>
                  <a:schemeClr val="bg1"/>
                </a:solidFill>
                <a:effectLst/>
                <a:latin typeface="AU Passata" pitchFamily="34" charset="0"/>
              </a:rPr>
              <a:t>65 mmol/mol = 150 MET-min</a:t>
            </a:r>
            <a:br>
              <a:rPr lang="da-DK" sz="1200" dirty="0">
                <a:solidFill>
                  <a:schemeClr val="bg1"/>
                </a:solidFill>
                <a:latin typeface="AU Passata" pitchFamily="34" charset="0"/>
              </a:rPr>
            </a:br>
            <a:r>
              <a:rPr lang="da-DK" sz="1200" dirty="0">
                <a:solidFill>
                  <a:schemeClr val="bg1"/>
                </a:solidFill>
                <a:latin typeface="AU Passata" pitchFamily="34" charset="0"/>
              </a:rPr>
              <a:t>70 mmol/mol = 810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9" name="Ellipse 8">
            <a:extLst>
              <a:ext uri="{FF2B5EF4-FFF2-40B4-BE49-F238E27FC236}">
                <a16:creationId xmlns:a16="http://schemas.microsoft.com/office/drawing/2014/main" id="{849546B4-605D-562F-087B-8C9CD58D6F87}"/>
              </a:ext>
            </a:extLst>
          </p:cNvPr>
          <p:cNvSpPr/>
          <p:nvPr/>
        </p:nvSpPr>
        <p:spPr bwMode="auto">
          <a:xfrm>
            <a:off x="2349996" y="2276872"/>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0" name="Ellipse 9">
            <a:extLst>
              <a:ext uri="{FF2B5EF4-FFF2-40B4-BE49-F238E27FC236}">
                <a16:creationId xmlns:a16="http://schemas.microsoft.com/office/drawing/2014/main" id="{876C11D9-60D3-AA57-F62D-964E4FB94D43}"/>
              </a:ext>
            </a:extLst>
          </p:cNvPr>
          <p:cNvSpPr/>
          <p:nvPr/>
        </p:nvSpPr>
        <p:spPr bwMode="auto">
          <a:xfrm>
            <a:off x="5878388" y="2276871"/>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1" name="Ellipse 10">
            <a:extLst>
              <a:ext uri="{FF2B5EF4-FFF2-40B4-BE49-F238E27FC236}">
                <a16:creationId xmlns:a16="http://schemas.microsoft.com/office/drawing/2014/main" id="{C9418CB5-9BD6-C542-579A-7D7E98181B71}"/>
              </a:ext>
            </a:extLst>
          </p:cNvPr>
          <p:cNvSpPr/>
          <p:nvPr/>
        </p:nvSpPr>
        <p:spPr bwMode="auto">
          <a:xfrm>
            <a:off x="2350864" y="4549881"/>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2" name="Ellipse 11">
            <a:extLst>
              <a:ext uri="{FF2B5EF4-FFF2-40B4-BE49-F238E27FC236}">
                <a16:creationId xmlns:a16="http://schemas.microsoft.com/office/drawing/2014/main" id="{610A2594-213A-0D16-77C4-6C1CBA6220EA}"/>
              </a:ext>
            </a:extLst>
          </p:cNvPr>
          <p:cNvSpPr/>
          <p:nvPr/>
        </p:nvSpPr>
        <p:spPr bwMode="auto">
          <a:xfrm>
            <a:off x="5917356" y="4439272"/>
            <a:ext cx="648072" cy="1142461"/>
          </a:xfrm>
          <a:prstGeom prst="ellipse">
            <a:avLst/>
          </a:prstGeom>
          <a:noFill/>
          <a:ln w="1778"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13" name="Pil: højre 12">
            <a:extLst>
              <a:ext uri="{FF2B5EF4-FFF2-40B4-BE49-F238E27FC236}">
                <a16:creationId xmlns:a16="http://schemas.microsoft.com/office/drawing/2014/main" id="{8775941F-A822-68D9-D3D3-D9D0BC297432}"/>
              </a:ext>
            </a:extLst>
          </p:cNvPr>
          <p:cNvSpPr/>
          <p:nvPr/>
        </p:nvSpPr>
        <p:spPr bwMode="auto">
          <a:xfrm rot="19860617">
            <a:off x="3084134" y="3043746"/>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200" dirty="0">
                <a:solidFill>
                  <a:schemeClr val="bg1"/>
                </a:solidFill>
                <a:latin typeface="AU Passata" pitchFamily="34" charset="0"/>
              </a:rPr>
              <a:t>54</a:t>
            </a:r>
            <a:r>
              <a:rPr kumimoji="0" lang="da-DK" sz="1200" b="0" i="0" u="none" strike="noStrike" cap="none" normalizeH="0" baseline="0" dirty="0">
                <a:ln>
                  <a:noFill/>
                </a:ln>
                <a:solidFill>
                  <a:schemeClr val="bg1"/>
                </a:solidFill>
                <a:effectLst/>
                <a:latin typeface="AU Passata" pitchFamily="34" charset="0"/>
              </a:rPr>
              <a:t> mmol/mol = 330 MET-min</a:t>
            </a:r>
            <a:br>
              <a:rPr lang="da-DK" sz="1200" dirty="0">
                <a:solidFill>
                  <a:schemeClr val="bg1"/>
                </a:solidFill>
                <a:latin typeface="AU Passata" pitchFamily="34" charset="0"/>
              </a:rPr>
            </a:br>
            <a:r>
              <a:rPr lang="da-DK" sz="1200" dirty="0">
                <a:solidFill>
                  <a:schemeClr val="bg1"/>
                </a:solidFill>
                <a:latin typeface="AU Passata" pitchFamily="34" charset="0"/>
              </a:rPr>
              <a:t>58 mmol/mol = 990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14" name="Pil: højre 13">
            <a:extLst>
              <a:ext uri="{FF2B5EF4-FFF2-40B4-BE49-F238E27FC236}">
                <a16:creationId xmlns:a16="http://schemas.microsoft.com/office/drawing/2014/main" id="{7051C059-E4E8-5072-31F4-00A047AECD71}"/>
              </a:ext>
            </a:extLst>
          </p:cNvPr>
          <p:cNvSpPr/>
          <p:nvPr/>
        </p:nvSpPr>
        <p:spPr bwMode="auto">
          <a:xfrm flipH="1">
            <a:off x="3084134" y="1024371"/>
            <a:ext cx="2474624" cy="994911"/>
          </a:xfrm>
          <a:prstGeom prst="rightArrow">
            <a:avLst/>
          </a:prstGeom>
          <a:solidFill>
            <a:schemeClr val="bg2"/>
          </a:solidFill>
          <a:ln>
            <a:solidFill>
              <a:schemeClr val="tx2"/>
            </a:solidFill>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200" dirty="0">
                <a:solidFill>
                  <a:schemeClr val="bg1"/>
                </a:solidFill>
                <a:latin typeface="AU Passata" pitchFamily="34" charset="0"/>
              </a:rPr>
              <a:t>49</a:t>
            </a:r>
            <a:r>
              <a:rPr kumimoji="0" lang="da-DK" sz="1200" b="0" i="0" u="none" strike="noStrike" cap="none" normalizeH="0" baseline="0" dirty="0">
                <a:ln>
                  <a:noFill/>
                </a:ln>
                <a:solidFill>
                  <a:schemeClr val="bg1"/>
                </a:solidFill>
                <a:effectLst/>
                <a:latin typeface="AU Passata" pitchFamily="34" charset="0"/>
              </a:rPr>
              <a:t> mmol/mol = 570 MET-min</a:t>
            </a:r>
            <a:br>
              <a:rPr lang="da-DK" sz="1200" dirty="0">
                <a:solidFill>
                  <a:schemeClr val="bg1"/>
                </a:solidFill>
                <a:latin typeface="AU Passata" pitchFamily="34" charset="0"/>
              </a:rPr>
            </a:br>
            <a:r>
              <a:rPr lang="da-DK" sz="1200" dirty="0">
                <a:solidFill>
                  <a:schemeClr val="bg1"/>
                </a:solidFill>
                <a:latin typeface="AU Passata" pitchFamily="34" charset="0"/>
              </a:rPr>
              <a:t>51 mmol/mol = 900 MET-min</a:t>
            </a:r>
            <a:endParaRPr kumimoji="0" lang="da-DK" sz="1200" b="0" i="0" u="none" strike="noStrike" cap="none" normalizeH="0" baseline="0" dirty="0">
              <a:ln>
                <a:noFill/>
              </a:ln>
              <a:solidFill>
                <a:schemeClr val="bg1"/>
              </a:solidFill>
              <a:effectLst/>
              <a:latin typeface="AU Passata" pitchFamily="34" charset="0"/>
            </a:endParaRPr>
          </a:p>
        </p:txBody>
      </p:sp>
      <p:sp>
        <p:nvSpPr>
          <p:cNvPr id="15" name="Rektangel 14">
            <a:extLst>
              <a:ext uri="{FF2B5EF4-FFF2-40B4-BE49-F238E27FC236}">
                <a16:creationId xmlns:a16="http://schemas.microsoft.com/office/drawing/2014/main" id="{0753952E-C60F-F7C6-B7D4-793D3D728927}"/>
              </a:ext>
            </a:extLst>
          </p:cNvPr>
          <p:cNvSpPr/>
          <p:nvPr/>
        </p:nvSpPr>
        <p:spPr bwMode="auto">
          <a:xfrm>
            <a:off x="5934520" y="3548360"/>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r" defTabSz="914400" rtl="0" eaLnBrk="1" fontAlgn="base" latinLnBrk="0" hangingPunct="1">
              <a:lnSpc>
                <a:spcPct val="95000"/>
              </a:lnSpc>
              <a:spcBef>
                <a:spcPct val="0"/>
              </a:spcBef>
              <a:spcAft>
                <a:spcPct val="0"/>
              </a:spcAft>
              <a:buClrTx/>
              <a:buSzTx/>
              <a:buFont typeface="AU Passata" pitchFamily="34" charset="0"/>
              <a:buNone/>
              <a:tabLst/>
            </a:pPr>
            <a:r>
              <a:rPr kumimoji="0" lang="da-DK" sz="1400" b="0" i="0" u="none" strike="noStrike" cap="none" normalizeH="0" baseline="0" dirty="0">
                <a:ln>
                  <a:noFill/>
                </a:ln>
                <a:solidFill>
                  <a:schemeClr val="tx1"/>
                </a:solidFill>
                <a:effectLst/>
                <a:latin typeface="AU Passata" pitchFamily="34" charset="0"/>
              </a:rPr>
              <a:t>64-86 mmol/mol</a:t>
            </a:r>
          </a:p>
        </p:txBody>
      </p:sp>
      <p:sp>
        <p:nvSpPr>
          <p:cNvPr id="16" name="Rektangel 15">
            <a:extLst>
              <a:ext uri="{FF2B5EF4-FFF2-40B4-BE49-F238E27FC236}">
                <a16:creationId xmlns:a16="http://schemas.microsoft.com/office/drawing/2014/main" id="{4AC16692-CC69-FE48-4306-F83AD1A59927}"/>
              </a:ext>
            </a:extLst>
          </p:cNvPr>
          <p:cNvSpPr/>
          <p:nvPr/>
        </p:nvSpPr>
        <p:spPr bwMode="auto">
          <a:xfrm>
            <a:off x="693812" y="3547736"/>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400" b="0" i="0" u="none" strike="noStrike" cap="none" normalizeH="0" baseline="0" dirty="0">
                <a:ln>
                  <a:noFill/>
                </a:ln>
                <a:solidFill>
                  <a:schemeClr val="tx1"/>
                </a:solidFill>
                <a:effectLst/>
                <a:latin typeface="AU Passata" pitchFamily="34" charset="0"/>
              </a:rPr>
              <a:t>53-63 mmol/mol</a:t>
            </a:r>
          </a:p>
        </p:txBody>
      </p:sp>
      <p:sp>
        <p:nvSpPr>
          <p:cNvPr id="17" name="Rektangel 16">
            <a:extLst>
              <a:ext uri="{FF2B5EF4-FFF2-40B4-BE49-F238E27FC236}">
                <a16:creationId xmlns:a16="http://schemas.microsoft.com/office/drawing/2014/main" id="{06C83A90-74F7-BE1D-6828-7E8B1D7BEAF0}"/>
              </a:ext>
            </a:extLst>
          </p:cNvPr>
          <p:cNvSpPr/>
          <p:nvPr/>
        </p:nvSpPr>
        <p:spPr bwMode="auto">
          <a:xfrm>
            <a:off x="5917356" y="1323250"/>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r"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latin typeface="AU Passata" pitchFamily="34" charset="0"/>
              </a:rPr>
              <a:t>48-52</a:t>
            </a:r>
            <a:r>
              <a:rPr kumimoji="0" lang="da-DK" sz="1400" b="0" i="0" u="none" strike="noStrike" cap="none" normalizeH="0" baseline="0" dirty="0">
                <a:ln>
                  <a:noFill/>
                </a:ln>
                <a:solidFill>
                  <a:schemeClr val="tx1"/>
                </a:solidFill>
                <a:effectLst/>
                <a:latin typeface="AU Passata" pitchFamily="34" charset="0"/>
              </a:rPr>
              <a:t> mmol/mol</a:t>
            </a:r>
          </a:p>
        </p:txBody>
      </p:sp>
      <p:sp>
        <p:nvSpPr>
          <p:cNvPr id="18" name="Rektangel 17">
            <a:extLst>
              <a:ext uri="{FF2B5EF4-FFF2-40B4-BE49-F238E27FC236}">
                <a16:creationId xmlns:a16="http://schemas.microsoft.com/office/drawing/2014/main" id="{CECAF8AD-79BE-2D1B-9752-4717C63FC19F}"/>
              </a:ext>
            </a:extLst>
          </p:cNvPr>
          <p:cNvSpPr/>
          <p:nvPr/>
        </p:nvSpPr>
        <p:spPr bwMode="auto">
          <a:xfrm>
            <a:off x="693812" y="1319317"/>
            <a:ext cx="1728192" cy="319847"/>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a:lnSpc>
                <a:spcPct val="95000"/>
              </a:lnSpc>
            </a:pPr>
            <a:r>
              <a:rPr lang="da-DK" sz="1400" dirty="0">
                <a:solidFill>
                  <a:schemeClr val="tx1"/>
                </a:solidFill>
                <a:latin typeface="AU Passata" pitchFamily="34" charset="0"/>
              </a:rPr>
              <a:t>39-46 </a:t>
            </a:r>
            <a:r>
              <a:rPr kumimoji="0" lang="da-DK" sz="1400" b="0" i="0" u="none" strike="noStrike" cap="none" normalizeH="0" baseline="0" dirty="0">
                <a:ln>
                  <a:noFill/>
                </a:ln>
                <a:solidFill>
                  <a:schemeClr val="tx1"/>
                </a:solidFill>
                <a:effectLst/>
                <a:latin typeface="AU Passata" pitchFamily="34" charset="0"/>
              </a:rPr>
              <a:t>mmol/mol</a:t>
            </a:r>
          </a:p>
        </p:txBody>
      </p:sp>
      <p:sp>
        <p:nvSpPr>
          <p:cNvPr id="19" name="Rektangel 18">
            <a:extLst>
              <a:ext uri="{FF2B5EF4-FFF2-40B4-BE49-F238E27FC236}">
                <a16:creationId xmlns:a16="http://schemas.microsoft.com/office/drawing/2014/main" id="{9BB21A1A-8F2C-5A09-67C1-87ACE271E026}"/>
              </a:ext>
            </a:extLst>
          </p:cNvPr>
          <p:cNvSpPr/>
          <p:nvPr/>
        </p:nvSpPr>
        <p:spPr bwMode="auto">
          <a:xfrm>
            <a:off x="7868263" y="1772816"/>
            <a:ext cx="4003650" cy="4163262"/>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1" i="0" u="none" strike="noStrike" cap="none" normalizeH="0" baseline="0" dirty="0">
                <a:ln>
                  <a:noFill/>
                </a:ln>
                <a:solidFill>
                  <a:schemeClr val="tx1"/>
                </a:solidFill>
                <a:effectLst/>
              </a:rPr>
              <a:t>Metaanalyse fra 2024</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Samler resultater fra 126 randomiserede studier på i alt 6718</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Optimal dosis: 1.100 MET-minutter ugentligt</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a:lnSpc>
                <a:spcPct val="95000"/>
              </a:lnSpc>
            </a:pPr>
            <a:r>
              <a:rPr lang="da-DK" sz="1400" b="1" dirty="0"/>
              <a:t>Svært ukontrolleret diabetes:</a:t>
            </a:r>
            <a:r>
              <a:rPr lang="da-DK" sz="1400" dirty="0"/>
              <a:t> 1,02 - 0,66%</a:t>
            </a:r>
          </a:p>
          <a:p>
            <a:pPr>
              <a:lnSpc>
                <a:spcPct val="95000"/>
              </a:lnSpc>
            </a:pPr>
            <a:endParaRPr lang="da-DK" sz="1400" b="1" dirty="0"/>
          </a:p>
          <a:p>
            <a:pPr>
              <a:lnSpc>
                <a:spcPct val="95000"/>
              </a:lnSpc>
            </a:pPr>
            <a:r>
              <a:rPr lang="da-DK" sz="1400" b="1" dirty="0"/>
              <a:t>Ukontrolleret diabetes:</a:t>
            </a:r>
            <a:r>
              <a:rPr lang="da-DK" sz="1400" dirty="0"/>
              <a:t> 0,64 - 0,49%</a:t>
            </a:r>
            <a:endParaRPr lang="da-DK" sz="1400" dirty="0">
              <a:solidFill>
                <a:schemeClr val="tx1"/>
              </a:solidFill>
            </a:endParaRPr>
          </a:p>
          <a:p>
            <a:pPr>
              <a:lnSpc>
                <a:spcPct val="95000"/>
              </a:lnSpc>
            </a:pPr>
            <a:endParaRPr lang="da-DK" sz="1400" b="1" dirty="0"/>
          </a:p>
          <a:p>
            <a:pPr>
              <a:lnSpc>
                <a:spcPct val="95000"/>
              </a:lnSpc>
            </a:pPr>
            <a:r>
              <a:rPr lang="da-DK" sz="1400" b="1" dirty="0"/>
              <a:t>Velreguleret diabetes</a:t>
            </a:r>
            <a:r>
              <a:rPr lang="da-DK" sz="1400" dirty="0"/>
              <a:t> 0,47 - 0,40%</a:t>
            </a:r>
          </a:p>
          <a:p>
            <a:pPr>
              <a:lnSpc>
                <a:spcPct val="95000"/>
              </a:lnSpc>
            </a:pPr>
            <a:endParaRPr lang="da-DK" sz="1400" b="1" dirty="0"/>
          </a:p>
          <a:p>
            <a:pPr>
              <a:lnSpc>
                <a:spcPct val="95000"/>
              </a:lnSpc>
            </a:pPr>
            <a:r>
              <a:rPr lang="da-DK" sz="1400" b="1" dirty="0"/>
              <a:t>Prædiabetes</a:t>
            </a:r>
            <a:r>
              <a:rPr lang="da-DK" sz="1400" dirty="0"/>
              <a:t> 0,38 - 0,24%</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p:txBody>
      </p:sp>
      <p:sp>
        <p:nvSpPr>
          <p:cNvPr id="20" name="Rektangel 19">
            <a:extLst>
              <a:ext uri="{FF2B5EF4-FFF2-40B4-BE49-F238E27FC236}">
                <a16:creationId xmlns:a16="http://schemas.microsoft.com/office/drawing/2014/main" id="{6B1ACFE7-63C8-8AE2-C030-527CFC341CC3}"/>
              </a:ext>
            </a:extLst>
          </p:cNvPr>
          <p:cNvSpPr/>
          <p:nvPr/>
        </p:nvSpPr>
        <p:spPr bwMode="auto">
          <a:xfrm>
            <a:off x="7868263" y="1786576"/>
            <a:ext cx="4003650" cy="4163262"/>
          </a:xfrm>
          <a:prstGeom prst="rect">
            <a:avLst/>
          </a:prstGeom>
          <a:ln>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600" b="1" dirty="0">
                <a:solidFill>
                  <a:schemeClr val="tx1"/>
                </a:solidFill>
              </a:rPr>
              <a:t>1% hba1c reduktion </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lang="da-DK" sz="1400" dirty="0">
                <a:solidFill>
                  <a:schemeClr val="tx1"/>
                </a:solidFill>
              </a:rPr>
              <a:t>8% (64 mmol/mol) til 7% (53 mmol/mol)</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lang="da-DK" sz="1400" dirty="0">
                <a:solidFill>
                  <a:schemeClr val="tx1"/>
                </a:solidFill>
              </a:rPr>
              <a:t>35-40% lavere risiko for mikrovaskulære komplikationer</a:t>
            </a: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endParaRPr kumimoji="0" lang="da-DK" sz="1400" b="0" i="0" u="none" strike="noStrike" cap="none" normalizeH="0" baseline="0" dirty="0">
              <a:ln>
                <a:noFill/>
              </a:ln>
              <a:solidFill>
                <a:schemeClr val="tx1"/>
              </a:solidFill>
              <a:effectLst/>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kumimoji="0" lang="da-DK" sz="1400" b="0" i="0" u="none" strike="noStrike" cap="none" normalizeH="0" baseline="0" dirty="0">
                <a:ln>
                  <a:noFill/>
                </a:ln>
                <a:solidFill>
                  <a:schemeClr val="tx1"/>
                </a:solidFill>
                <a:effectLst/>
              </a:rPr>
              <a:t>14-16% lavere risiko for </a:t>
            </a:r>
            <a:r>
              <a:rPr lang="da-DK" sz="1400" dirty="0">
                <a:solidFill>
                  <a:schemeClr val="tx1"/>
                </a:solidFill>
              </a:rPr>
              <a:t>b</a:t>
            </a:r>
            <a:r>
              <a:rPr kumimoji="0" lang="da-DK" sz="1400" b="0" i="0" u="none" strike="noStrike" cap="none" normalizeH="0" baseline="0" dirty="0">
                <a:ln>
                  <a:noFill/>
                </a:ln>
                <a:solidFill>
                  <a:schemeClr val="tx1"/>
                </a:solidFill>
                <a:effectLst/>
              </a:rPr>
              <a:t>lodprop i hjertet</a:t>
            </a: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endParaRPr lang="da-DK" sz="1400" dirty="0">
              <a:solidFill>
                <a:schemeClr val="tx1"/>
              </a:solidFill>
            </a:endParaRPr>
          </a:p>
          <a:p>
            <a:pPr marL="285750" marR="0" indent="-285750" algn="l" defTabSz="914400" rtl="0" eaLnBrk="1" fontAlgn="base" latinLnBrk="0" hangingPunct="1">
              <a:lnSpc>
                <a:spcPct val="95000"/>
              </a:lnSpc>
              <a:spcBef>
                <a:spcPct val="0"/>
              </a:spcBef>
              <a:spcAft>
                <a:spcPct val="0"/>
              </a:spcAft>
              <a:buClrTx/>
              <a:buSzTx/>
              <a:buFont typeface="Arial" panose="020B0604020202020204" pitchFamily="34" charset="0"/>
              <a:buChar char="•"/>
              <a:tabLst/>
            </a:pPr>
            <a:r>
              <a:rPr kumimoji="0" lang="da-DK" sz="1400" b="0" i="0" u="none" strike="noStrike" cap="none" normalizeH="0" baseline="0" dirty="0">
                <a:ln>
                  <a:noFill/>
                </a:ln>
                <a:solidFill>
                  <a:schemeClr val="tx1"/>
                </a:solidFill>
                <a:effectLst/>
              </a:rPr>
              <a:t>20% reduktion i diabetesrelateret dødelighed</a:t>
            </a: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lang="da-DK" sz="1400" dirty="0">
              <a:solidFill>
                <a:schemeClr val="tx1"/>
              </a:solidFill>
            </a:endParaRPr>
          </a:p>
          <a:p>
            <a:pPr algn="r">
              <a:lnSpc>
                <a:spcPct val="95000"/>
              </a:lnSpc>
            </a:pPr>
            <a:r>
              <a:rPr lang="en-US" sz="1400" dirty="0"/>
              <a:t>Is HbA1c an ideal biomarker of well-controlled diabetes?</a:t>
            </a:r>
          </a:p>
          <a:p>
            <a:pPr algn="r">
              <a:lnSpc>
                <a:spcPct val="95000"/>
              </a:lnSpc>
            </a:pPr>
            <a:r>
              <a:rPr lang="en-US" sz="1400" i="1" dirty="0" err="1">
                <a:solidFill>
                  <a:schemeClr val="tx1"/>
                </a:solidFill>
              </a:rPr>
              <a:t>Kaiafa</a:t>
            </a:r>
            <a:r>
              <a:rPr lang="en-US" sz="1400" i="1" dirty="0">
                <a:solidFill>
                  <a:schemeClr val="tx1"/>
                </a:solidFill>
              </a:rPr>
              <a:t> et al (2021)</a:t>
            </a:r>
            <a:endParaRPr lang="da-DK" sz="1400" i="1" dirty="0">
              <a:solidFill>
                <a:schemeClr val="tx1"/>
              </a:solidFill>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400" b="0" i="0" u="none" strike="noStrike" cap="none" normalizeH="0" baseline="0" dirty="0">
              <a:ln>
                <a:noFill/>
              </a:ln>
              <a:solidFill>
                <a:schemeClr val="tx1"/>
              </a:solidFill>
              <a:effectLst/>
            </a:endParaRPr>
          </a:p>
        </p:txBody>
      </p:sp>
    </p:spTree>
    <p:custDataLst>
      <p:custData r:id="rId1"/>
      <p:custData r:id="rId2"/>
      <p:tags r:id="rId3"/>
    </p:custDataLst>
    <p:extLst>
      <p:ext uri="{BB962C8B-B14F-4D97-AF65-F5344CB8AC3E}">
        <p14:creationId xmlns:p14="http://schemas.microsoft.com/office/powerpoint/2010/main" val="353592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animBg="1"/>
      <p:bldP spid="14"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3"/>
          </p:nvPr>
        </p:nvSpPr>
        <p:spPr/>
        <p:txBody>
          <a:bodyPr/>
          <a:lstStyle/>
          <a:p>
            <a:fld id="{EBD85B7D-E9A5-49E0-8ACF-AF93CE3E556F}" type="datetime1">
              <a:rPr lang="en-GB" noProof="0" smtClean="0"/>
              <a:t>26/02/2026</a:t>
            </a:fld>
            <a:endParaRPr lang="en-GB" noProof="0" dirty="0"/>
          </a:p>
        </p:txBody>
      </p:sp>
      <p:sp>
        <p:nvSpPr>
          <p:cNvPr id="3" name="Text Placeholder 2"/>
          <p:cNvSpPr>
            <a:spLocks noGrp="1"/>
          </p:cNvSpPr>
          <p:nvPr>
            <p:ph type="body" sz="quarter" idx="16"/>
          </p:nvPr>
        </p:nvSpPr>
        <p:spPr/>
        <p:txBody>
          <a:bodyPr/>
          <a:lstStyle/>
          <a:p>
            <a:pPr lvl="0"/>
            <a:r>
              <a:rPr lang="en-GB" noProof="0" dirty="0"/>
              <a:t>Rammer I 1.100 MET-</a:t>
            </a:r>
            <a:r>
              <a:rPr lang="en-GB" noProof="0" dirty="0" err="1"/>
              <a:t>minutter</a:t>
            </a:r>
            <a:r>
              <a:rPr lang="en-GB" noProof="0" dirty="0"/>
              <a:t> med Jeres intervention?</a:t>
            </a:r>
            <a:endParaRPr lang="en-GB" dirty="0"/>
          </a:p>
          <a:p>
            <a:pPr marL="0" lvl="1" indent="0">
              <a:buNone/>
            </a:pPr>
            <a:endParaRPr lang="en-GB" dirty="0"/>
          </a:p>
        </p:txBody>
      </p:sp>
    </p:spTree>
    <p:custDataLst>
      <p:custData r:id="rId1"/>
      <p:custData r:id="rId2"/>
    </p:custDataLst>
    <p:extLst>
      <p:ext uri="{BB962C8B-B14F-4D97-AF65-F5344CB8AC3E}">
        <p14:creationId xmlns:p14="http://schemas.microsoft.com/office/powerpoint/2010/main" val="1186159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A5DD042F-DF5B-068C-9F45-D8C50AE131ED}"/>
              </a:ext>
            </a:extLst>
          </p:cNvPr>
          <p:cNvSpPr>
            <a:spLocks noGrp="1"/>
          </p:cNvSpPr>
          <p:nvPr>
            <p:ph type="dt" sz="half" idx="12"/>
          </p:nvPr>
        </p:nvSpPr>
        <p:spPr/>
        <p:txBody>
          <a:bodyPr/>
          <a:lstStyle/>
          <a:p>
            <a:fld id="{E3C6CFC2-C421-43B0-A576-C86F4E25EBB6}" type="datetime1">
              <a:rPr lang="en-GB" smtClean="0"/>
              <a:t>26/02/2026</a:t>
            </a:fld>
            <a:endParaRPr lang="en-GB" dirty="0"/>
          </a:p>
        </p:txBody>
      </p:sp>
      <p:sp>
        <p:nvSpPr>
          <p:cNvPr id="3" name="Titel 2">
            <a:extLst>
              <a:ext uri="{FF2B5EF4-FFF2-40B4-BE49-F238E27FC236}">
                <a16:creationId xmlns:a16="http://schemas.microsoft.com/office/drawing/2014/main" id="{A2C9F339-9286-D193-B80B-DB32A42E947B}"/>
              </a:ext>
            </a:extLst>
          </p:cNvPr>
          <p:cNvSpPr>
            <a:spLocks noGrp="1"/>
          </p:cNvSpPr>
          <p:nvPr>
            <p:ph type="ctrTitle"/>
          </p:nvPr>
        </p:nvSpPr>
        <p:spPr/>
        <p:txBody>
          <a:bodyPr/>
          <a:lstStyle/>
          <a:p>
            <a:r>
              <a:rPr lang="da-DK" dirty="0"/>
              <a:t>Sit </a:t>
            </a:r>
            <a:r>
              <a:rPr lang="da-DK" dirty="0" err="1"/>
              <a:t>less</a:t>
            </a:r>
            <a:r>
              <a:rPr lang="da-DK" dirty="0"/>
              <a:t>, </a:t>
            </a:r>
            <a:r>
              <a:rPr lang="da-DK" dirty="0" err="1"/>
              <a:t>move</a:t>
            </a:r>
            <a:r>
              <a:rPr lang="da-DK" dirty="0"/>
              <a:t> more</a:t>
            </a:r>
          </a:p>
        </p:txBody>
      </p:sp>
      <p:sp>
        <p:nvSpPr>
          <p:cNvPr id="4" name="Pladsholder til tekst 3">
            <a:extLst>
              <a:ext uri="{FF2B5EF4-FFF2-40B4-BE49-F238E27FC236}">
                <a16:creationId xmlns:a16="http://schemas.microsoft.com/office/drawing/2014/main" id="{9DC3306F-0990-5C61-C9EC-CF9AB6B8B34E}"/>
              </a:ext>
            </a:extLst>
          </p:cNvPr>
          <p:cNvSpPr>
            <a:spLocks noGrp="1"/>
          </p:cNvSpPr>
          <p:nvPr>
            <p:ph type="body" sz="quarter" idx="11"/>
          </p:nvPr>
        </p:nvSpPr>
        <p:spPr/>
        <p:txBody>
          <a:bodyPr/>
          <a:lstStyle/>
          <a:p>
            <a:r>
              <a:rPr lang="da-DK" dirty="0"/>
              <a:t>Et godt sted at starte</a:t>
            </a:r>
          </a:p>
        </p:txBody>
      </p:sp>
    </p:spTree>
    <p:extLst>
      <p:ext uri="{BB962C8B-B14F-4D97-AF65-F5344CB8AC3E}">
        <p14:creationId xmlns:p14="http://schemas.microsoft.com/office/powerpoint/2010/main" val="2375675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ladsholder til indhold 5" descr="Et billede, der indeholder tekst, skærmbillede, linje/række, diagram&#10;&#10;AI-genereret indhold kan være ukorrekt.">
            <a:extLst>
              <a:ext uri="{FF2B5EF4-FFF2-40B4-BE49-F238E27FC236}">
                <a16:creationId xmlns:a16="http://schemas.microsoft.com/office/drawing/2014/main" id="{5513706C-AC51-7EDB-D38D-A138510146C8}"/>
              </a:ext>
            </a:extLst>
          </p:cNvPr>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328613" y="1255164"/>
            <a:ext cx="11550650" cy="4360370"/>
          </a:xfrm>
          <a:noFill/>
        </p:spPr>
      </p:pic>
      <p:sp>
        <p:nvSpPr>
          <p:cNvPr id="4" name="Pladsholder til dato 3">
            <a:extLst>
              <a:ext uri="{FF2B5EF4-FFF2-40B4-BE49-F238E27FC236}">
                <a16:creationId xmlns:a16="http://schemas.microsoft.com/office/drawing/2014/main" id="{E7F66045-77A7-63EF-133B-718655454DB5}"/>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26/02/2026</a:t>
            </a:fld>
            <a:endParaRPr lang="en-GB"/>
          </a:p>
        </p:txBody>
      </p:sp>
      <p:sp>
        <p:nvSpPr>
          <p:cNvPr id="2" name="Rektangel: afrundede hjørner 1">
            <a:extLst>
              <a:ext uri="{FF2B5EF4-FFF2-40B4-BE49-F238E27FC236}">
                <a16:creationId xmlns:a16="http://schemas.microsoft.com/office/drawing/2014/main" id="{5F1886B8-B8B7-73A3-79C9-ACD693D22B1A}"/>
              </a:ext>
            </a:extLst>
          </p:cNvPr>
          <p:cNvSpPr/>
          <p:nvPr/>
        </p:nvSpPr>
        <p:spPr bwMode="auto">
          <a:xfrm>
            <a:off x="8902724" y="5615534"/>
            <a:ext cx="2736304" cy="76579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solidFill>
                  <a:sysClr val="windowText" lastClr="000000"/>
                </a:solidFill>
                <a:effectLst/>
                <a:latin typeface="AU Passata" pitchFamily="34" charset="0"/>
              </a:rPr>
              <a:t>Dunstan et al. – nature </a:t>
            </a:r>
            <a:r>
              <a:rPr kumimoji="0" lang="da-DK" sz="1600" b="0" i="0" u="none" strike="noStrike" cap="none" normalizeH="0" baseline="0" dirty="0" err="1">
                <a:ln>
                  <a:noFill/>
                </a:ln>
                <a:solidFill>
                  <a:sysClr val="windowText" lastClr="000000"/>
                </a:solidFill>
                <a:effectLst/>
                <a:latin typeface="AU Passata" pitchFamily="34" charset="0"/>
              </a:rPr>
              <a:t>reviews</a:t>
            </a:r>
            <a:r>
              <a:rPr kumimoji="0" lang="da-DK" sz="1600" b="0" i="0" u="none" strike="noStrike" cap="none" normalizeH="0" baseline="0" dirty="0">
                <a:ln>
                  <a:noFill/>
                </a:ln>
                <a:solidFill>
                  <a:sysClr val="windowText" lastClr="000000"/>
                </a:solidFill>
                <a:effectLst/>
                <a:latin typeface="AU Passata" pitchFamily="34" charset="0"/>
              </a:rPr>
              <a:t> 2021</a:t>
            </a:r>
          </a:p>
        </p:txBody>
      </p:sp>
    </p:spTree>
    <p:extLst>
      <p:ext uri="{BB962C8B-B14F-4D97-AF65-F5344CB8AC3E}">
        <p14:creationId xmlns:p14="http://schemas.microsoft.com/office/powerpoint/2010/main" val="29490944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18E16-854D-0DB0-B73F-0D9524079A3D}"/>
            </a:ext>
          </a:extLst>
        </p:cNvPr>
        <p:cNvGrpSpPr/>
        <p:nvPr/>
      </p:nvGrpSpPr>
      <p:grpSpPr>
        <a:xfrm>
          <a:off x="0" y="0"/>
          <a:ext cx="0" cy="0"/>
          <a:chOff x="0" y="0"/>
          <a:chExt cx="0" cy="0"/>
        </a:xfrm>
      </p:grpSpPr>
      <p:pic>
        <p:nvPicPr>
          <p:cNvPr id="3" name="Billede 2" descr="Et billede, der indeholder tekst, skærmbillede, linje/række, Font/skrifttype&#10;&#10;AI-genereret indhold kan være ukorrekt.">
            <a:extLst>
              <a:ext uri="{FF2B5EF4-FFF2-40B4-BE49-F238E27FC236}">
                <a16:creationId xmlns:a16="http://schemas.microsoft.com/office/drawing/2014/main" id="{2A748B38-93B0-80E5-576B-7CC74FD488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212" y="328612"/>
            <a:ext cx="11195451" cy="6213475"/>
          </a:xfrm>
          <a:prstGeom prst="rect">
            <a:avLst/>
          </a:prstGeom>
          <a:noFill/>
        </p:spPr>
      </p:pic>
      <p:sp>
        <p:nvSpPr>
          <p:cNvPr id="4" name="Pladsholder til dato 3">
            <a:extLst>
              <a:ext uri="{FF2B5EF4-FFF2-40B4-BE49-F238E27FC236}">
                <a16:creationId xmlns:a16="http://schemas.microsoft.com/office/drawing/2014/main" id="{0EF91C73-8FDC-45B4-08C6-BF5252680AEE}"/>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26/02/2026</a:t>
            </a:fld>
            <a:endParaRPr lang="en-GB"/>
          </a:p>
        </p:txBody>
      </p:sp>
      <p:sp>
        <p:nvSpPr>
          <p:cNvPr id="2" name="Rektangel 1">
            <a:extLst>
              <a:ext uri="{FF2B5EF4-FFF2-40B4-BE49-F238E27FC236}">
                <a16:creationId xmlns:a16="http://schemas.microsoft.com/office/drawing/2014/main" id="{C8F4B770-51A6-65C5-AD39-AFD9F9750EF4}"/>
              </a:ext>
            </a:extLst>
          </p:cNvPr>
          <p:cNvSpPr/>
          <p:nvPr/>
        </p:nvSpPr>
        <p:spPr bwMode="auto">
          <a:xfrm>
            <a:off x="7755567" y="1628800"/>
            <a:ext cx="504056" cy="1368152"/>
          </a:xfrm>
          <a:prstGeom prst="rect">
            <a:avLst/>
          </a:prstGeom>
          <a:solidFill>
            <a:schemeClr val="tx2">
              <a:lumMod val="60000"/>
              <a:lumOff val="40000"/>
            </a:schemeClr>
          </a:solidFill>
          <a:ln w="1778"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5" name="Rektangel 4">
            <a:extLst>
              <a:ext uri="{FF2B5EF4-FFF2-40B4-BE49-F238E27FC236}">
                <a16:creationId xmlns:a16="http://schemas.microsoft.com/office/drawing/2014/main" id="{BA3D5264-B837-C080-0977-B4029151437E}"/>
              </a:ext>
            </a:extLst>
          </p:cNvPr>
          <p:cNvSpPr/>
          <p:nvPr/>
        </p:nvSpPr>
        <p:spPr bwMode="auto">
          <a:xfrm>
            <a:off x="7755567" y="4030676"/>
            <a:ext cx="504056" cy="1368152"/>
          </a:xfrm>
          <a:prstGeom prst="rect">
            <a:avLst/>
          </a:prstGeom>
          <a:solidFill>
            <a:schemeClr val="tx2">
              <a:lumMod val="60000"/>
              <a:lumOff val="40000"/>
            </a:schemeClr>
          </a:solidFill>
          <a:ln w="1778"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endParaRPr kumimoji="0" lang="da-DK" sz="1600" b="0" i="0" u="none" strike="noStrike" cap="none" normalizeH="0" baseline="0" dirty="0" err="1">
              <a:ln>
                <a:noFill/>
              </a:ln>
              <a:solidFill>
                <a:schemeClr val="bg1"/>
              </a:solidFill>
              <a:effectLst/>
              <a:latin typeface="AU Passata" pitchFamily="34" charset="0"/>
            </a:endParaRPr>
          </a:p>
        </p:txBody>
      </p:sp>
      <p:sp>
        <p:nvSpPr>
          <p:cNvPr id="6" name="Rektangel: afrundede hjørner 5">
            <a:extLst>
              <a:ext uri="{FF2B5EF4-FFF2-40B4-BE49-F238E27FC236}">
                <a16:creationId xmlns:a16="http://schemas.microsoft.com/office/drawing/2014/main" id="{2F442C03-C5FB-D124-98D9-24B1228D598C}"/>
              </a:ext>
            </a:extLst>
          </p:cNvPr>
          <p:cNvSpPr/>
          <p:nvPr/>
        </p:nvSpPr>
        <p:spPr bwMode="auto">
          <a:xfrm>
            <a:off x="2494012" y="298090"/>
            <a:ext cx="2736304" cy="76579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solidFill>
                  <a:sysClr val="windowText" lastClr="000000"/>
                </a:solidFill>
                <a:effectLst/>
                <a:latin typeface="AU Passata" pitchFamily="34" charset="0"/>
              </a:rPr>
              <a:t>Dunstan et al. – nature </a:t>
            </a:r>
            <a:r>
              <a:rPr kumimoji="0" lang="da-DK" sz="1600" b="0" i="0" u="none" strike="noStrike" cap="none" normalizeH="0" baseline="0" dirty="0" err="1">
                <a:ln>
                  <a:noFill/>
                </a:ln>
                <a:solidFill>
                  <a:sysClr val="windowText" lastClr="000000"/>
                </a:solidFill>
                <a:effectLst/>
                <a:latin typeface="AU Passata" pitchFamily="34" charset="0"/>
              </a:rPr>
              <a:t>reviews</a:t>
            </a:r>
            <a:r>
              <a:rPr kumimoji="0" lang="da-DK" sz="1600" b="0" i="0" u="none" strike="noStrike" cap="none" normalizeH="0" baseline="0" dirty="0">
                <a:ln>
                  <a:noFill/>
                </a:ln>
                <a:solidFill>
                  <a:sysClr val="windowText" lastClr="000000"/>
                </a:solidFill>
                <a:effectLst/>
                <a:latin typeface="AU Passata" pitchFamily="34" charset="0"/>
              </a:rPr>
              <a:t> 2021</a:t>
            </a:r>
          </a:p>
        </p:txBody>
      </p:sp>
    </p:spTree>
    <p:extLst>
      <p:ext uri="{BB962C8B-B14F-4D97-AF65-F5344CB8AC3E}">
        <p14:creationId xmlns:p14="http://schemas.microsoft.com/office/powerpoint/2010/main" val="2671277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A0F0E-1022-5058-0B34-7396C2FFFE89}"/>
            </a:ext>
          </a:extLst>
        </p:cNvPr>
        <p:cNvGrpSpPr/>
        <p:nvPr/>
      </p:nvGrpSpPr>
      <p:grpSpPr>
        <a:xfrm>
          <a:off x="0" y="0"/>
          <a:ext cx="0" cy="0"/>
          <a:chOff x="0" y="0"/>
          <a:chExt cx="0" cy="0"/>
        </a:xfrm>
      </p:grpSpPr>
      <p:pic>
        <p:nvPicPr>
          <p:cNvPr id="7" name="Billede 6">
            <a:extLst>
              <a:ext uri="{FF2B5EF4-FFF2-40B4-BE49-F238E27FC236}">
                <a16:creationId xmlns:a16="http://schemas.microsoft.com/office/drawing/2014/main" id="{C0B60BAE-7090-4C6B-1095-D5297D3BDCB3}"/>
              </a:ext>
            </a:extLst>
          </p:cNvPr>
          <p:cNvPicPr>
            <a:picLocks noChangeAspect="1"/>
          </p:cNvPicPr>
          <p:nvPr/>
        </p:nvPicPr>
        <p:blipFill>
          <a:blip r:embed="rId3"/>
          <a:stretch>
            <a:fillRect/>
          </a:stretch>
        </p:blipFill>
        <p:spPr>
          <a:xfrm>
            <a:off x="693812" y="293521"/>
            <a:ext cx="9414357" cy="6213475"/>
          </a:xfrm>
          <a:prstGeom prst="rect">
            <a:avLst/>
          </a:prstGeom>
          <a:noFill/>
        </p:spPr>
      </p:pic>
      <p:sp>
        <p:nvSpPr>
          <p:cNvPr id="4" name="Pladsholder til dato 3">
            <a:extLst>
              <a:ext uri="{FF2B5EF4-FFF2-40B4-BE49-F238E27FC236}">
                <a16:creationId xmlns:a16="http://schemas.microsoft.com/office/drawing/2014/main" id="{AAFE0A2F-9CA7-1675-CCE9-2A1BDB89AE9C}"/>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26/02/2026</a:t>
            </a:fld>
            <a:endParaRPr lang="en-GB"/>
          </a:p>
        </p:txBody>
      </p:sp>
      <p:sp>
        <p:nvSpPr>
          <p:cNvPr id="2" name="Rektangel: afrundede hjørner 1">
            <a:extLst>
              <a:ext uri="{FF2B5EF4-FFF2-40B4-BE49-F238E27FC236}">
                <a16:creationId xmlns:a16="http://schemas.microsoft.com/office/drawing/2014/main" id="{3E23ABC9-0A00-327F-22F2-B497C163A3A2}"/>
              </a:ext>
            </a:extLst>
          </p:cNvPr>
          <p:cNvSpPr/>
          <p:nvPr/>
        </p:nvSpPr>
        <p:spPr bwMode="auto">
          <a:xfrm>
            <a:off x="9452521" y="3046103"/>
            <a:ext cx="2736304" cy="765794"/>
          </a:xfrm>
          <a:prstGeom prst="roundRect">
            <a:avLst/>
          </a:prstGeom>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solidFill>
                  <a:sysClr val="windowText" lastClr="000000"/>
                </a:solidFill>
                <a:effectLst/>
                <a:latin typeface="AU Passata" pitchFamily="34" charset="0"/>
              </a:rPr>
              <a:t>Dunstan et al. – nature </a:t>
            </a:r>
            <a:r>
              <a:rPr kumimoji="0" lang="da-DK" sz="1600" b="0" i="0" u="none" strike="noStrike" cap="none" normalizeH="0" baseline="0" dirty="0" err="1">
                <a:ln>
                  <a:noFill/>
                </a:ln>
                <a:solidFill>
                  <a:sysClr val="windowText" lastClr="000000"/>
                </a:solidFill>
                <a:effectLst/>
                <a:latin typeface="AU Passata" pitchFamily="34" charset="0"/>
              </a:rPr>
              <a:t>reviews</a:t>
            </a:r>
            <a:r>
              <a:rPr kumimoji="0" lang="da-DK" sz="1600" b="0" i="0" u="none" strike="noStrike" cap="none" normalizeH="0" baseline="0" dirty="0">
                <a:ln>
                  <a:noFill/>
                </a:ln>
                <a:solidFill>
                  <a:sysClr val="windowText" lastClr="000000"/>
                </a:solidFill>
                <a:effectLst/>
                <a:latin typeface="AU Passata" pitchFamily="34" charset="0"/>
              </a:rPr>
              <a:t> 2021</a:t>
            </a:r>
          </a:p>
        </p:txBody>
      </p:sp>
    </p:spTree>
    <p:extLst>
      <p:ext uri="{BB962C8B-B14F-4D97-AF65-F5344CB8AC3E}">
        <p14:creationId xmlns:p14="http://schemas.microsoft.com/office/powerpoint/2010/main" val="2546829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Billede 17">
            <a:extLst>
              <a:ext uri="{FF2B5EF4-FFF2-40B4-BE49-F238E27FC236}">
                <a16:creationId xmlns:a16="http://schemas.microsoft.com/office/drawing/2014/main" id="{68452016-4885-874C-D256-A7094FECC886}"/>
              </a:ext>
            </a:extLst>
          </p:cNvPr>
          <p:cNvPicPr>
            <a:picLocks noChangeAspect="1"/>
          </p:cNvPicPr>
          <p:nvPr/>
        </p:nvPicPr>
        <p:blipFill>
          <a:blip r:embed="rId3"/>
          <a:stretch>
            <a:fillRect/>
          </a:stretch>
        </p:blipFill>
        <p:spPr>
          <a:xfrm>
            <a:off x="405780" y="404664"/>
            <a:ext cx="4529767" cy="1186654"/>
          </a:xfrm>
          <a:prstGeom prst="rect">
            <a:avLst/>
          </a:prstGeom>
        </p:spPr>
      </p:pic>
      <p:pic>
        <p:nvPicPr>
          <p:cNvPr id="21" name="Billede 20">
            <a:extLst>
              <a:ext uri="{FF2B5EF4-FFF2-40B4-BE49-F238E27FC236}">
                <a16:creationId xmlns:a16="http://schemas.microsoft.com/office/drawing/2014/main" id="{4322C474-1FE4-2E28-F61F-42F7DC7E17D4}"/>
              </a:ext>
            </a:extLst>
          </p:cNvPr>
          <p:cNvPicPr>
            <a:picLocks noChangeAspect="1"/>
          </p:cNvPicPr>
          <p:nvPr/>
        </p:nvPicPr>
        <p:blipFill>
          <a:blip r:embed="rId4"/>
          <a:stretch>
            <a:fillRect/>
          </a:stretch>
        </p:blipFill>
        <p:spPr>
          <a:xfrm>
            <a:off x="5306155" y="332656"/>
            <a:ext cx="6442126" cy="5656662"/>
          </a:xfrm>
          <a:prstGeom prst="rect">
            <a:avLst/>
          </a:prstGeom>
        </p:spPr>
      </p:pic>
      <p:sp>
        <p:nvSpPr>
          <p:cNvPr id="2" name="Venstre klammeparentes 1">
            <a:extLst>
              <a:ext uri="{FF2B5EF4-FFF2-40B4-BE49-F238E27FC236}">
                <a16:creationId xmlns:a16="http://schemas.microsoft.com/office/drawing/2014/main" id="{294800D8-9174-F43D-8DA7-51F7336E5004}"/>
              </a:ext>
            </a:extLst>
          </p:cNvPr>
          <p:cNvSpPr/>
          <p:nvPr/>
        </p:nvSpPr>
        <p:spPr bwMode="auto">
          <a:xfrm>
            <a:off x="4798268" y="619944"/>
            <a:ext cx="397960" cy="3744416"/>
          </a:xfrm>
          <a:prstGeom prst="leftBrace">
            <a:avLst/>
          </a:prstGeom>
          <a:noFill/>
          <a:ln w="1778" cap="flat" cmpd="sng" algn="ctr">
            <a:solidFill>
              <a:schemeClr val="bg2">
                <a:lumMod val="60000"/>
                <a:lumOff val="40000"/>
              </a:schemeClr>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ts val="3600"/>
              </a:lnSpc>
              <a:spcBef>
                <a:spcPct val="0"/>
              </a:spcBef>
              <a:spcAft>
                <a:spcPct val="0"/>
              </a:spcAft>
              <a:buClrTx/>
              <a:buSzTx/>
              <a:buFont typeface="AU Passata" pitchFamily="34" charset="0"/>
              <a:buNone/>
              <a:tabLst/>
            </a:pPr>
            <a:endParaRPr kumimoji="0" lang="da-DK" sz="3600" b="0" i="0" u="none" strike="noStrike" cap="none" normalizeH="0" baseline="0">
              <a:ln>
                <a:noFill/>
              </a:ln>
              <a:solidFill>
                <a:schemeClr val="tx1"/>
              </a:solidFill>
              <a:effectLst/>
              <a:latin typeface="AU Passata" pitchFamily="34" charset="0"/>
            </a:endParaRPr>
          </a:p>
        </p:txBody>
      </p:sp>
      <p:sp>
        <p:nvSpPr>
          <p:cNvPr id="4" name="Venstre klammeparentes 3">
            <a:extLst>
              <a:ext uri="{FF2B5EF4-FFF2-40B4-BE49-F238E27FC236}">
                <a16:creationId xmlns:a16="http://schemas.microsoft.com/office/drawing/2014/main" id="{2EC2B81C-DA59-1F7E-D08E-2BF19C7D2258}"/>
              </a:ext>
            </a:extLst>
          </p:cNvPr>
          <p:cNvSpPr/>
          <p:nvPr/>
        </p:nvSpPr>
        <p:spPr bwMode="auto">
          <a:xfrm>
            <a:off x="4798268" y="4581128"/>
            <a:ext cx="397960" cy="648072"/>
          </a:xfrm>
          <a:prstGeom prst="leftBrace">
            <a:avLst/>
          </a:prstGeom>
          <a:noFill/>
          <a:ln w="1778" cap="flat" cmpd="sng" algn="ctr">
            <a:solidFill>
              <a:srgbClr val="C0000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ts val="3600"/>
              </a:lnSpc>
              <a:spcBef>
                <a:spcPct val="0"/>
              </a:spcBef>
              <a:spcAft>
                <a:spcPct val="0"/>
              </a:spcAft>
              <a:buClrTx/>
              <a:buSzTx/>
              <a:buFont typeface="AU Passata" pitchFamily="34" charset="0"/>
              <a:buNone/>
              <a:tabLst/>
            </a:pPr>
            <a:endParaRPr kumimoji="0" lang="da-DK" sz="3600" b="0" i="0" u="none" strike="noStrike" cap="none" normalizeH="0" baseline="0">
              <a:ln>
                <a:noFill/>
              </a:ln>
              <a:solidFill>
                <a:schemeClr val="tx1"/>
              </a:solidFill>
              <a:effectLst/>
              <a:latin typeface="AU Passata" pitchFamily="34" charset="0"/>
            </a:endParaRPr>
          </a:p>
        </p:txBody>
      </p:sp>
      <p:cxnSp>
        <p:nvCxnSpPr>
          <p:cNvPr id="6" name="Lige pilforbindelse 5">
            <a:extLst>
              <a:ext uri="{FF2B5EF4-FFF2-40B4-BE49-F238E27FC236}">
                <a16:creationId xmlns:a16="http://schemas.microsoft.com/office/drawing/2014/main" id="{1A8ADE71-BB2B-16B0-C03F-D3303D241E0D}"/>
              </a:ext>
            </a:extLst>
          </p:cNvPr>
          <p:cNvCxnSpPr/>
          <p:nvPr/>
        </p:nvCxnSpPr>
        <p:spPr bwMode="auto">
          <a:xfrm flipH="1">
            <a:off x="10270876" y="4364360"/>
            <a:ext cx="720080" cy="0"/>
          </a:xfrm>
          <a:prstGeom prst="straightConnector1">
            <a:avLst/>
          </a:prstGeom>
          <a:solidFill>
            <a:schemeClr val="accent2"/>
          </a:solidFill>
          <a:ln w="38100" cap="flat" cmpd="sng" algn="ctr">
            <a:solidFill>
              <a:srgbClr val="92D050"/>
            </a:solidFill>
            <a:prstDash val="solid"/>
            <a:round/>
            <a:headEnd type="none" w="med" len="med"/>
            <a:tailEnd type="triangle"/>
          </a:ln>
          <a:effectLst/>
        </p:spPr>
      </p:cxnSp>
      <p:cxnSp>
        <p:nvCxnSpPr>
          <p:cNvPr id="7" name="Lige pilforbindelse 6">
            <a:extLst>
              <a:ext uri="{FF2B5EF4-FFF2-40B4-BE49-F238E27FC236}">
                <a16:creationId xmlns:a16="http://schemas.microsoft.com/office/drawing/2014/main" id="{02AA4AC4-E32A-BA90-B777-5EF06143FAC1}"/>
              </a:ext>
            </a:extLst>
          </p:cNvPr>
          <p:cNvCxnSpPr>
            <a:cxnSpLocks/>
          </p:cNvCxnSpPr>
          <p:nvPr/>
        </p:nvCxnSpPr>
        <p:spPr bwMode="auto">
          <a:xfrm rot="10800000" flipH="1">
            <a:off x="11028201" y="4364360"/>
            <a:ext cx="720080" cy="0"/>
          </a:xfrm>
          <a:prstGeom prst="straightConnector1">
            <a:avLst/>
          </a:prstGeom>
          <a:solidFill>
            <a:schemeClr val="accent2"/>
          </a:solidFill>
          <a:ln w="38100" cap="flat" cmpd="sng" algn="ctr">
            <a:solidFill>
              <a:srgbClr val="C00000"/>
            </a:solidFill>
            <a:prstDash val="solid"/>
            <a:round/>
            <a:headEnd type="none" w="med" len="med"/>
            <a:tailEnd type="triangle"/>
          </a:ln>
          <a:effectLst/>
        </p:spPr>
      </p:cxnSp>
    </p:spTree>
    <p:extLst>
      <p:ext uri="{BB962C8B-B14F-4D97-AF65-F5344CB8AC3E}">
        <p14:creationId xmlns:p14="http://schemas.microsoft.com/office/powerpoint/2010/main" val="94161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DD52E20D-A9BC-267A-659C-CC1DFD73D5F7}"/>
              </a:ext>
            </a:extLst>
          </p:cNvPr>
          <p:cNvSpPr>
            <a:spLocks noGrp="1"/>
          </p:cNvSpPr>
          <p:nvPr>
            <p:ph type="body" sz="quarter" idx="14"/>
          </p:nvPr>
        </p:nvSpPr>
        <p:spPr/>
        <p:txBody>
          <a:bodyPr/>
          <a:lstStyle/>
          <a:p>
            <a:r>
              <a:rPr lang="da-DK" dirty="0"/>
              <a:t>Stillesiddende adfærd sammenlignet med let gang eller styrkeøvelser hver 30 min. på blodtrykket over en dag</a:t>
            </a:r>
          </a:p>
        </p:txBody>
      </p:sp>
      <p:sp>
        <p:nvSpPr>
          <p:cNvPr id="5" name="Pladsholder til dato 4">
            <a:extLst>
              <a:ext uri="{FF2B5EF4-FFF2-40B4-BE49-F238E27FC236}">
                <a16:creationId xmlns:a16="http://schemas.microsoft.com/office/drawing/2014/main" id="{4DEA79B1-E071-04BB-8F4D-A92C0342B3E7}"/>
              </a:ext>
            </a:extLst>
          </p:cNvPr>
          <p:cNvSpPr>
            <a:spLocks noGrp="1"/>
          </p:cNvSpPr>
          <p:nvPr>
            <p:ph type="dt" sz="half" idx="15"/>
          </p:nvPr>
        </p:nvSpPr>
        <p:spPr/>
        <p:txBody>
          <a:bodyPr/>
          <a:lstStyle/>
          <a:p>
            <a:fld id="{99116E5A-D8A9-41EF-B67B-C67B8E06540E}" type="datetime1">
              <a:rPr lang="en-GB" smtClean="0"/>
              <a:t>26/02/2026</a:t>
            </a:fld>
            <a:endParaRPr lang="en-GB" dirty="0"/>
          </a:p>
        </p:txBody>
      </p:sp>
      <p:pic>
        <p:nvPicPr>
          <p:cNvPr id="11" name="Billede 10">
            <a:extLst>
              <a:ext uri="{FF2B5EF4-FFF2-40B4-BE49-F238E27FC236}">
                <a16:creationId xmlns:a16="http://schemas.microsoft.com/office/drawing/2014/main" id="{5E10BB5B-DE4B-2A15-E03B-DFC4B8EC723F}"/>
              </a:ext>
            </a:extLst>
          </p:cNvPr>
          <p:cNvPicPr>
            <a:picLocks noChangeAspect="1"/>
          </p:cNvPicPr>
          <p:nvPr/>
        </p:nvPicPr>
        <p:blipFill>
          <a:blip r:embed="rId3"/>
          <a:stretch>
            <a:fillRect/>
          </a:stretch>
        </p:blipFill>
        <p:spPr>
          <a:xfrm>
            <a:off x="6382444" y="1844824"/>
            <a:ext cx="3898942" cy="3024336"/>
          </a:xfrm>
          <a:prstGeom prst="rect">
            <a:avLst/>
          </a:prstGeom>
        </p:spPr>
      </p:pic>
      <p:pic>
        <p:nvPicPr>
          <p:cNvPr id="13" name="Billede 12">
            <a:extLst>
              <a:ext uri="{FF2B5EF4-FFF2-40B4-BE49-F238E27FC236}">
                <a16:creationId xmlns:a16="http://schemas.microsoft.com/office/drawing/2014/main" id="{81C86110-2D3F-14B8-C8A8-20B5B499135E}"/>
              </a:ext>
            </a:extLst>
          </p:cNvPr>
          <p:cNvPicPr>
            <a:picLocks noChangeAspect="1"/>
          </p:cNvPicPr>
          <p:nvPr/>
        </p:nvPicPr>
        <p:blipFill>
          <a:blip r:embed="rId4"/>
          <a:stretch>
            <a:fillRect/>
          </a:stretch>
        </p:blipFill>
        <p:spPr>
          <a:xfrm>
            <a:off x="10162707" y="1484784"/>
            <a:ext cx="1080120" cy="875466"/>
          </a:xfrm>
          <a:prstGeom prst="rect">
            <a:avLst/>
          </a:prstGeom>
        </p:spPr>
      </p:pic>
      <p:sp>
        <p:nvSpPr>
          <p:cNvPr id="14" name="Rektangel 13">
            <a:extLst>
              <a:ext uri="{FF2B5EF4-FFF2-40B4-BE49-F238E27FC236}">
                <a16:creationId xmlns:a16="http://schemas.microsoft.com/office/drawing/2014/main" id="{EDDFA5CC-B3F7-8729-1BB6-F9A901154C68}"/>
              </a:ext>
            </a:extLst>
          </p:cNvPr>
          <p:cNvSpPr/>
          <p:nvPr/>
        </p:nvSpPr>
        <p:spPr bwMode="auto">
          <a:xfrm>
            <a:off x="10535879" y="1472952"/>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Stillesiddende</a:t>
            </a:r>
          </a:p>
        </p:txBody>
      </p:sp>
      <p:sp>
        <p:nvSpPr>
          <p:cNvPr id="17" name="Rektangel 16">
            <a:extLst>
              <a:ext uri="{FF2B5EF4-FFF2-40B4-BE49-F238E27FC236}">
                <a16:creationId xmlns:a16="http://schemas.microsoft.com/office/drawing/2014/main" id="{66296442-44E6-2CA9-6586-08AF64490C9F}"/>
              </a:ext>
            </a:extLst>
          </p:cNvPr>
          <p:cNvSpPr/>
          <p:nvPr/>
        </p:nvSpPr>
        <p:spPr bwMode="auto">
          <a:xfrm>
            <a:off x="10535879" y="1784838"/>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Let gang</a:t>
            </a:r>
          </a:p>
        </p:txBody>
      </p:sp>
      <p:sp>
        <p:nvSpPr>
          <p:cNvPr id="18" name="Rektangel 17">
            <a:extLst>
              <a:ext uri="{FF2B5EF4-FFF2-40B4-BE49-F238E27FC236}">
                <a16:creationId xmlns:a16="http://schemas.microsoft.com/office/drawing/2014/main" id="{16E08F97-6AF5-34AF-9B41-2CBA5E72DD35}"/>
              </a:ext>
            </a:extLst>
          </p:cNvPr>
          <p:cNvSpPr/>
          <p:nvPr/>
        </p:nvSpPr>
        <p:spPr bwMode="auto">
          <a:xfrm>
            <a:off x="10535880" y="2084892"/>
            <a:ext cx="1652945" cy="371872"/>
          </a:xfrm>
          <a:prstGeom prst="rect">
            <a:avLst/>
          </a:prstGeom>
          <a:solidFill>
            <a:schemeClr val="bg1"/>
          </a:solidFill>
          <a:ln w="1778"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95000"/>
              </a:lnSpc>
              <a:spcBef>
                <a:spcPct val="0"/>
              </a:spcBef>
              <a:spcAft>
                <a:spcPct val="0"/>
              </a:spcAft>
              <a:buClrTx/>
              <a:buSzTx/>
              <a:buFont typeface="AU Passata" pitchFamily="34" charset="0"/>
              <a:buNone/>
              <a:tabLst/>
            </a:pPr>
            <a:r>
              <a:rPr kumimoji="0" lang="da-DK" sz="1600" b="0" i="0" u="none" strike="noStrike" cap="none" normalizeH="0" baseline="0" dirty="0">
                <a:ln>
                  <a:noFill/>
                </a:ln>
                <a:effectLst/>
                <a:latin typeface="AU Passata" pitchFamily="34" charset="0"/>
              </a:rPr>
              <a:t>Styrkeøvelser</a:t>
            </a:r>
          </a:p>
        </p:txBody>
      </p:sp>
      <p:pic>
        <p:nvPicPr>
          <p:cNvPr id="20" name="Billede 19" descr="Et billede, der indeholder tekst, Font/skrifttype, skærmbillede&#10;&#10;AI-genereret indhold kan være ukorrekt.">
            <a:extLst>
              <a:ext uri="{FF2B5EF4-FFF2-40B4-BE49-F238E27FC236}">
                <a16:creationId xmlns:a16="http://schemas.microsoft.com/office/drawing/2014/main" id="{3B7F2E06-464C-0CF1-C9C2-E6F979932C5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5997" y="1196752"/>
            <a:ext cx="4781531" cy="1323987"/>
          </a:xfrm>
          <a:prstGeom prst="rect">
            <a:avLst/>
          </a:prstGeom>
        </p:spPr>
      </p:pic>
    </p:spTree>
    <p:extLst>
      <p:ext uri="{BB962C8B-B14F-4D97-AF65-F5344CB8AC3E}">
        <p14:creationId xmlns:p14="http://schemas.microsoft.com/office/powerpoint/2010/main" val="1213823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78C73-645E-C5A1-FE38-26A4260C20A7}"/>
            </a:ext>
          </a:extLst>
        </p:cNvPr>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21549288-64BB-53D6-F3D9-B3A06C4006C5}"/>
              </a:ext>
            </a:extLst>
          </p:cNvPr>
          <p:cNvSpPr>
            <a:spLocks noGrp="1"/>
          </p:cNvSpPr>
          <p:nvPr>
            <p:ph type="body" sz="quarter" idx="14"/>
          </p:nvPr>
        </p:nvSpPr>
        <p:spPr>
          <a:xfrm>
            <a:off x="651899" y="2998822"/>
            <a:ext cx="4975225" cy="2806442"/>
          </a:xfrm>
        </p:spPr>
        <p:txBody>
          <a:bodyPr/>
          <a:lstStyle/>
          <a:p>
            <a:r>
              <a:rPr lang="da-DK" dirty="0"/>
              <a:t>CONT: 30 min træning 1x inden aftensmad. 60% af max. </a:t>
            </a:r>
            <a:r>
              <a:rPr lang="da-DK" dirty="0" err="1"/>
              <a:t>Incline</a:t>
            </a:r>
            <a:r>
              <a:rPr lang="da-DK" dirty="0"/>
              <a:t> træning</a:t>
            </a:r>
          </a:p>
          <a:p>
            <a:endParaRPr lang="da-DK" dirty="0"/>
          </a:p>
          <a:p>
            <a:pPr>
              <a:buNone/>
            </a:pPr>
            <a:r>
              <a:rPr lang="da-DK" dirty="0"/>
              <a:t>ES: 6x1 min. HIIT (90% af max) inden hvert måltid. </a:t>
            </a:r>
            <a:r>
              <a:rPr lang="da-DK" dirty="0" err="1"/>
              <a:t>Incline</a:t>
            </a:r>
            <a:r>
              <a:rPr lang="da-DK" dirty="0"/>
              <a:t> træning</a:t>
            </a:r>
          </a:p>
          <a:p>
            <a:pPr>
              <a:buNone/>
            </a:pPr>
            <a:endParaRPr lang="da-DK" dirty="0"/>
          </a:p>
          <a:p>
            <a:pPr>
              <a:buNone/>
            </a:pPr>
            <a:r>
              <a:rPr lang="da-DK" dirty="0"/>
              <a:t>CES: 6x1 min. blandet styrke og kondi. inden hvert måltid</a:t>
            </a:r>
          </a:p>
        </p:txBody>
      </p:sp>
      <p:sp>
        <p:nvSpPr>
          <p:cNvPr id="5" name="Pladsholder til dato 4">
            <a:extLst>
              <a:ext uri="{FF2B5EF4-FFF2-40B4-BE49-F238E27FC236}">
                <a16:creationId xmlns:a16="http://schemas.microsoft.com/office/drawing/2014/main" id="{52DC23E8-5E7B-021A-12D5-CE0A55EFA125}"/>
              </a:ext>
            </a:extLst>
          </p:cNvPr>
          <p:cNvSpPr>
            <a:spLocks noGrp="1"/>
          </p:cNvSpPr>
          <p:nvPr>
            <p:ph type="dt" sz="half" idx="15"/>
          </p:nvPr>
        </p:nvSpPr>
        <p:spPr/>
        <p:txBody>
          <a:bodyPr/>
          <a:lstStyle/>
          <a:p>
            <a:fld id="{99116E5A-D8A9-41EF-B67B-C67B8E06540E}" type="datetime1">
              <a:rPr lang="en-GB" smtClean="0"/>
              <a:t>26/02/2026</a:t>
            </a:fld>
            <a:endParaRPr lang="en-GB" dirty="0"/>
          </a:p>
        </p:txBody>
      </p:sp>
      <p:pic>
        <p:nvPicPr>
          <p:cNvPr id="4" name="Billede 3" descr="Et billede, der indeholder tekst, diagram, Font/skrifttype, Kurve&#10;&#10;AI-genereret indhold kan være ukorrekt.">
            <a:extLst>
              <a:ext uri="{FF2B5EF4-FFF2-40B4-BE49-F238E27FC236}">
                <a16:creationId xmlns:a16="http://schemas.microsoft.com/office/drawing/2014/main" id="{55FDDEF5-C91B-104E-85B8-69E1FEEE98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4372" y="1855145"/>
            <a:ext cx="5684638" cy="3538815"/>
          </a:xfrm>
          <a:prstGeom prst="rect">
            <a:avLst/>
          </a:prstGeom>
        </p:spPr>
      </p:pic>
      <p:pic>
        <p:nvPicPr>
          <p:cNvPr id="7" name="Billede 6">
            <a:extLst>
              <a:ext uri="{FF2B5EF4-FFF2-40B4-BE49-F238E27FC236}">
                <a16:creationId xmlns:a16="http://schemas.microsoft.com/office/drawing/2014/main" id="{A1C2DF89-F4C4-4FD2-E017-BAF30F2CEEFB}"/>
              </a:ext>
            </a:extLst>
          </p:cNvPr>
          <p:cNvPicPr>
            <a:picLocks noChangeAspect="1"/>
          </p:cNvPicPr>
          <p:nvPr/>
        </p:nvPicPr>
        <p:blipFill>
          <a:blip r:embed="rId4"/>
          <a:stretch>
            <a:fillRect/>
          </a:stretch>
        </p:blipFill>
        <p:spPr>
          <a:xfrm>
            <a:off x="535871" y="1034472"/>
            <a:ext cx="5198501" cy="1106738"/>
          </a:xfrm>
          <a:prstGeom prst="rect">
            <a:avLst/>
          </a:prstGeom>
        </p:spPr>
      </p:pic>
    </p:spTree>
    <p:extLst>
      <p:ext uri="{BB962C8B-B14F-4D97-AF65-F5344CB8AC3E}">
        <p14:creationId xmlns:p14="http://schemas.microsoft.com/office/powerpoint/2010/main" val="1830169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9DF70-9834-6641-E8E4-AAE4562AD9A9}"/>
            </a:ext>
          </a:extLst>
        </p:cNvPr>
        <p:cNvGrpSpPr/>
        <p:nvPr/>
      </p:nvGrpSpPr>
      <p:grpSpPr>
        <a:xfrm>
          <a:off x="0" y="0"/>
          <a:ext cx="0" cy="0"/>
          <a:chOff x="0" y="0"/>
          <a:chExt cx="0" cy="0"/>
        </a:xfrm>
      </p:grpSpPr>
      <p:pic>
        <p:nvPicPr>
          <p:cNvPr id="5" name="Billede 4" descr="Et billede, der indeholder tekst, skærmbillede, Font/skrifttype&#10;&#10;AI-genereret indhold kan være ukorrekt.">
            <a:extLst>
              <a:ext uri="{FF2B5EF4-FFF2-40B4-BE49-F238E27FC236}">
                <a16:creationId xmlns:a16="http://schemas.microsoft.com/office/drawing/2014/main" id="{2503EB14-2CD2-CC27-6E76-3D86CDB323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913" y="1750325"/>
            <a:ext cx="11557000" cy="3351529"/>
          </a:xfrm>
          <a:prstGeom prst="rect">
            <a:avLst/>
          </a:prstGeom>
          <a:noFill/>
        </p:spPr>
      </p:pic>
      <p:sp>
        <p:nvSpPr>
          <p:cNvPr id="4" name="Pladsholder til dato 3">
            <a:extLst>
              <a:ext uri="{FF2B5EF4-FFF2-40B4-BE49-F238E27FC236}">
                <a16:creationId xmlns:a16="http://schemas.microsoft.com/office/drawing/2014/main" id="{DD04F7C1-C32A-5B62-4908-E7B9B2BA229E}"/>
              </a:ext>
            </a:extLst>
          </p:cNvPr>
          <p:cNvSpPr>
            <a:spLocks noGrp="1"/>
          </p:cNvSpPr>
          <p:nvPr>
            <p:ph type="dt" sz="half" idx="4294967295"/>
          </p:nvPr>
        </p:nvSpPr>
        <p:spPr>
          <a:xfrm>
            <a:off x="0" y="6858000"/>
            <a:ext cx="0" cy="0"/>
          </a:xfrm>
        </p:spPr>
        <p:txBody>
          <a:bodyPr/>
          <a:lstStyle/>
          <a:p>
            <a:pPr>
              <a:spcAft>
                <a:spcPts val="600"/>
              </a:spcAft>
            </a:pPr>
            <a:fld id="{66FB946B-C8B9-4BFA-A4AB-47C602A004CB}" type="datetime1">
              <a:rPr lang="en-GB" smtClean="0"/>
              <a:pPr>
                <a:spcAft>
                  <a:spcPts val="600"/>
                </a:spcAft>
              </a:pPr>
              <a:t>26/02/2026</a:t>
            </a:fld>
            <a:endParaRPr lang="en-GB"/>
          </a:p>
        </p:txBody>
      </p:sp>
    </p:spTree>
    <p:extLst>
      <p:ext uri="{BB962C8B-B14F-4D97-AF65-F5344CB8AC3E}">
        <p14:creationId xmlns:p14="http://schemas.microsoft.com/office/powerpoint/2010/main" val="2777812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161D65-34F8-A551-3A32-A9D41353C20F}"/>
              </a:ext>
            </a:extLst>
          </p:cNvPr>
          <p:cNvSpPr>
            <a:spLocks noGrp="1"/>
          </p:cNvSpPr>
          <p:nvPr>
            <p:ph type="title"/>
          </p:nvPr>
        </p:nvSpPr>
        <p:spPr/>
        <p:txBody>
          <a:bodyPr/>
          <a:lstStyle/>
          <a:p>
            <a:r>
              <a:rPr lang="da-DK" dirty="0"/>
              <a:t>Take home messages</a:t>
            </a:r>
          </a:p>
        </p:txBody>
      </p:sp>
      <p:sp>
        <p:nvSpPr>
          <p:cNvPr id="3" name="Pladsholder til indhold 2">
            <a:extLst>
              <a:ext uri="{FF2B5EF4-FFF2-40B4-BE49-F238E27FC236}">
                <a16:creationId xmlns:a16="http://schemas.microsoft.com/office/drawing/2014/main" id="{DF465087-83D4-80D0-3B7C-BEC0D2A65038}"/>
              </a:ext>
            </a:extLst>
          </p:cNvPr>
          <p:cNvSpPr>
            <a:spLocks noGrp="1"/>
          </p:cNvSpPr>
          <p:nvPr>
            <p:ph idx="1"/>
          </p:nvPr>
        </p:nvSpPr>
        <p:spPr/>
        <p:txBody>
          <a:bodyPr/>
          <a:lstStyle/>
          <a:p>
            <a:pPr marL="457200" indent="-457200">
              <a:buFont typeface="+mj-lt"/>
              <a:buAutoNum type="arabicPeriod"/>
            </a:pPr>
            <a:r>
              <a:rPr lang="da-DK" dirty="0"/>
              <a:t>Der findes ikke ét tal for “nok”. Det afhænger af udgangspunkt og mål.</a:t>
            </a:r>
          </a:p>
          <a:p>
            <a:pPr marL="457200" indent="-457200">
              <a:buFont typeface="+mj-lt"/>
              <a:buAutoNum type="arabicPeriod"/>
            </a:pPr>
            <a:r>
              <a:rPr lang="da-DK" dirty="0"/>
              <a:t>Omkring 1.100 MET-minutter om ugen ser ud til at give maksimal effekt på HbA1c.</a:t>
            </a:r>
          </a:p>
          <a:p>
            <a:pPr marL="457200" indent="-457200">
              <a:buFont typeface="+mj-lt"/>
              <a:buAutoNum type="arabicPeriod"/>
            </a:pPr>
            <a:r>
              <a:rPr lang="da-DK" dirty="0"/>
              <a:t>Små doser kan rykke sygdomskategori, især hos dem med høje startværdier.</a:t>
            </a:r>
          </a:p>
          <a:p>
            <a:pPr marL="457200" indent="-457200">
              <a:buFont typeface="+mj-lt"/>
              <a:buAutoNum type="arabicPeriod"/>
            </a:pPr>
            <a:r>
              <a:rPr lang="da-DK" dirty="0"/>
              <a:t>Træning er ikke en modgift mod 10 timers stillesiddende adfærd.</a:t>
            </a:r>
          </a:p>
          <a:p>
            <a:pPr marL="457200" indent="-457200">
              <a:buFont typeface="+mj-lt"/>
              <a:buAutoNum type="arabicPeriod"/>
            </a:pPr>
            <a:r>
              <a:rPr lang="da-DK" dirty="0"/>
              <a:t>Aktive pauser giver målbare effekter, især hos inaktive.</a:t>
            </a:r>
          </a:p>
          <a:p>
            <a:pPr marL="457200" indent="-457200">
              <a:buFont typeface="+mj-lt"/>
              <a:buAutoNum type="arabicPeriod"/>
            </a:pPr>
            <a:r>
              <a:rPr lang="da-DK" dirty="0"/>
              <a:t>Brug en trappetænkning:</a:t>
            </a:r>
            <a:br>
              <a:rPr lang="da-DK" dirty="0"/>
            </a:br>
            <a:r>
              <a:rPr lang="da-DK" dirty="0"/>
              <a:t>Start hvor borgeren er.</a:t>
            </a:r>
            <a:br>
              <a:rPr lang="da-DK" dirty="0"/>
            </a:br>
            <a:r>
              <a:rPr lang="da-DK"/>
              <a:t>Progredier </a:t>
            </a:r>
            <a:r>
              <a:rPr lang="da-DK" dirty="0"/>
              <a:t>systematisk.</a:t>
            </a:r>
            <a:br>
              <a:rPr lang="da-DK" dirty="0"/>
            </a:br>
            <a:r>
              <a:rPr lang="da-DK" dirty="0"/>
              <a:t>Sigt mod højere belastning over tid.</a:t>
            </a:r>
          </a:p>
        </p:txBody>
      </p:sp>
      <p:sp>
        <p:nvSpPr>
          <p:cNvPr id="4" name="Pladsholder til dato 3">
            <a:extLst>
              <a:ext uri="{FF2B5EF4-FFF2-40B4-BE49-F238E27FC236}">
                <a16:creationId xmlns:a16="http://schemas.microsoft.com/office/drawing/2014/main" id="{1CAE66B0-AA04-19E6-FC11-67BBB3E77917}"/>
              </a:ext>
            </a:extLst>
          </p:cNvPr>
          <p:cNvSpPr>
            <a:spLocks noGrp="1"/>
          </p:cNvSpPr>
          <p:nvPr>
            <p:ph type="dt" sz="half" idx="10"/>
          </p:nvPr>
        </p:nvSpPr>
        <p:spPr/>
        <p:txBody>
          <a:bodyPr/>
          <a:lstStyle/>
          <a:p>
            <a:fld id="{6C4B4C32-E2E9-4946-BFFA-B8F3E386D873}" type="datetime1">
              <a:rPr lang="en-GB" smtClean="0"/>
              <a:t>26/02/2026</a:t>
            </a:fld>
            <a:endParaRPr lang="en-GB" dirty="0"/>
          </a:p>
        </p:txBody>
      </p:sp>
    </p:spTree>
    <p:extLst>
      <p:ext uri="{BB962C8B-B14F-4D97-AF65-F5344CB8AC3E}">
        <p14:creationId xmlns:p14="http://schemas.microsoft.com/office/powerpoint/2010/main" val="3999803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ato 1">
            <a:extLst>
              <a:ext uri="{FF2B5EF4-FFF2-40B4-BE49-F238E27FC236}">
                <a16:creationId xmlns:a16="http://schemas.microsoft.com/office/drawing/2014/main" id="{B9C930E0-C257-3BC1-560A-ABAB237D523E}"/>
              </a:ext>
            </a:extLst>
          </p:cNvPr>
          <p:cNvSpPr>
            <a:spLocks noGrp="1"/>
          </p:cNvSpPr>
          <p:nvPr>
            <p:ph type="dt" sz="half" idx="12"/>
          </p:nvPr>
        </p:nvSpPr>
        <p:spPr/>
        <p:txBody>
          <a:bodyPr/>
          <a:lstStyle/>
          <a:p>
            <a:fld id="{2C50533F-C23C-475F-9805-5F5C5619424E}" type="datetime1">
              <a:rPr lang="en-GB" smtClean="0"/>
              <a:t>26/02/2026</a:t>
            </a:fld>
            <a:endParaRPr lang="en-GB" dirty="0"/>
          </a:p>
        </p:txBody>
      </p:sp>
      <p:sp>
        <p:nvSpPr>
          <p:cNvPr id="3" name="Titel 2">
            <a:extLst>
              <a:ext uri="{FF2B5EF4-FFF2-40B4-BE49-F238E27FC236}">
                <a16:creationId xmlns:a16="http://schemas.microsoft.com/office/drawing/2014/main" id="{3260568A-880A-524D-3B90-84887BD22A70}"/>
              </a:ext>
            </a:extLst>
          </p:cNvPr>
          <p:cNvSpPr>
            <a:spLocks noGrp="1"/>
          </p:cNvSpPr>
          <p:nvPr>
            <p:ph type="ctrTitle"/>
          </p:nvPr>
        </p:nvSpPr>
        <p:spPr/>
        <p:txBody>
          <a:bodyPr/>
          <a:lstStyle/>
          <a:p>
            <a:r>
              <a:rPr lang="da-DK" dirty="0"/>
              <a:t>Hvor lidt er nok?</a:t>
            </a:r>
          </a:p>
        </p:txBody>
      </p:sp>
      <p:sp>
        <p:nvSpPr>
          <p:cNvPr id="4" name="Pladsholder til tekst 3">
            <a:extLst>
              <a:ext uri="{FF2B5EF4-FFF2-40B4-BE49-F238E27FC236}">
                <a16:creationId xmlns:a16="http://schemas.microsoft.com/office/drawing/2014/main" id="{5A6D1CAF-5F5F-70A2-FA51-D5A814813E9C}"/>
              </a:ext>
            </a:extLst>
          </p:cNvPr>
          <p:cNvSpPr>
            <a:spLocks noGrp="1"/>
          </p:cNvSpPr>
          <p:nvPr>
            <p:ph type="body" sz="quarter" idx="11"/>
          </p:nvPr>
        </p:nvSpPr>
        <p:spPr>
          <a:xfrm>
            <a:off x="985838" y="3715431"/>
            <a:ext cx="9285038" cy="1746085"/>
          </a:xfrm>
        </p:spPr>
        <p:txBody>
          <a:bodyPr/>
          <a:lstStyle/>
          <a:p>
            <a:r>
              <a:rPr lang="da-DK" dirty="0"/>
              <a:t>Lidt er ofte bedre end ingenting.</a:t>
            </a:r>
            <a:br>
              <a:rPr lang="da-DK" dirty="0"/>
            </a:br>
            <a:r>
              <a:rPr lang="da-DK" dirty="0"/>
              <a:t>Men mere er ofte nødvendigt, hvis vi vil flytte sundheden markant.</a:t>
            </a:r>
          </a:p>
          <a:p>
            <a:endParaRPr lang="da-DK" dirty="0"/>
          </a:p>
        </p:txBody>
      </p:sp>
    </p:spTree>
    <p:extLst>
      <p:ext uri="{BB962C8B-B14F-4D97-AF65-F5344CB8AC3E}">
        <p14:creationId xmlns:p14="http://schemas.microsoft.com/office/powerpoint/2010/main" val="28827361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custData r:id="rId1"/>
      <p:custData r:id="rId2"/>
      <p:tags r:id="rId3"/>
    </p:custDataLst>
    <p:extLst>
      <p:ext uri="{BB962C8B-B14F-4D97-AF65-F5344CB8AC3E}">
        <p14:creationId xmlns:p14="http://schemas.microsoft.com/office/powerpoint/2010/main" val="21396981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636235437374745988"/>
</p:tagLst>
</file>

<file path=ppt/tags/tag2.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3.xml><?xml version="1.0" encoding="utf-8"?>
<p:tagLst xmlns:a="http://schemas.openxmlformats.org/drawingml/2006/main" xmlns:r="http://schemas.openxmlformats.org/officeDocument/2006/relationships" xmlns:p="http://schemas.openxmlformats.org/presentationml/2006/main">
  <p:tag name="TEMPLAFYSLIDEID" val="636235437374902238"/>
</p:tagLst>
</file>

<file path=ppt/tags/tag4.xml><?xml version="1.0" encoding="utf-8"?>
<p:tagLst xmlns:a="http://schemas.openxmlformats.org/drawingml/2006/main" xmlns:r="http://schemas.openxmlformats.org/officeDocument/2006/relationships" xmlns:p="http://schemas.openxmlformats.org/presentationml/2006/main">
  <p:tag name="TEMPLAFYSLIDEID" val="636235437375089291"/>
</p:tagLst>
</file>

<file path=ppt/tags/tag5.xml><?xml version="1.0" encoding="utf-8"?>
<p:tagLst xmlns:a="http://schemas.openxmlformats.org/drawingml/2006/main" xmlns:r="http://schemas.openxmlformats.org/officeDocument/2006/relationships" xmlns:p="http://schemas.openxmlformats.org/presentationml/2006/main">
  <p:tag name="TEMPLAFYSLIDEID" val="636235437375566864"/>
</p:tagLst>
</file>

<file path=ppt/theme/theme1.xml><?xml version="1.0" encoding="utf-8"?>
<a:theme xmlns:a="http://schemas.openxmlformats.org/drawingml/2006/main" name="AU 16:9">
  <a:themeElements>
    <a:clrScheme name="07 AU Orange">
      <a:dk1>
        <a:srgbClr val="000000"/>
      </a:dk1>
      <a:lt1>
        <a:srgbClr val="FFFFFF"/>
      </a:lt1>
      <a:dk2>
        <a:srgbClr val="5F3408"/>
      </a:dk2>
      <a:lt2>
        <a:srgbClr val="5F3408"/>
      </a:lt2>
      <a:accent1>
        <a:srgbClr val="0A1449"/>
      </a:accent1>
      <a:accent2>
        <a:srgbClr val="183D83"/>
      </a:accent2>
      <a:accent3>
        <a:srgbClr val="87D1F4"/>
      </a:accent3>
      <a:accent4>
        <a:srgbClr val="33525F"/>
      </a:accent4>
      <a:accent5>
        <a:srgbClr val="548195"/>
      </a:accent5>
      <a:accent6>
        <a:srgbClr val="C6C6C6"/>
      </a:accent6>
      <a:hlink>
        <a:srgbClr val="03428E"/>
      </a:hlink>
      <a:folHlink>
        <a:srgbClr val="03428E"/>
      </a:folHlink>
    </a:clrScheme>
    <a:fontScheme name="AU Passata">
      <a:majorFont>
        <a:latin typeface="AU Passata"/>
        <a:ea typeface=""/>
        <a:cs typeface=""/>
      </a:majorFont>
      <a:minorFont>
        <a:latin typeface="AU Passat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w="1778" cap="flat" cmpd="sng" algn="ctr">
          <a:solidFill>
            <a:schemeClr val="accent2"/>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noAutofit/>
      </a:bodyPr>
      <a:lstStyle>
        <a:defPPr marL="0" marR="0" indent="0" algn="l" defTabSz="914400" rtl="0" eaLnBrk="1" fontAlgn="base" latinLnBrk="0" hangingPunct="1">
          <a:lnSpc>
            <a:spcPct val="95000"/>
          </a:lnSpc>
          <a:spcBef>
            <a:spcPct val="0"/>
          </a:spcBef>
          <a:spcAft>
            <a:spcPct val="0"/>
          </a:spcAft>
          <a:buClrTx/>
          <a:buSzTx/>
          <a:buFont typeface="AU Passata" pitchFamily="34" charset="0"/>
          <a:buNone/>
          <a:tabLst/>
          <a:defRPr kumimoji="0" sz="1600" b="0" i="0" u="none" strike="noStrike" cap="none" normalizeH="0" baseline="0" dirty="0" err="1">
            <a:ln>
              <a:noFill/>
            </a:ln>
            <a:solidFill>
              <a:schemeClr val="bg1"/>
            </a:solidFill>
            <a:effectLst/>
            <a:latin typeface="AU Passata" pitchFamily="34" charset="0"/>
          </a:defRPr>
        </a:defPPr>
      </a:lstStyle>
    </a:spDef>
    <a:lnDef>
      <a:spPr bwMode="auto">
        <a:xfrm>
          <a:off x="0" y="0"/>
          <a:ext cx="1" cy="1"/>
        </a:xfrm>
        <a:custGeom>
          <a:avLst/>
          <a:gdLst/>
          <a:ahLst/>
          <a:cxnLst/>
          <a:rect l="0" t="0" r="0" b="0"/>
          <a:pathLst/>
        </a:custGeom>
        <a:solidFill>
          <a:schemeClr val="accent2"/>
        </a:solidFill>
        <a:ln w="1778" cap="flat" cmpd="sng" algn="ctr">
          <a:solidFill>
            <a:schemeClr val="accent2"/>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ts val="3600"/>
          </a:lnSpc>
          <a:spcBef>
            <a:spcPct val="0"/>
          </a:spcBef>
          <a:spcAft>
            <a:spcPct val="0"/>
          </a:spcAft>
          <a:buClrTx/>
          <a:buSzTx/>
          <a:buFont typeface="AU Passata" pitchFamily="34" charset="0"/>
          <a:buNone/>
          <a:tabLst/>
          <a:defRPr kumimoji="0" lang="en-US" sz="3600" b="0" i="0" u="none" strike="noStrike" cap="none" normalizeH="0" baseline="0">
            <a:ln>
              <a:noFill/>
            </a:ln>
            <a:solidFill>
              <a:schemeClr val="tx1"/>
            </a:solidFill>
            <a:effectLst/>
            <a:latin typeface="AU Passata" pitchFamily="34" charset="0"/>
          </a:defRPr>
        </a:defPPr>
      </a:lstStyle>
    </a:lnDef>
    <a:txDef>
      <a:spPr>
        <a:noFill/>
      </a:spPr>
      <a:bodyPr wrap="square" lIns="0" tIns="0" rIns="0" bIns="0" rtlCol="0">
        <a:spAutoFit/>
      </a:bodyPr>
      <a:lstStyle>
        <a:defPPr>
          <a:lnSpc>
            <a:spcPct val="95000"/>
          </a:lnSpc>
          <a:defRPr sz="1600" dirty="0">
            <a:latin typeface="+mn-lt"/>
          </a:defRPr>
        </a:defPPr>
      </a:lstStyle>
    </a:txDef>
  </a:objectDefaults>
  <a:extraClrSchemeLst/>
  <a:extLst>
    <a:ext uri="{05A4C25C-085E-4340-85A3-A5531E510DB2}">
      <thm15:themeFamily xmlns:thm15="http://schemas.microsoft.com/office/thememl/2012/main" name="AU PowerPoint Template 16-9.potx" id="{7A6F7BDC-B87C-43B1-A03F-8FC29EB8E4AA}" vid="{0342C178-0357-4DD1-B9D7-A15D067ACA9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item1.xml><?xml version="1.0" encoding="utf-8"?>
<TemplafyTemplateConfiguration><![CDATA[{"elementsMetadata":[{"type":"shape","id":"a3278115-2375-4975-82e4-a8347935b5c6","elementConfiguration":{"binding":"{{FormatDateTime(Form.Date, \"d. MMMM yyyy\")}}","visibility":"","type":"text","disableUpdates":false}},{"type":"shape","id":"98dcdc62-2ecb-47df-b873-39f3578fdb11","elementConfiguration":{"binding":"{{Form.EventOccasion}}","visibility":"","type":"text","disableUpdates":false}},{"type":"shape","id":"94f6f0ed-5084-43ba-ba0d-56d2959e1905","elementConfiguration":{"binding":"{{Switch(UserProfile.DocumentLanguage.Language,\"da-DK\",UserProfile.Title,\"en-GB\",UserProfile.Title_EN,UserProfile.Title)}}","visibility":"","type":"text","disableUpdates":false}},{"type":"shape","id":"49960260-9531-4345-bc10-075cff656bf9","elementConfiguration":{"binding":"{{UserProfile.Name}}","visibility":"","type":"text","disableUpdates":false}},{"type":"shape","id":"32663bcc-00c0-423b-b276-42e576a74d4c","elementConfiguration":{"inheritDimensions":"{{InheritDimensions.InheritNone}}","width":"4.61 cm","height":"1.55 cm","image":"{{UserProfile.UnitId.ExtraLogoRef.ImageRightAlignedRef.ImageFile}}","visibility":"","type":"image","disableUpdates":false}},{"type":"shape","id":"bf3c0137-1c6f-441e-8838-b0942961b72c","elementConfiguration":{"binding":"{{UserProfile.UnitId.Logo2}}","visibility":"","type":"text","disableUpdates":false}},{"type":"shape","id":"e1e6bb3c-e4da-4592-8efc-676737dd7be3","elementConfiguration":{"binding":"{{UserProfile.UnitId.Logo1PowerPoint}}","visibility":"","type":"text","disableUpdates":false}},{"type":"shape","id":"0f03b736-f1b3-4058-a1bf-042a350a1a0b","elementConfiguration":{"binding":"{{FormatDateTime(Form.Date, \"d. MMMM yyyy\")}}","visibility":"","type":"text","disableUpdates":false}},{"type":"shape","id":"603e1b32-a356-49b7-a5bd-a7f34f7f94a9","elementConfiguration":{"binding":"{{Form.EventOccasion}}","visibility":"","type":"text","disableUpdates":false}},{"type":"shape","id":"a676db69-fa65-4503-80f3-a792029604f2","elementConfiguration":{"inheritDimensions":"{{InheritDimensions.InheritNone}}","width":"4.61 cm","height":"1.55 cm","image":"{{UserProfile.UnitId.ExtraLogoRef.ImageRightAlignedNegRef.ImageFile}}","visibility":"","type":"image","disableUpdates":false}},{"type":"shape","id":"58fca290-e51c-4b20-aea0-2ea4e04493d3","elementConfiguration":{"binding":"{{UserProfile.UnitId.Logo2}}","visibility":"","type":"text","disableUpdates":false}},{"type":"shape","id":"3a1718c7-f52c-477e-afc0-dd197b117fa3","elementConfiguration":{"binding":"{{UserProfile.UnitId.Logo1PowerPoint}}","visibility":"","type":"text","disableUpdates":false}},{"type":"shape","id":"a0fb7a91-dff1-409c-83bc-651d438cc402","elementConfiguration":{"binding":"{{FormatDateTime(Form.Date, \"d. MMMM yyyy\")}}","visibility":"","type":"text","disableUpdates":false}},{"type":"shape","id":"0fff76ca-6e31-478d-819e-d38351fba38f","elementConfiguration":{"binding":"{{Form.EventOccasion}}","visibility":"","type":"text","disableUpdates":false}},{"type":"shape","id":"cfdb2c23-35a7-450f-a1bb-f16549167f7c","elementConfiguration":{"binding":"{{UserProfile.Name}}","visibility":"","type":"text","disableUpdates":false}},{"type":"shape","id":"9d6774b7-ddbb-4fc5-95d4-5a34cfea48ce","elementConfiguration":{"inheritDimensions":"{{InheritDimensions.InheritNone}}","width":"4.61 cm","height":"1.55 cm","image":"{{UserProfile.UnitId.ExtraLogoRef.ImageRightAlignedNegRef.ImageFile}}","visibility":"","type":"image","disableUpdates":false}},{"type":"shape","id":"26da1325-7c5d-49e0-b8d1-4e716c2386b9","elementConfiguration":{"binding":"{{UserProfile.UnitId.Logo2}}","visibility":"","type":"text","disableUpdates":false}},{"type":"shape","id":"f9c3587f-99ad-4a21-8dc0-cb30d28d7435","elementConfiguration":{"binding":"{{UserProfile.UnitId.Logo1PowerPoint}}","visibility":"","type":"text","disableUpdates":false}},{"type":"shape","id":"d47f78d6-d5d1-4108-b952-ab474b94f4fa","elementConfiguration":{"binding":"{{UserProfile.UnitId.Logo1PowerPoint}}","visibility":"","type":"text","disableUpdates":false}},{"type":"shape","id":"b137e184-8d30-40be-a88c-192874255165","elementConfiguration":{"binding":"{{FormatDateTime(Form.Date, \"d. MMMM yyyy\")}}","visibility":"","type":"text","disableUpdates":false}},{"type":"shape","id":"7aed0a81-b2bd-4dd3-addf-04729e7c4cd6","elementConfiguration":{"binding":"{{Form.EventOccasion}}","visibility":"","type":"text","disableUpdates":false}},{"type":"shape","id":"c20644d7-e506-4190-82a3-6ac3e5b57694","elementConfiguration":{"binding":"{{Switch(UserProfile.DocumentLanguage.Language,\"da-DK\",UserProfile.Title,\"en-GB\",UserProfile.Title_EN,UserProfile.Title)}}","visibility":"","type":"text","disableUpdates":false}},{"type":"shape","id":"14ef2aa2-7679-41a4-b8a5-5067c8cce7a7","elementConfiguration":{"binding":"{{UserProfile.Name}}","visibility":"","type":"text","disableUpdates":false}},{"type":"shape","id":"fa45dc07-c50b-4ecd-b1dd-ee2d22d6f679","elementConfiguration":{"inheritDimensions":"{{InheritDimensions.InheritNone}}","width":"4.61 cm","height":"1.55 cm","image":"{{UserProfile.UnitId.ExtraLogoRef.ImageRightAlignedNegRef.ImageFile}}","visibility":"","type":"image","disableUpdates":false}},{"type":"shape","id":"1c87e8bf-2ef1-4e7c-90eb-c6e6b5b4add1","elementConfiguration":{"binding":"{{UserProfile.UnitId.Logo2}}","visibility":"","type":"text","disableUpdates":false}},{"type":"shape","id":"83d15f0a-03ce-4890-a587-0b41acfa7fd0","elementConfiguration":{"binding":"{{UserProfile.UnitId.Logo1PowerPoint}}","visibility":"","type":"text","disableUpdates":false}}],"transformationConfigurations":[{"language":"{{DocumentLanguage}}","disableUpdates":false,"type":"proofingLanguage"},{"colorTheme":"{{Form.ChooseColorTheme.ColorThemeRef.ColorTheme}}","disableUpdates":false,"originalColorThemeXml":"<a:clrScheme name=\"01 AU Blue\" xmlns:a=\"http://schemas.openxmlformats.org/drawingml/2006/main\"><a:dk1><a:srgbClr val=\"000000\" /></a:dk1><a:lt1><a:srgbClr val=\"FFFFFF\" /></a:lt1><a:dk2><a:srgbClr val=\"002546\" /></a:dk2><a:lt2><a:srgbClr val=\"002546\" /></a:lt2><a:accent1><a:srgbClr val=\"0A1449\" /></a:accent1><a:accent2><a:srgbClr val=\"183D83\" /></a:accent2><a:accent3><a:srgbClr val=\"87D1F4\" /></a:accent3><a:accent4><a:srgbClr val=\"33525F\" /></a:accent4><a:accent5><a:srgbClr val=\"548195\" /></a:accent5><a:accent6><a:srgbClr val=\"C6C6C6\" /></a:accent6><a:hlink><a:srgbClr val=\"03428E\" /></a:hlink><a:folHlink><a:srgbClr val=\"03428E\" /></a:folHlink></a:clrScheme>","type":"colorTheme"}],"templateName":"PowerPoint skabelon","templateDescription":"PowerPoint template 16:9 (convertible to 16:10 or 4:3)","enableDocumentContentUpdater":true,"version":"2.0"}]]></TemplafyTemplateConfiguration>
</file>

<file path=customXml/item2.xml><?xml version="1.0" encoding="utf-8"?>
<TemplafySlideFormConfiguration><![CDATA[{"formFields":[],"formDataEntries":[]}]]></TemplafySlideFormConfiguration>
</file>

<file path=customXml/item3.xml><?xml version="1.0" encoding="utf-8"?>
<TemplafySlideTemplateConfiguration><![CDATA[{"slideVersion":4,"isValidatorEnabled":false,"isLocked":false,"elementsMetadata":[],"slideId":"638344221285091994","enableDocumentContentUpdater":false,"version":"2.0"}]]></TemplafySlideTemplateConfiguration>
</file>

<file path=customXml/item4.xml><?xml version="1.0" encoding="utf-8"?>
<TemplafySlideTemplateConfiguration><![CDATA[{"slideVersion":4,"isValidatorEnabled":false,"isLocked":false,"elementsMetadata":[{"type":"shape","elementConfiguration":{"binding":"{{UserProfile.UnitId.Logo1PowerPoint}}","visibility":"","type":"text","disableUpdates":false}}],"slideId":"638344221285170220","enableDocumentContentUpdater":false,"version":"2.0"}]]></TemplafySlideTemplateConfiguration>
</file>

<file path=customXml/item5.xml><?xml version="1.0" encoding="utf-8"?>
<TemplafyFormConfiguration><![CDATA[{"formFields":[{"required":true,"helpTexts":{},"spacing":{},"shareValue":false,"type":"datePicker","name":"Date","label":"Date"},{"required":false,"placeholder":"","lines":1,"helpTexts":{},"spacing":{},"shareValue":false,"type":"textBox","name":"EventOccasion","label":"Event / Occasion"},{"distinct":false,"hideIfNoUserInteractionRequired":false,"required":false,"defaultValue":"Blå","autoSelectFirstOption":false,"helpTexts":{},"spacing":{},"shareValue":false,"type":"dropDown","dataSourceName":"ColorThemePowerPoint","dataSourceFieldName":"Name","name":"ChooseColorTheme","label":"Choose Color theme"}],"formDataEntries":[{"name":"Date","value":"zWkgzmM/Fa/62MAynxwfug=="},{"name":"EventOccasion","value":"ZNP32Y4Lb1dSjyJ6QeKqtQ=="},{"name":"ChooseColorTheme","value":"4mqjGZr9sTNxNY9tWDzo2fSAs7zcIKfFRnLJ7p4BGmk="}]}]]></TemplafyFormConfiguration>
</file>

<file path=customXml/item6.xml><?xml version="1.0" encoding="utf-8"?>
<TemplafySlideTemplateConfiguration><![CDATA[{"slideVersion":4,"isValidatorEnabled":false,"isLocked":false,"elementsMetadata":[],"slideId":"638344221285072627","enableDocumentContentUpdater":false,"version":"2.0"}]]></TemplafySlideTemplateConfiguration>
</file>

<file path=customXml/item7.xml><?xml version="1.0" encoding="utf-8"?>
<TemplafySlideTemplateConfiguration><![CDATA[{"slideVersion":4,"isValidatorEnabled":false,"isLocked":false,"elementsMetadata":[{"type":"shape","elementConfiguration":{"binding":"{{FormatDateTime(Form.Date, \"d. MMMM yyyy\")}}","visibility":"","type":"text","disableUpdates":false}},{"type":"shape","elementConfiguration":{"binding":"{{Form.EventOccasion}}","visibility":"","type":"text","disableUpdates":false}},{"type":"shape","elementConfiguration":{"binding":"{{Switch(UserProfile.DocumentLanguage.Language,\"da-DK\",UserProfile.Title,\"en-GB\",UserProfile.Title_EN,UserProfile.Title)}}","visibility":"","type":"text","disableUpdates":false}},{"type":"shape","elementConfiguration":{"binding":"{{UserProfile.Name}}","visibility":"","type":"text","disableUpdates":false}},{"type":"shape","elementConfiguration":{"inheritDimensions":"{{InheritDimensions.InheritNone}}","width":"4.61 cm","height":"1.55 cm","image":"{{UserProfile.UnitId.ExtraLogoRef.ImageRightAlignedNegRef.ImageFile}}","visibility":"","type":"image","disableUpdates":false}},{"type":"shape","elementConfiguration":{"binding":"{{UserProfile.UnitId.Logo2}}","visibility":"","type":"text","disableUpdates":false}},{"type":"shape","elementConfiguration":{"binding":"{{UserProfile.UnitId.Logo1PowerPoint}}","visibility":"","type":"text","disableUpdates":false}}],"slideId":"638344221284623770","enableDocumentContentUpdater":false,"version":"2.0"}]]></TemplafySlideTemplateConfiguration>
</file>

<file path=customXml/item8.xml><?xml version="1.0" encoding="utf-8"?>
<TemplafySlideFormConfiguration><![CDATA[{"formFields":[],"formDataEntries":[]}]]></TemplafySlideFormConfiguration>
</file>

<file path=customXml/item9.xml><?xml version="1.0" encoding="utf-8"?>
<TemplafySlideFormConfiguration><![CDATA[{"formFields":[],"formDataEntries":[]}]]></TemplafySlideFormConfiguration>
</file>

<file path=customXml/item10.xml><?xml version="1.0" encoding="utf-8"?>
<TemplafySlideFormConfiguration><![CDATA[{"formFields":[],"formDataEntries":[]}]]></TemplafySlideFormConfiguration>
</file>

<file path=customXml/item11.xml><?xml version="1.0" encoding="utf-8"?>
<TemplafySlideTemplateConfiguration><![CDATA[{"slideVersion":4,"isValidatorEnabled":false,"isLocked":false,"elementsMetadata":[],"slideId":"638344221285091994","enableDocumentContentUpdater":false,"version":"2.0"}]]></TemplafySlideTemplateConfiguration>
</file>

<file path=customXml/item12.xml><?xml version="1.0" encoding="utf-8"?>
<TemplafySlideTemplateConfiguration><![CDATA[{"slideVersion":4,"isValidatorEnabled":false,"isLocked":false,"elementsMetadata":[],"slideId":"638344221285091994","enableDocumentContentUpdater":false,"version":"2.0"}]]></TemplafySlideTemplateConfiguration>
</file>

<file path=customXml/item13.xml><?xml version="1.0" encoding="utf-8"?>
<TemplafySlideFormConfiguration><![CDATA[{"formFields":[],"formDataEntries":[]}]]></TemplafySlideFormConfiguration>
</file>

<file path=customXml/item14.xml><?xml version="1.0" encoding="utf-8"?>
<TemplafySlideFormConfiguration><![CDATA[{"formFields":[],"formDataEntries":[]}]]></TemplafySlideFormConfiguration>
</file>

<file path=customXml/item15.xml><?xml version="1.0" encoding="utf-8"?>
<TemplafySlideFormConfiguration><![CDATA[{"formFields":[],"formDataEntries":[]}]]></TemplafySlideFormConfiguration>
</file>

<file path=customXml/item16.xml><?xml version="1.0" encoding="utf-8"?>
<TemplafySlideTemplateConfiguration><![CDATA[{"slideVersion":4,"isValidatorEnabled":false,"isLocked":false,"elementsMetadata":[],"slideId":"638344221285091994","enableDocumentContentUpdater":false,"version":"2.0"}]]></TemplafySlideTemplateConfiguration>
</file>

<file path=customXml/item17.xml><?xml version="1.0" encoding="utf-8"?>
<TemplafySlideTemplateConfiguration><![CDATA[{"slideVersion":4,"isValidatorEnabled":false,"isLocked":false,"elementsMetadata":[],"slideId":"638344221285055523","enableDocumentContentUpdater":false,"version":"2.0"}]]></TemplafySlideTemplateConfiguration>
</file>

<file path=customXml/item18.xml><?xml version="1.0" encoding="utf-8"?>
<TemplafySlideFormConfiguration><![CDATA[{"formFields":[],"formDataEntries":[]}]]></TemplafySlideFormConfiguration>
</file>

<file path=customXml/item19.xml><?xml version="1.0" encoding="utf-8"?>
<TemplafySlideFormConfiguration><![CDATA[{"formFields":[{"required":true,"helpTexts":{},"spacing":{},"shareValue":false,"type":"datePicker","name":"Date","label":"Date"},{"required":false,"placeholder":"","lines":1,"helpTexts":{},"spacing":{},"shareValue":false,"type":"textBox","name":"EventOccasion","label":"Event / Occasion"}],"formDataEntries":[]}]]></TemplafySlideFormConfiguration>
</file>

<file path=customXml/item20.xml><?xml version="1.0" encoding="utf-8"?>
<TemplafySlideTemplateConfiguration><![CDATA[{"slideVersion":4,"isValidatorEnabled":false,"isLocked":false,"elementsMetadata":[],"slideId":"638344221285055523","enableDocumentContentUpdater":false,"version":"2.0"}]]></TemplafySlideTemplateConfiguration>
</file>

<file path=customXml/itemProps1.xml><?xml version="1.0" encoding="utf-8"?>
<ds:datastoreItem xmlns:ds="http://schemas.openxmlformats.org/officeDocument/2006/customXml" ds:itemID="{AFC86994-F0FF-421B-841D-005E37E2CB9C}">
  <ds:schemaRefs/>
</ds:datastoreItem>
</file>

<file path=customXml/itemProps2.xml><?xml version="1.0" encoding="utf-8"?>
<ds:datastoreItem xmlns:ds="http://schemas.openxmlformats.org/officeDocument/2006/customXml" ds:itemID="{CDCAD78D-4B75-4D6D-A12C-4D7099050C85}">
  <ds:schemaRefs/>
</ds:datastoreItem>
</file>

<file path=customXml/itemProps3.xml><?xml version="1.0" encoding="utf-8"?>
<ds:datastoreItem xmlns:ds="http://schemas.openxmlformats.org/officeDocument/2006/customXml" ds:itemID="{03CC2D75-081F-4418-8451-CB244475DB1A}">
  <ds:schemaRefs/>
</ds:datastoreItem>
</file>

<file path=customXml/itemProps4.xml><?xml version="1.0" encoding="utf-8"?>
<ds:datastoreItem xmlns:ds="http://schemas.openxmlformats.org/officeDocument/2006/customXml" ds:itemID="{F6929CAD-9C4B-4C57-B5A5-181E7E3C58CB}">
  <ds:schemaRefs/>
</ds:datastoreItem>
</file>

<file path=customXml/itemProps5.xml><?xml version="1.0" encoding="utf-8"?>
<ds:datastoreItem xmlns:ds="http://schemas.openxmlformats.org/officeDocument/2006/customXml" ds:itemID="{7DA86E9B-4135-4144-9EBF-FD9F3AFEC348}">
  <ds:schemaRefs/>
</ds:datastoreItem>
</file>

<file path=customXml/itemProps6.xml><?xml version="1.0" encoding="utf-8"?>
<ds:datastoreItem xmlns:ds="http://schemas.openxmlformats.org/officeDocument/2006/customXml" ds:itemID="{3643F53D-29F6-46FD-9FF1-B40DF29295C1}">
  <ds:schemaRefs/>
</ds:datastoreItem>
</file>

<file path=customXml/itemProps7.xml><?xml version="1.0" encoding="utf-8"?>
<ds:datastoreItem xmlns:ds="http://schemas.openxmlformats.org/officeDocument/2006/customXml" ds:itemID="{B2CA2D4C-0385-4D99-AB8D-7792A88C817E}">
  <ds:schemaRefs/>
</ds:datastoreItem>
</file>

<file path=customXml/itemProps8.xml><?xml version="1.0" encoding="utf-8"?>
<ds:datastoreItem xmlns:ds="http://schemas.openxmlformats.org/officeDocument/2006/customXml" ds:itemID="{065744AD-6466-4C46-AE6F-83D8FBC1C1CF}">
  <ds:schemaRefs/>
</ds:datastoreItem>
</file>

<file path=customXml/itemProps9.xml><?xml version="1.0" encoding="utf-8"?>
<ds:datastoreItem xmlns:ds="http://schemas.openxmlformats.org/officeDocument/2006/customXml" ds:itemID="{420CF7F1-5677-46B3-91B0-E8A6930B8A9B}">
  <ds:schemaRefs/>
</ds:datastoreItem>
</file>

<file path=customXml/itemProps10.xml><?xml version="1.0" encoding="utf-8"?>
<ds:datastoreItem xmlns:ds="http://schemas.openxmlformats.org/officeDocument/2006/customXml" ds:itemID="{E6076CFF-B2D0-45B5-8D6B-A70E14E9B3D8}">
  <ds:schemaRefs/>
</ds:datastoreItem>
</file>

<file path=customXml/itemProps11.xml><?xml version="1.0" encoding="utf-8"?>
<ds:datastoreItem xmlns:ds="http://schemas.openxmlformats.org/officeDocument/2006/customXml" ds:itemID="{D8EFAE61-AC68-4E39-9D00-2ECB552AF7C0}">
  <ds:schemaRefs/>
</ds:datastoreItem>
</file>

<file path=customXml/itemProps12.xml><?xml version="1.0" encoding="utf-8"?>
<ds:datastoreItem xmlns:ds="http://schemas.openxmlformats.org/officeDocument/2006/customXml" ds:itemID="{322FFDE5-9577-451F-B6A4-5CB903AA5B73}">
  <ds:schemaRefs/>
</ds:datastoreItem>
</file>

<file path=customXml/itemProps13.xml><?xml version="1.0" encoding="utf-8"?>
<ds:datastoreItem xmlns:ds="http://schemas.openxmlformats.org/officeDocument/2006/customXml" ds:itemID="{53C4E555-C671-4F17-8A16-894683AB5933}">
  <ds:schemaRefs/>
</ds:datastoreItem>
</file>

<file path=customXml/itemProps14.xml><?xml version="1.0" encoding="utf-8"?>
<ds:datastoreItem xmlns:ds="http://schemas.openxmlformats.org/officeDocument/2006/customXml" ds:itemID="{D53DA8BF-390E-4D34-B9A0-F6675933285A}">
  <ds:schemaRefs/>
</ds:datastoreItem>
</file>

<file path=customXml/itemProps15.xml><?xml version="1.0" encoding="utf-8"?>
<ds:datastoreItem xmlns:ds="http://schemas.openxmlformats.org/officeDocument/2006/customXml" ds:itemID="{BBE5452C-A368-4C2E-B5E0-DE0618ED2CAE}">
  <ds:schemaRefs/>
</ds:datastoreItem>
</file>

<file path=customXml/itemProps16.xml><?xml version="1.0" encoding="utf-8"?>
<ds:datastoreItem xmlns:ds="http://schemas.openxmlformats.org/officeDocument/2006/customXml" ds:itemID="{280FCAA3-22FF-4C06-AFC7-BBC0F60D14A3}">
  <ds:schemaRefs/>
</ds:datastoreItem>
</file>

<file path=customXml/itemProps17.xml><?xml version="1.0" encoding="utf-8"?>
<ds:datastoreItem xmlns:ds="http://schemas.openxmlformats.org/officeDocument/2006/customXml" ds:itemID="{FD833951-DEA8-4508-9C89-B57F27429CB3}">
  <ds:schemaRefs/>
</ds:datastoreItem>
</file>

<file path=customXml/itemProps18.xml><?xml version="1.0" encoding="utf-8"?>
<ds:datastoreItem xmlns:ds="http://schemas.openxmlformats.org/officeDocument/2006/customXml" ds:itemID="{93AF3394-E39F-42F4-877A-48E3CA18A6D8}">
  <ds:schemaRefs/>
</ds:datastoreItem>
</file>

<file path=customXml/itemProps19.xml><?xml version="1.0" encoding="utf-8"?>
<ds:datastoreItem xmlns:ds="http://schemas.openxmlformats.org/officeDocument/2006/customXml" ds:itemID="{7E04581C-D7FD-4482-805D-038A22FDA87B}">
  <ds:schemaRefs/>
</ds:datastoreItem>
</file>

<file path=customXml/itemProps20.xml><?xml version="1.0" encoding="utf-8"?>
<ds:datastoreItem xmlns:ds="http://schemas.openxmlformats.org/officeDocument/2006/customXml" ds:itemID="{AE220849-4C6A-45ED-8221-3F0F79025AFE}">
  <ds:schemaRefs/>
</ds:datastoreItem>
</file>

<file path=docProps/app.xml><?xml version="1.0" encoding="utf-8"?>
<Properties xmlns="http://schemas.openxmlformats.org/officeDocument/2006/extended-properties" xmlns:vt="http://schemas.openxmlformats.org/officeDocument/2006/docPropsVTypes">
  <TotalTime>0</TotalTime>
  <Words>3458</Words>
  <Application>Microsoft Office PowerPoint</Application>
  <PresentationFormat>Brugerdefineret</PresentationFormat>
  <Paragraphs>303</Paragraphs>
  <Slides>21</Slides>
  <Notes>20</Notes>
  <HiddenSlides>0</HiddenSlides>
  <MMClips>0</MMClips>
  <ScaleCrop>false</ScaleCrop>
  <HeadingPairs>
    <vt:vector size="6" baseType="variant">
      <vt:variant>
        <vt:lpstr>Benyttede skrifttyper</vt:lpstr>
      </vt:variant>
      <vt:variant>
        <vt:i4>6</vt:i4>
      </vt:variant>
      <vt:variant>
        <vt:lpstr>Tema</vt:lpstr>
      </vt:variant>
      <vt:variant>
        <vt:i4>1</vt:i4>
      </vt:variant>
      <vt:variant>
        <vt:lpstr>Slidetitler</vt:lpstr>
      </vt:variant>
      <vt:variant>
        <vt:i4>21</vt:i4>
      </vt:variant>
    </vt:vector>
  </HeadingPairs>
  <TitlesOfParts>
    <vt:vector size="28" baseType="lpstr">
      <vt:lpstr>Georgia</vt:lpstr>
      <vt:lpstr>AU Passata Light</vt:lpstr>
      <vt:lpstr>AU Passata</vt:lpstr>
      <vt:lpstr>Calibri</vt:lpstr>
      <vt:lpstr>Arial</vt:lpstr>
      <vt:lpstr>AU Peto</vt:lpstr>
      <vt:lpstr>AU 16:9</vt:lpstr>
      <vt:lpstr>Hvor lidt er nok?</vt:lpstr>
      <vt:lpstr>dagsorden</vt:lpstr>
      <vt:lpstr>Tilbageblik</vt:lpstr>
      <vt:lpstr>LIVING - Resultater fra Folkesundhed midt </vt:lpstr>
      <vt:lpstr>Hvad siger litteraturen</vt:lpstr>
      <vt:lpstr>Hvad er MET? Metabolic Equivalent of Task</vt:lpstr>
      <vt:lpstr>Hvad er MET-minutter?</vt:lpstr>
      <vt:lpstr>Hvorfor bruger vi MET-minutter?</vt:lpstr>
      <vt:lpstr>PowerPoint-præsentation</vt:lpstr>
      <vt:lpstr>PowerPoint-præsentation</vt:lpstr>
      <vt:lpstr>Sit less, move more</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Take home messages</vt:lpstr>
      <vt:lpstr>Hvor lidt er nok?</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Jonas Munk Jensen</cp:lastModifiedBy>
  <cp:revision>30</cp:revision>
  <dcterms:created xsi:type="dcterms:W3CDTF">2026-02-17T10:28:57Z</dcterms:created>
  <dcterms:modified xsi:type="dcterms:W3CDTF">2026-02-26T12:11:00Z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by:">
    <vt:lpwstr>omnidocs.com</vt:lpwstr>
  </property>
  <property fmtid="{D5CDD505-2E9C-101B-9397-08002B2CF9AE}" pid="3" name="colorthemechange">
    <vt:lpwstr>true</vt:lpwstr>
  </property>
  <property fmtid="{D5CDD505-2E9C-101B-9397-08002B2CF9AE}" pid="4" name="TemplafyTimeStamp">
    <vt:lpwstr>2026-01-26T10:17:35</vt:lpwstr>
  </property>
  <property fmtid="{D5CDD505-2E9C-101B-9397-08002B2CF9AE}" pid="5" name="TemplafyTenantId">
    <vt:lpwstr>auoffice</vt:lpwstr>
  </property>
  <property fmtid="{D5CDD505-2E9C-101B-9397-08002B2CF9AE}" pid="6" name="TemplafyTemplateId">
    <vt:lpwstr>766163489789838292</vt:lpwstr>
  </property>
  <property fmtid="{D5CDD505-2E9C-101B-9397-08002B2CF9AE}" pid="7" name="TemplafyUserProfileId">
    <vt:lpwstr>1338980459474845741</vt:lpwstr>
  </property>
  <property fmtid="{D5CDD505-2E9C-101B-9397-08002B2CF9AE}" pid="8" name="TemplafyLanguageCode">
    <vt:lpwstr>en-GB</vt:lpwstr>
  </property>
  <property fmtid="{D5CDD505-2E9C-101B-9397-08002B2CF9AE}" pid="9" name="TemplafyFromBlank">
    <vt:bool>false</vt:bool>
  </property>
</Properties>
</file>