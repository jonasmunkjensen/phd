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0" r:id="rId2"/>
    <p:sldId id="256" r:id="rId3"/>
    <p:sldId id="261" r:id="rId4"/>
    <p:sldId id="259" r:id="rId5"/>
    <p:sldId id="258" r:id="rId6"/>
    <p:sldId id="262" r:id="rId7"/>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34" autoAdjust="0"/>
  </p:normalViewPr>
  <p:slideViewPr>
    <p:cSldViewPr snapToGrid="0">
      <p:cViewPr varScale="1">
        <p:scale>
          <a:sx n="79" d="100"/>
          <a:sy n="79" d="100"/>
        </p:scale>
        <p:origin x="17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938B6-7568-415F-9C9F-217BEED363E7}" type="datetimeFigureOut">
              <a:rPr lang="da-DK" smtClean="0"/>
              <a:t>11-02-2026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D94207-90C1-4172-B4DA-7C0091267023}" type="slidenum">
              <a:rPr lang="da-DK" smtClean="0"/>
              <a:t>‹nr.›</a:t>
            </a:fld>
            <a:endParaRPr lang="da-DK"/>
          </a:p>
        </p:txBody>
      </p:sp>
    </p:spTree>
    <p:extLst>
      <p:ext uri="{BB962C8B-B14F-4D97-AF65-F5344CB8AC3E}">
        <p14:creationId xmlns:p14="http://schemas.microsoft.com/office/powerpoint/2010/main" val="341710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E6438-70B0-5B40-26D0-0BF836D30A4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1701CD13-A793-CB41-6E63-C473E917695F}"/>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4E11A35-725A-46D1-1CEC-BC52D8F3E78A}"/>
              </a:ext>
            </a:extLst>
          </p:cNvPr>
          <p:cNvSpPr>
            <a:spLocks noGrp="1"/>
          </p:cNvSpPr>
          <p:nvPr>
            <p:ph type="body" idx="1"/>
          </p:nvPr>
        </p:nvSpPr>
        <p:spPr/>
        <p:txBody>
          <a:bodyPr/>
          <a:lstStyle/>
          <a:p>
            <a:r>
              <a:rPr lang="da-DK" dirty="0"/>
              <a:t>Grits studies and link to video</a:t>
            </a:r>
          </a:p>
          <a:p>
            <a:r>
              <a:rPr lang="da-DK" dirty="0" err="1"/>
              <a:t>Results</a:t>
            </a:r>
            <a:r>
              <a:rPr lang="da-DK" dirty="0"/>
              <a:t> from Aarhus</a:t>
            </a:r>
          </a:p>
          <a:p>
            <a:r>
              <a:rPr lang="da-DK"/>
              <a:t>METS</a:t>
            </a:r>
            <a:endParaRPr lang="da-DK" dirty="0"/>
          </a:p>
          <a:p>
            <a:endParaRPr lang="da-DK" dirty="0"/>
          </a:p>
        </p:txBody>
      </p:sp>
      <p:sp>
        <p:nvSpPr>
          <p:cNvPr id="4" name="Pladsholder til slidenummer 3">
            <a:extLst>
              <a:ext uri="{FF2B5EF4-FFF2-40B4-BE49-F238E27FC236}">
                <a16:creationId xmlns:a16="http://schemas.microsoft.com/office/drawing/2014/main" id="{207A5D7D-9EA9-A952-4615-8513AE2C2551}"/>
              </a:ext>
            </a:extLst>
          </p:cNvPr>
          <p:cNvSpPr>
            <a:spLocks noGrp="1"/>
          </p:cNvSpPr>
          <p:nvPr>
            <p:ph type="sldNum" sz="quarter" idx="5"/>
          </p:nvPr>
        </p:nvSpPr>
        <p:spPr/>
        <p:txBody>
          <a:bodyPr/>
          <a:lstStyle/>
          <a:p>
            <a:fld id="{E2D94207-90C1-4172-B4DA-7C0091267023}" type="slidenum">
              <a:rPr lang="da-DK" smtClean="0"/>
              <a:t>1</a:t>
            </a:fld>
            <a:endParaRPr lang="da-DK"/>
          </a:p>
        </p:txBody>
      </p:sp>
    </p:spTree>
    <p:extLst>
      <p:ext uri="{BB962C8B-B14F-4D97-AF65-F5344CB8AC3E}">
        <p14:creationId xmlns:p14="http://schemas.microsoft.com/office/powerpoint/2010/main" val="858859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dirty="0"/>
              <a:t>Many adults spend more than half of their waking hours sitting, with this pattern further amplified by the coronavirus disease 2019 (COVID-19) pandemic1. </a:t>
            </a:r>
          </a:p>
          <a:p>
            <a:r>
              <a:rPr lang="en-US" dirty="0"/>
              <a:t>Self-reporting suggest that daily sitting time in adults typically ranges between 5 and 8 hours – 12-14</a:t>
            </a:r>
          </a:p>
          <a:p>
            <a:r>
              <a:rPr lang="en-US" dirty="0" err="1"/>
              <a:t>Accelerometri</a:t>
            </a:r>
            <a:r>
              <a:rPr lang="en-US" dirty="0"/>
              <a:t> suggests it could be in the range of 7. 7–11.5 hours per day 17-19</a:t>
            </a:r>
          </a:p>
          <a:p>
            <a:r>
              <a:rPr lang="en-US" dirty="0"/>
              <a:t>People seem to underestimate how much time they spend being sedentary</a:t>
            </a:r>
          </a:p>
          <a:p>
            <a:endParaRPr lang="en-US" dirty="0"/>
          </a:p>
          <a:p>
            <a:r>
              <a:rPr lang="en-US" dirty="0"/>
              <a:t>adults can meet or exceed public health guidelines for physical activity but also spend most of their waking hours sitting</a:t>
            </a:r>
          </a:p>
          <a:p>
            <a:endParaRPr lang="en-US" dirty="0"/>
          </a:p>
          <a:p>
            <a:r>
              <a:rPr lang="en-US" dirty="0"/>
              <a:t>Findings from Physical Activity Guidelines Advisory Committee that are relevant to cardiovascular disease. The main conclusion is that strong evidence is available to support that exposure to high volumes of sitting time significantly increases the risk of all-cause and cardiovascular death and the incidence of cardiovascular disease and type 2 diabetes mellitus - 29</a:t>
            </a:r>
          </a:p>
          <a:p>
            <a:endParaRPr lang="en-US" dirty="0"/>
          </a:p>
          <a:p>
            <a:r>
              <a:rPr lang="en-US" dirty="0"/>
              <a:t>Only high levels of cardiorespiratory fitness (&gt;43.3 ml/kg/min in men and &gt;35.2 ml/kg/min in women) seem to fully mitigate the deleterious associations between high levels of sitting time and cardiometabolic risk - 27</a:t>
            </a:r>
          </a:p>
          <a:p>
            <a:endParaRPr lang="en-US" dirty="0"/>
          </a:p>
          <a:p>
            <a:r>
              <a:rPr lang="en-US" dirty="0"/>
              <a:t>When you reduce sedentary time you increase active time (especially low intensity)</a:t>
            </a:r>
          </a:p>
          <a:p>
            <a:endParaRPr lang="en-US" dirty="0"/>
          </a:p>
          <a:p>
            <a:r>
              <a:rPr lang="en-US" dirty="0"/>
              <a:t>Prolonged sitting: </a:t>
            </a:r>
          </a:p>
          <a:p>
            <a:r>
              <a:rPr lang="en-US" dirty="0"/>
              <a:t>Reduce vascular functions (in everyone) </a:t>
            </a:r>
          </a:p>
          <a:p>
            <a:r>
              <a:rPr lang="en-US" dirty="0"/>
              <a:t>Reduce cerebral blood flow</a:t>
            </a:r>
          </a:p>
          <a:p>
            <a:r>
              <a:rPr lang="en-US" dirty="0"/>
              <a:t>Increase blood pressure. In patients with type 2 diabetes mellitus, prolonged sitting increased plasma noradrenaline levels, with a concurrent increase in blood pressure; interrupting sitting with regular brief bouts of physical activity resulted in blood pressure reductions - 50</a:t>
            </a:r>
          </a:p>
          <a:p>
            <a:r>
              <a:rPr lang="en-US" dirty="0"/>
              <a:t>Increase blood sugar. A </a:t>
            </a:r>
            <a:r>
              <a:rPr lang="en-US" dirty="0" err="1"/>
              <a:t>metaanalysis</a:t>
            </a:r>
            <a:r>
              <a:rPr lang="en-US" dirty="0"/>
              <a:t> of 37 studies showed that regular interruptions with physical activity during prolonged sitting had a significant beneficial effect by acutely reducing glucose (SMD –0.54) levels compared with continuous sitting. Furthermore, individuals at higher risk of cardiovascular disease (physically inactive, type 2 diabetes mellitus and impaired fasting glucose) had greater reductions in glucose levels (SMD –0.62) with active interruptions. </a:t>
            </a:r>
          </a:p>
          <a:p>
            <a:endParaRPr lang="en-US" dirty="0"/>
          </a:p>
          <a:p>
            <a:endParaRPr lang="en-US" dirty="0"/>
          </a:p>
          <a:p>
            <a:endParaRPr lang="da-DK" dirty="0"/>
          </a:p>
        </p:txBody>
      </p:sp>
      <p:sp>
        <p:nvSpPr>
          <p:cNvPr id="4" name="Pladsholder til slidenummer 3"/>
          <p:cNvSpPr>
            <a:spLocks noGrp="1"/>
          </p:cNvSpPr>
          <p:nvPr>
            <p:ph type="sldNum" sz="quarter" idx="5"/>
          </p:nvPr>
        </p:nvSpPr>
        <p:spPr/>
        <p:txBody>
          <a:bodyPr/>
          <a:lstStyle/>
          <a:p>
            <a:fld id="{E2D94207-90C1-4172-B4DA-7C0091267023}" type="slidenum">
              <a:rPr lang="da-DK" smtClean="0"/>
              <a:t>2</a:t>
            </a:fld>
            <a:endParaRPr lang="da-DK"/>
          </a:p>
        </p:txBody>
      </p:sp>
    </p:spTree>
    <p:extLst>
      <p:ext uri="{BB962C8B-B14F-4D97-AF65-F5344CB8AC3E}">
        <p14:creationId xmlns:p14="http://schemas.microsoft.com/office/powerpoint/2010/main" val="1733799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BB7A-7274-228D-8F6F-60D9FEE270B8}"/>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2B71D12E-3352-67B5-AC2A-5AC39126DD69}"/>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CD2F8B4-ED97-5D65-A056-12743A87A324}"/>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0051C90B-0BF5-225B-B1DE-8F41077C78A0}"/>
              </a:ext>
            </a:extLst>
          </p:cNvPr>
          <p:cNvSpPr>
            <a:spLocks noGrp="1"/>
          </p:cNvSpPr>
          <p:nvPr>
            <p:ph type="sldNum" sz="quarter" idx="5"/>
          </p:nvPr>
        </p:nvSpPr>
        <p:spPr/>
        <p:txBody>
          <a:bodyPr/>
          <a:lstStyle/>
          <a:p>
            <a:fld id="{E2D94207-90C1-4172-B4DA-7C0091267023}" type="slidenum">
              <a:rPr lang="da-DK" smtClean="0"/>
              <a:t>3</a:t>
            </a:fld>
            <a:endParaRPr lang="da-DK"/>
          </a:p>
        </p:txBody>
      </p:sp>
    </p:spTree>
    <p:extLst>
      <p:ext uri="{BB962C8B-B14F-4D97-AF65-F5344CB8AC3E}">
        <p14:creationId xmlns:p14="http://schemas.microsoft.com/office/powerpoint/2010/main" val="2317738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FCE42-A274-9A9C-C5A4-CE5C11FDA5E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68E3482-F280-1596-433A-EB902C4C3D2A}"/>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5C59348E-18E9-49D5-271A-E9D9A17D6F43}"/>
              </a:ext>
            </a:extLst>
          </p:cNvPr>
          <p:cNvSpPr>
            <a:spLocks noGrp="1"/>
          </p:cNvSpPr>
          <p:nvPr>
            <p:ph type="body" idx="1"/>
          </p:nvPr>
        </p:nvSpPr>
        <p:spPr/>
        <p:txBody>
          <a:bodyPr/>
          <a:lstStyle/>
          <a:p>
            <a:endParaRPr lang="en-US" dirty="0"/>
          </a:p>
          <a:p>
            <a:r>
              <a:rPr lang="en-US" dirty="0"/>
              <a:t>The American College of Sports Medicine recommends light–moderate-intensity exercise in the first instance, especially for individuals who are habitually inactive 103. Specifically, among inactive adults, reducing sedentary time and thereby increasing light-intensity activity might provide sufficient stimulus and progressive overload that lead to worthwhile </a:t>
            </a:r>
            <a:endParaRPr lang="da-DK" dirty="0"/>
          </a:p>
        </p:txBody>
      </p:sp>
      <p:sp>
        <p:nvSpPr>
          <p:cNvPr id="4" name="Pladsholder til slidenummer 3">
            <a:extLst>
              <a:ext uri="{FF2B5EF4-FFF2-40B4-BE49-F238E27FC236}">
                <a16:creationId xmlns:a16="http://schemas.microsoft.com/office/drawing/2014/main" id="{8FE530BA-87C6-B7D8-01F2-A35DB77469E6}"/>
              </a:ext>
            </a:extLst>
          </p:cNvPr>
          <p:cNvSpPr>
            <a:spLocks noGrp="1"/>
          </p:cNvSpPr>
          <p:nvPr>
            <p:ph type="sldNum" sz="quarter" idx="5"/>
          </p:nvPr>
        </p:nvSpPr>
        <p:spPr/>
        <p:txBody>
          <a:bodyPr/>
          <a:lstStyle/>
          <a:p>
            <a:fld id="{E2D94207-90C1-4172-B4DA-7C0091267023}" type="slidenum">
              <a:rPr lang="da-DK" smtClean="0"/>
              <a:t>4</a:t>
            </a:fld>
            <a:endParaRPr lang="da-DK"/>
          </a:p>
        </p:txBody>
      </p:sp>
    </p:spTree>
    <p:extLst>
      <p:ext uri="{BB962C8B-B14F-4D97-AF65-F5344CB8AC3E}">
        <p14:creationId xmlns:p14="http://schemas.microsoft.com/office/powerpoint/2010/main" val="1799745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4687-F23F-ACCF-C41A-903CA85CB33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B54BEBF-7876-8C8D-A191-6A860C125904}"/>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83FC341F-C73E-866A-2EDF-12FBE43E9329}"/>
              </a:ext>
            </a:extLst>
          </p:cNvPr>
          <p:cNvSpPr>
            <a:spLocks noGrp="1"/>
          </p:cNvSpPr>
          <p:nvPr>
            <p:ph type="body" idx="1"/>
          </p:nvPr>
        </p:nvSpPr>
        <p:spPr/>
        <p:txBody>
          <a:bodyPr/>
          <a:lstStyle/>
          <a:p>
            <a:endParaRPr lang="en-US" dirty="0"/>
          </a:p>
          <a:p>
            <a:r>
              <a:rPr lang="en-US" dirty="0"/>
              <a:t>The American College of Sports Medicine recommends light–moderate-intensity exercise in the first instance, especially for individuals who are habitually inactive 103. Specifically, among inactive adults, reducing sedentary time and thereby increasing light-intensity activity might provide sufficient stimulus and progressive overload that lead to worthwhile </a:t>
            </a:r>
            <a:endParaRPr lang="da-DK" dirty="0"/>
          </a:p>
        </p:txBody>
      </p:sp>
      <p:sp>
        <p:nvSpPr>
          <p:cNvPr id="4" name="Pladsholder til slidenummer 3">
            <a:extLst>
              <a:ext uri="{FF2B5EF4-FFF2-40B4-BE49-F238E27FC236}">
                <a16:creationId xmlns:a16="http://schemas.microsoft.com/office/drawing/2014/main" id="{6E83AF24-87C0-30CE-2215-1C79BB1BA0DC}"/>
              </a:ext>
            </a:extLst>
          </p:cNvPr>
          <p:cNvSpPr>
            <a:spLocks noGrp="1"/>
          </p:cNvSpPr>
          <p:nvPr>
            <p:ph type="sldNum" sz="quarter" idx="5"/>
          </p:nvPr>
        </p:nvSpPr>
        <p:spPr/>
        <p:txBody>
          <a:bodyPr/>
          <a:lstStyle/>
          <a:p>
            <a:fld id="{E2D94207-90C1-4172-B4DA-7C0091267023}" type="slidenum">
              <a:rPr lang="da-DK" smtClean="0"/>
              <a:t>5</a:t>
            </a:fld>
            <a:endParaRPr lang="da-DK"/>
          </a:p>
        </p:txBody>
      </p:sp>
    </p:spTree>
    <p:extLst>
      <p:ext uri="{BB962C8B-B14F-4D97-AF65-F5344CB8AC3E}">
        <p14:creationId xmlns:p14="http://schemas.microsoft.com/office/powerpoint/2010/main" val="1346467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3FBF-08D0-9B9E-BC78-C3B0E1B0FFC8}"/>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DC30A94-BEEB-E9D9-D369-370DAEE2E161}"/>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65240088-92EE-0E00-C3CC-E154D8FD1E06}"/>
              </a:ext>
            </a:extLst>
          </p:cNvPr>
          <p:cNvSpPr>
            <a:spLocks noGrp="1"/>
          </p:cNvSpPr>
          <p:nvPr>
            <p:ph type="body" idx="1"/>
          </p:nvPr>
        </p:nvSpPr>
        <p:spPr/>
        <p:txBody>
          <a:bodyPr/>
          <a:lstStyle/>
          <a:p>
            <a:endParaRPr lang="en-US" dirty="0"/>
          </a:p>
          <a:p>
            <a:r>
              <a:rPr lang="en-US" dirty="0"/>
              <a:t>The American College of Sports Medicine recommends light–moderate-intensity exercise in the first instance, especially for individuals who are habitually inactive 103. Specifically, among inactive adults, reducing sedentary time and thereby increasing light-intensity activity might provide sufficient stimulus and progressive overload that lead to worthwhile </a:t>
            </a:r>
            <a:endParaRPr lang="da-DK" dirty="0"/>
          </a:p>
        </p:txBody>
      </p:sp>
      <p:sp>
        <p:nvSpPr>
          <p:cNvPr id="4" name="Pladsholder til slidenummer 3">
            <a:extLst>
              <a:ext uri="{FF2B5EF4-FFF2-40B4-BE49-F238E27FC236}">
                <a16:creationId xmlns:a16="http://schemas.microsoft.com/office/drawing/2014/main" id="{7764E4E0-2C85-8914-2A21-65844B21874A}"/>
              </a:ext>
            </a:extLst>
          </p:cNvPr>
          <p:cNvSpPr>
            <a:spLocks noGrp="1"/>
          </p:cNvSpPr>
          <p:nvPr>
            <p:ph type="sldNum" sz="quarter" idx="5"/>
          </p:nvPr>
        </p:nvSpPr>
        <p:spPr/>
        <p:txBody>
          <a:bodyPr/>
          <a:lstStyle/>
          <a:p>
            <a:fld id="{E2D94207-90C1-4172-B4DA-7C0091267023}" type="slidenum">
              <a:rPr lang="da-DK" smtClean="0"/>
              <a:t>6</a:t>
            </a:fld>
            <a:endParaRPr lang="da-DK"/>
          </a:p>
        </p:txBody>
      </p:sp>
    </p:spTree>
    <p:extLst>
      <p:ext uri="{BB962C8B-B14F-4D97-AF65-F5344CB8AC3E}">
        <p14:creationId xmlns:p14="http://schemas.microsoft.com/office/powerpoint/2010/main" val="173360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DBCA38-E3F6-06C9-CC13-EF34A0F39383}"/>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DCAF85D2-9DA2-80DE-5390-09DF04C86E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001531FA-EA89-0C89-26D9-2882BDB01A7D}"/>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DE814FBE-717F-476E-60B3-2DFA3CA11AAE}"/>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0E3DA4A2-0DB3-B65F-0D56-31B7C3DD0CFD}"/>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3421104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8CEFB0-787B-69A4-D784-A6A450353EF6}"/>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2D2C7FE1-DCFB-1D43-65CD-915287ADD1F7}"/>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C457DD7D-B2FD-1E77-4017-8A464AD82428}"/>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0E0056C4-7AD3-4224-11DC-01FF4DAF75E8}"/>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5DECD6E6-070E-7024-E6D3-092133B2AA80}"/>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810940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E9AB18-29D7-E684-57EE-A41C0577F8B8}"/>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A8DDCBCD-EE31-24A7-20FA-077C1A62C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BF05736B-5E1E-5BFE-9DED-C63B4583ADB8}"/>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295C51A8-E4C6-3AFF-EA0E-704AC9028F41}"/>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38C19133-8BFC-EA19-F958-28F968ADAE71}"/>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3035748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95CA2C-0AA4-AFF6-16F2-8E8CBCBF598B}"/>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A0B67B7D-FDA9-7C67-D3E2-D763F14D93CB}"/>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1BAC58D0-CA4B-8235-766C-24CACCF3AAA0}"/>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83FBA250-D3F0-F5B9-C7AB-9060F289CC8E}"/>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6" name="Pladsholder til sidefod 5">
            <a:extLst>
              <a:ext uri="{FF2B5EF4-FFF2-40B4-BE49-F238E27FC236}">
                <a16:creationId xmlns:a16="http://schemas.microsoft.com/office/drawing/2014/main" id="{918363FB-BE87-0D8D-902E-0BFCBF8F1EA4}"/>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9267FF8E-851E-65AD-64B4-AABC990AC3B8}"/>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114984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B0FE69-8D7C-6E0B-F1C4-225622C6F12F}"/>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36F9B940-5376-B7A6-2A62-1BB260BDA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845EF073-422A-A501-50AE-326DBB2B43C0}"/>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97868332-2EAC-01DF-991B-8DBC073E02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215830CD-16DE-F6B5-34F5-303FBCA63A6E}"/>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C7E1ADD9-CB23-8CDA-A369-CD0C94007EB9}"/>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8" name="Pladsholder til sidefod 7">
            <a:extLst>
              <a:ext uri="{FF2B5EF4-FFF2-40B4-BE49-F238E27FC236}">
                <a16:creationId xmlns:a16="http://schemas.microsoft.com/office/drawing/2014/main" id="{F08BCCF0-5636-924A-0170-A4A86A13E893}"/>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6440A590-F48D-270D-D184-9D4E241591AE}"/>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60223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9679B1-BF81-2771-4932-2802768088A6}"/>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AA5287B1-D6EA-4C01-5BF9-C47F9788C5FC}"/>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4" name="Pladsholder til sidefod 3">
            <a:extLst>
              <a:ext uri="{FF2B5EF4-FFF2-40B4-BE49-F238E27FC236}">
                <a16:creationId xmlns:a16="http://schemas.microsoft.com/office/drawing/2014/main" id="{51226A5C-C1C7-F8F0-DFBE-934C9710C8A4}"/>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E7BFB233-3D51-7821-18EC-C4A0C51BF79E}"/>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2480465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43DC6148-C554-FB76-D2E1-397B5417D6CC}"/>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3" name="Pladsholder til sidefod 2">
            <a:extLst>
              <a:ext uri="{FF2B5EF4-FFF2-40B4-BE49-F238E27FC236}">
                <a16:creationId xmlns:a16="http://schemas.microsoft.com/office/drawing/2014/main" id="{4F136CD7-BA8F-8896-CE37-89EDB2B330B7}"/>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6241DACB-1067-F72C-3942-4ACA9FA85422}"/>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3314486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8EEE0A-F496-F995-0374-C0311166BFA4}"/>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F6094CAD-9458-F618-0EB5-AE51CD0D5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22B10CA1-06B9-5FCB-3C2E-5859FEC9F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6926599B-93F5-B82D-5261-A054BAB02551}"/>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6" name="Pladsholder til sidefod 5">
            <a:extLst>
              <a:ext uri="{FF2B5EF4-FFF2-40B4-BE49-F238E27FC236}">
                <a16:creationId xmlns:a16="http://schemas.microsoft.com/office/drawing/2014/main" id="{ACBFB78E-999D-562B-EBDD-A05FCEAFF63A}"/>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8C8C2C96-4F9D-4335-1362-75F06A90AF34}"/>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126431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CA65CE-312D-DAC9-2BE7-D9371A1111BA}"/>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AD33F8D2-92B3-9DCF-5520-8C6AE0701F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3DDC4234-5CBA-F608-F0FF-85EB722B7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4C7FE6DB-2623-969B-7907-77538BA2C749}"/>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6" name="Pladsholder til sidefod 5">
            <a:extLst>
              <a:ext uri="{FF2B5EF4-FFF2-40B4-BE49-F238E27FC236}">
                <a16:creationId xmlns:a16="http://schemas.microsoft.com/office/drawing/2014/main" id="{BBC5476B-FCCC-572A-F631-3BA4EED37B99}"/>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73E069A7-A558-93A1-AFAA-A053A3ED3962}"/>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141127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753932-0A73-A68C-81E8-E8D9E36BE35C}"/>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F1C21DB0-5D47-162F-FEA2-D73CB18EB4BD}"/>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4DF20560-C205-C97E-8D26-B7E057600F52}"/>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32443128-4414-6B45-3DB5-A1AA09FEDB80}"/>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02042410-EB83-B407-474E-0A07108CC9DF}"/>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504469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625BB3F5-1957-6951-E9DF-F33E0D2B99F1}"/>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3EA10B98-E7F0-E46B-44C3-2307D923F875}"/>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EDF4013F-0A90-FF39-5494-03F288C63DF1}"/>
              </a:ext>
            </a:extLst>
          </p:cNvPr>
          <p:cNvSpPr>
            <a:spLocks noGrp="1"/>
          </p:cNvSpPr>
          <p:nvPr>
            <p:ph type="dt" sz="half" idx="10"/>
          </p:nvPr>
        </p:nvSpPr>
        <p:spPr/>
        <p:txBody>
          <a:body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620A1546-B8E3-C83D-995C-026FF0753811}"/>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1F88DF06-35A2-E56D-0B1A-C0E40CAC39D2}"/>
              </a:ext>
            </a:extLst>
          </p:cNvPr>
          <p:cNvSpPr>
            <a:spLocks noGrp="1"/>
          </p:cNvSpPr>
          <p:nvPr>
            <p:ph type="sldNum" sz="quarter" idx="12"/>
          </p:nvPr>
        </p:nvSpPr>
        <p:spPr/>
        <p:txBody>
          <a:bodyPr/>
          <a:lstStyle/>
          <a:p>
            <a:fld id="{3DC19425-C578-4D41-A0DF-15EE10C1C9DE}" type="slidenum">
              <a:rPr lang="da-DK" smtClean="0"/>
              <a:t>‹nr.›</a:t>
            </a:fld>
            <a:endParaRPr lang="da-DK"/>
          </a:p>
        </p:txBody>
      </p:sp>
    </p:spTree>
    <p:extLst>
      <p:ext uri="{BB962C8B-B14F-4D97-AF65-F5344CB8AC3E}">
        <p14:creationId xmlns:p14="http://schemas.microsoft.com/office/powerpoint/2010/main" val="383579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CF2D26C9-A9ED-2936-C77F-DEAA58DA15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7DCC89AF-2B26-54A2-C11E-F196AF6AB9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D6E3989E-4AE8-2376-260F-16C81C4ED2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1AE4D6-CE83-4C94-BCCA-8112D0D6DDA6}" type="datetimeFigureOut">
              <a:rPr lang="da-DK" smtClean="0"/>
              <a:t>11-02-2026</a:t>
            </a:fld>
            <a:endParaRPr lang="da-DK"/>
          </a:p>
        </p:txBody>
      </p:sp>
      <p:sp>
        <p:nvSpPr>
          <p:cNvPr id="5" name="Pladsholder til sidefod 4">
            <a:extLst>
              <a:ext uri="{FF2B5EF4-FFF2-40B4-BE49-F238E27FC236}">
                <a16:creationId xmlns:a16="http://schemas.microsoft.com/office/drawing/2014/main" id="{C7C9DA8F-6B47-B58D-2ED5-7E7AF017B1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781EAD85-07EC-72DB-C5C8-942ED1D0F0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C19425-C578-4D41-A0DF-15EE10C1C9DE}" type="slidenum">
              <a:rPr lang="da-DK" smtClean="0"/>
              <a:t>‹nr.›</a:t>
            </a:fld>
            <a:endParaRPr lang="da-DK"/>
          </a:p>
        </p:txBody>
      </p:sp>
    </p:spTree>
    <p:extLst>
      <p:ext uri="{BB962C8B-B14F-4D97-AF65-F5344CB8AC3E}">
        <p14:creationId xmlns:p14="http://schemas.microsoft.com/office/powerpoint/2010/main" val="3809019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D709-FCBB-98C3-72EF-76CB6591B58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8DAED0-116B-36D5-5179-B67EFCE48B0F}"/>
              </a:ext>
            </a:extLst>
          </p:cNvPr>
          <p:cNvSpPr>
            <a:spLocks noGrp="1"/>
          </p:cNvSpPr>
          <p:nvPr>
            <p:ph type="ctrTitle"/>
          </p:nvPr>
        </p:nvSpPr>
        <p:spPr/>
        <p:txBody>
          <a:bodyPr/>
          <a:lstStyle/>
          <a:p>
            <a:r>
              <a:rPr lang="da-DK" dirty="0" err="1"/>
              <a:t>What</a:t>
            </a:r>
            <a:r>
              <a:rPr lang="da-DK" dirty="0"/>
              <a:t> </a:t>
            </a:r>
            <a:r>
              <a:rPr lang="da-DK" dirty="0" err="1"/>
              <a:t>we</a:t>
            </a:r>
            <a:r>
              <a:rPr lang="da-DK" dirty="0"/>
              <a:t> </a:t>
            </a:r>
            <a:r>
              <a:rPr lang="da-DK" dirty="0" err="1"/>
              <a:t>know</a:t>
            </a:r>
            <a:r>
              <a:rPr lang="da-DK" dirty="0"/>
              <a:t> </a:t>
            </a:r>
            <a:r>
              <a:rPr lang="da-DK" dirty="0" err="1"/>
              <a:t>works</a:t>
            </a:r>
            <a:endParaRPr lang="da-DK" dirty="0"/>
          </a:p>
        </p:txBody>
      </p:sp>
      <p:sp>
        <p:nvSpPr>
          <p:cNvPr id="3" name="Undertitel 2">
            <a:extLst>
              <a:ext uri="{FF2B5EF4-FFF2-40B4-BE49-F238E27FC236}">
                <a16:creationId xmlns:a16="http://schemas.microsoft.com/office/drawing/2014/main" id="{DBFA243C-8971-6545-3E8E-1C34EAD3006D}"/>
              </a:ext>
            </a:extLst>
          </p:cNvPr>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3862336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310E9A-84C0-A858-FD50-DEDD8E806669}"/>
              </a:ext>
            </a:extLst>
          </p:cNvPr>
          <p:cNvSpPr>
            <a:spLocks noGrp="1"/>
          </p:cNvSpPr>
          <p:nvPr>
            <p:ph type="ctrTitle"/>
          </p:nvPr>
        </p:nvSpPr>
        <p:spPr/>
        <p:txBody>
          <a:bodyPr/>
          <a:lstStyle/>
          <a:p>
            <a:r>
              <a:rPr lang="da-DK" dirty="0"/>
              <a:t>Sit </a:t>
            </a:r>
            <a:r>
              <a:rPr lang="da-DK" dirty="0" err="1"/>
              <a:t>less</a:t>
            </a:r>
            <a:r>
              <a:rPr lang="da-DK" dirty="0"/>
              <a:t> </a:t>
            </a:r>
            <a:r>
              <a:rPr lang="da-DK" dirty="0" err="1"/>
              <a:t>move</a:t>
            </a:r>
            <a:r>
              <a:rPr lang="da-DK" dirty="0"/>
              <a:t> more</a:t>
            </a:r>
          </a:p>
        </p:txBody>
      </p:sp>
      <p:sp>
        <p:nvSpPr>
          <p:cNvPr id="3" name="Undertitel 2">
            <a:extLst>
              <a:ext uri="{FF2B5EF4-FFF2-40B4-BE49-F238E27FC236}">
                <a16:creationId xmlns:a16="http://schemas.microsoft.com/office/drawing/2014/main" id="{DFC214BF-79C9-546F-C420-59CE04A6A6F1}"/>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3200756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DED2C-F8D0-BBB7-0554-7F7ADAD1504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247E48C-AB91-33C1-659D-D6647E9A0FA7}"/>
              </a:ext>
            </a:extLst>
          </p:cNvPr>
          <p:cNvSpPr>
            <a:spLocks noGrp="1"/>
          </p:cNvSpPr>
          <p:nvPr>
            <p:ph type="ctrTitle"/>
          </p:nvPr>
        </p:nvSpPr>
        <p:spPr/>
        <p:txBody>
          <a:bodyPr/>
          <a:lstStyle/>
          <a:p>
            <a:r>
              <a:rPr lang="da-DK" dirty="0" err="1"/>
              <a:t>Sitting</a:t>
            </a:r>
            <a:r>
              <a:rPr lang="da-DK" dirty="0"/>
              <a:t> </a:t>
            </a:r>
            <a:r>
              <a:rPr lang="da-DK" dirty="0" err="1"/>
              <a:t>induced</a:t>
            </a:r>
            <a:r>
              <a:rPr lang="da-DK" dirty="0"/>
              <a:t> </a:t>
            </a:r>
            <a:r>
              <a:rPr lang="da-DK" dirty="0" err="1"/>
              <a:t>exercise</a:t>
            </a:r>
            <a:r>
              <a:rPr lang="da-DK" dirty="0"/>
              <a:t> </a:t>
            </a:r>
            <a:r>
              <a:rPr lang="da-DK" dirty="0" err="1"/>
              <a:t>resistance</a:t>
            </a:r>
            <a:endParaRPr lang="da-DK" dirty="0"/>
          </a:p>
        </p:txBody>
      </p:sp>
      <p:sp>
        <p:nvSpPr>
          <p:cNvPr id="3" name="Undertitel 2">
            <a:extLst>
              <a:ext uri="{FF2B5EF4-FFF2-40B4-BE49-F238E27FC236}">
                <a16:creationId xmlns:a16="http://schemas.microsoft.com/office/drawing/2014/main" id="{FE8FFAB8-7DB1-F3C6-010A-443B49D13FBB}"/>
              </a:ext>
            </a:extLst>
          </p:cNvPr>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827261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C7310-B671-E064-909A-A5A33D22BC2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0693DAD-477F-B6D8-3A78-54C5B29E4D65}"/>
              </a:ext>
            </a:extLst>
          </p:cNvPr>
          <p:cNvSpPr>
            <a:spLocks noGrp="1"/>
          </p:cNvSpPr>
          <p:nvPr>
            <p:ph type="ctrTitle"/>
          </p:nvPr>
        </p:nvSpPr>
        <p:spPr/>
        <p:txBody>
          <a:bodyPr/>
          <a:lstStyle/>
          <a:p>
            <a:r>
              <a:rPr lang="da-DK" dirty="0" err="1"/>
              <a:t>Exercise</a:t>
            </a:r>
            <a:r>
              <a:rPr lang="da-DK" dirty="0"/>
              <a:t> snacks</a:t>
            </a:r>
          </a:p>
        </p:txBody>
      </p:sp>
      <p:sp>
        <p:nvSpPr>
          <p:cNvPr id="3" name="Undertitel 2">
            <a:extLst>
              <a:ext uri="{FF2B5EF4-FFF2-40B4-BE49-F238E27FC236}">
                <a16:creationId xmlns:a16="http://schemas.microsoft.com/office/drawing/2014/main" id="{A2504A76-029D-E4A9-D555-02682B7C538D}"/>
              </a:ext>
            </a:extLst>
          </p:cNvPr>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608390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A4A3-199D-6D9E-DEE4-703D3CEB999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F02F6BD-0498-C7A0-980D-5624E542CC6A}"/>
              </a:ext>
            </a:extLst>
          </p:cNvPr>
          <p:cNvSpPr>
            <a:spLocks noGrp="1"/>
          </p:cNvSpPr>
          <p:nvPr>
            <p:ph type="ctrTitle"/>
          </p:nvPr>
        </p:nvSpPr>
        <p:spPr/>
        <p:txBody>
          <a:bodyPr/>
          <a:lstStyle/>
          <a:p>
            <a:r>
              <a:rPr lang="da-DK" dirty="0"/>
              <a:t>A ‘</a:t>
            </a:r>
            <a:r>
              <a:rPr lang="da-DK" dirty="0" err="1"/>
              <a:t>staircase</a:t>
            </a:r>
            <a:r>
              <a:rPr lang="da-DK" dirty="0"/>
              <a:t>’ approach</a:t>
            </a:r>
          </a:p>
        </p:txBody>
      </p:sp>
      <p:sp>
        <p:nvSpPr>
          <p:cNvPr id="3" name="Undertitel 2">
            <a:extLst>
              <a:ext uri="{FF2B5EF4-FFF2-40B4-BE49-F238E27FC236}">
                <a16:creationId xmlns:a16="http://schemas.microsoft.com/office/drawing/2014/main" id="{A0D1C796-E9BD-8FB4-59CF-8CE44AD13518}"/>
              </a:ext>
            </a:extLst>
          </p:cNvPr>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3597888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025A-1C17-4CB8-EC63-3466F47E3D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31E90B0-4F8B-23FD-C011-70BD6D514B31}"/>
              </a:ext>
            </a:extLst>
          </p:cNvPr>
          <p:cNvSpPr>
            <a:spLocks noGrp="1"/>
          </p:cNvSpPr>
          <p:nvPr>
            <p:ph type="ctrTitle"/>
          </p:nvPr>
        </p:nvSpPr>
        <p:spPr/>
        <p:txBody>
          <a:bodyPr>
            <a:normAutofit/>
          </a:bodyPr>
          <a:lstStyle/>
          <a:p>
            <a:r>
              <a:rPr lang="da-DK" dirty="0" err="1"/>
              <a:t>Evidence</a:t>
            </a:r>
            <a:r>
              <a:rPr lang="da-DK" dirty="0"/>
              <a:t> brief and </a:t>
            </a:r>
            <a:r>
              <a:rPr lang="da-DK" dirty="0" err="1"/>
              <a:t>take</a:t>
            </a:r>
            <a:r>
              <a:rPr lang="da-DK" dirty="0"/>
              <a:t> home message</a:t>
            </a:r>
          </a:p>
        </p:txBody>
      </p:sp>
      <p:sp>
        <p:nvSpPr>
          <p:cNvPr id="3" name="Undertitel 2">
            <a:extLst>
              <a:ext uri="{FF2B5EF4-FFF2-40B4-BE49-F238E27FC236}">
                <a16:creationId xmlns:a16="http://schemas.microsoft.com/office/drawing/2014/main" id="{CDE4F0FB-B3F6-204B-1802-D61B5026F032}"/>
              </a:ext>
            </a:extLst>
          </p:cNvPr>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1762166629"/>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528</Words>
  <Application>Microsoft Office PowerPoint</Application>
  <PresentationFormat>Widescreen</PresentationFormat>
  <Paragraphs>40</Paragraphs>
  <Slides>6</Slides>
  <Notes>6</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6</vt:i4>
      </vt:variant>
    </vt:vector>
  </HeadingPairs>
  <TitlesOfParts>
    <vt:vector size="10" baseType="lpstr">
      <vt:lpstr>Aptos</vt:lpstr>
      <vt:lpstr>Aptos Display</vt:lpstr>
      <vt:lpstr>Arial</vt:lpstr>
      <vt:lpstr>Office-tema</vt:lpstr>
      <vt:lpstr>What we know works</vt:lpstr>
      <vt:lpstr>Sit less move more</vt:lpstr>
      <vt:lpstr>Sitting induced exercise resistance</vt:lpstr>
      <vt:lpstr>Exercise snacks</vt:lpstr>
      <vt:lpstr>A ‘staircase’ approach</vt:lpstr>
      <vt:lpstr>Evidence brief and take home message</vt:lpstr>
    </vt:vector>
  </TitlesOfParts>
  <Company>Region Midtjylland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Munk Jensen</dc:creator>
  <cp:lastModifiedBy>Jonas Munk Jensen</cp:lastModifiedBy>
  <cp:revision>5</cp:revision>
  <dcterms:created xsi:type="dcterms:W3CDTF">2026-02-11T08:17:49Z</dcterms:created>
  <dcterms:modified xsi:type="dcterms:W3CDTF">2026-02-11T14:59:33Z</dcterms:modified>
</cp:coreProperties>
</file>